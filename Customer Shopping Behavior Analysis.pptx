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Liter" charset="-122" pitchFamily="34"/>
      <p:regular r:id="rId19"/>
    </p:embeddedFont>
    <p:embeddedFont>
      <p:font typeface="Oranienbaum" charset="-122" pitchFamily="34"/>
      <p:regular r:id="rId20"/>
    </p:embeddedFont>
    <p:embeddedFont>
      <p:font typeface="Quattrocento Sans" charset="-122" pitchFamily="34"/>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5"/>
        </a:solidFill>
      </p:bgPr>
    </p:bg>
    <p:spTree>
      <p:nvGrpSpPr>
        <p:cNvPr id="1" name=""/>
        <p:cNvGrpSpPr/>
        <p:nvPr/>
      </p:nvGrpSpPr>
      <p:grpSpPr>
        <a:xfrm>
          <a:off x="0" y="0"/>
          <a:ext cx="0" cy="0"/>
          <a:chOff x="0" y="0"/>
          <a:chExt cx="0" cy="0"/>
        </a:xfrm>
      </p:grpSpPr>
      <p:pic>
        <p:nvPicPr>
          <p:cNvPr id="2" name="Image 0" descr="https://kimi-web-img.moonshot.cn/img/images.stockcake.com/a74edb757002a3921ff2f2d0377ae8422e67dc18.jpg">    </p:cNvPr>
          <p:cNvPicPr>
            <a:picLocks noChangeAspect="1"/>
          </p:cNvPicPr>
          <p:nvPr/>
        </p:nvPicPr>
        <p:blipFill>
          <a:blip r:embed="rId1"/>
          <a:srcRect l="0" r="0" t="33929" b="3392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E5A4C">
                  <a:alpha val="95000"/>
                </a:srgbClr>
              </a:gs>
              <a:gs pos="50000">
                <a:srgbClr val="2E5A4C">
                  <a:alpha val="85000"/>
                </a:srgbClr>
              </a:gs>
              <a:gs pos="100000">
                <a:srgbClr val="C75B39">
                  <a:alpha val="75000"/>
                </a:srgbClr>
              </a:gs>
            </a:gsLst>
            <a:lin ang="2700000" scaled="1"/>
          </a:gradFill>
          <a:ln/>
        </p:spPr>
      </p:sp>
      <p:sp>
        <p:nvSpPr>
          <p:cNvPr id="4" name="Shape 1"/>
          <p:cNvSpPr/>
          <p:nvPr/>
        </p:nvSpPr>
        <p:spPr>
          <a:xfrm>
            <a:off x="381000" y="47625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D4A574"/>
          </a:solidFill>
          <a:ln/>
        </p:spPr>
      </p:sp>
      <p:sp>
        <p:nvSpPr>
          <p:cNvPr id="5" name="Text 2"/>
          <p:cNvSpPr/>
          <p:nvPr/>
        </p:nvSpPr>
        <p:spPr>
          <a:xfrm>
            <a:off x="1104900" y="381000"/>
            <a:ext cx="2257425" cy="228600"/>
          </a:xfrm>
          <a:prstGeom prst="rect">
            <a:avLst/>
          </a:prstGeom>
          <a:noFill/>
          <a:ln/>
        </p:spPr>
        <p:txBody>
          <a:bodyPr wrap="square" lIns="0" tIns="0" rIns="0" bIns="0" rtlCol="0" anchor="ctr"/>
          <a:lstStyle/>
          <a:p>
            <a:pPr>
              <a:lnSpc>
                <a:spcPct val="130000"/>
              </a:lnSpc>
            </a:pPr>
            <a:r>
              <a:rPr lang="en-US" sz="1200" spc="120" kern="0" dirty="0">
                <a:solidFill>
                  <a:srgbClr val="F8F7F5"/>
                </a:solidFill>
                <a:latin typeface="Liter" pitchFamily="34" charset="0"/>
                <a:ea typeface="Liter" pitchFamily="34" charset="-122"/>
                <a:cs typeface="Liter" pitchFamily="34" charset="-120"/>
              </a:rPr>
              <a:t>Data Analytics Report</a:t>
            </a:r>
            <a:endParaRPr lang="en-US" sz="1600" dirty="0"/>
          </a:p>
        </p:txBody>
      </p:sp>
      <p:sp>
        <p:nvSpPr>
          <p:cNvPr id="6" name="Text 3"/>
          <p:cNvSpPr/>
          <p:nvPr/>
        </p:nvSpPr>
        <p:spPr>
          <a:xfrm>
            <a:off x="381000" y="2016442"/>
            <a:ext cx="8877300" cy="1714500"/>
          </a:xfrm>
          <a:prstGeom prst="rect">
            <a:avLst/>
          </a:prstGeom>
          <a:noFill/>
          <a:ln/>
        </p:spPr>
        <p:txBody>
          <a:bodyPr wrap="square" lIns="0" tIns="0" rIns="0" bIns="0" rtlCol="0" anchor="ctr"/>
          <a:lstStyle/>
          <a:p>
            <a:pPr>
              <a:lnSpc>
                <a:spcPct val="100000"/>
              </a:lnSpc>
            </a:pPr>
            <a:r>
              <a:rPr lang="en-US" sz="5400" b="1" dirty="0">
                <a:solidFill>
                  <a:srgbClr val="F8F7F5"/>
                </a:solidFill>
                <a:latin typeface="Oranienbaum" pitchFamily="34" charset="0"/>
                <a:ea typeface="Oranienbaum" pitchFamily="34" charset="-122"/>
                <a:cs typeface="Oranienbaum" pitchFamily="34" charset="-120"/>
              </a:rPr>
              <a:t>Customer Shopping</a:t>
            </a:r>
            <a:endParaRPr lang="en-US" sz="1600" dirty="0"/>
          </a:p>
          <a:p>
            <a:pPr>
              <a:lnSpc>
                <a:spcPct val="100000"/>
              </a:lnSpc>
            </a:pPr>
            <a:r>
              <a:rPr lang="en-US" sz="5400" b="1" dirty="0">
                <a:solidFill>
                  <a:srgbClr val="F8F7F5"/>
                </a:solidFill>
                <a:latin typeface="Oranienbaum" pitchFamily="34" charset="0"/>
                <a:ea typeface="Oranienbaum" pitchFamily="34" charset="-122"/>
                <a:cs typeface="Oranienbaum" pitchFamily="34" charset="-120"/>
              </a:rPr>
              <a:t>Behavior Analysis</a:t>
            </a:r>
            <a:endParaRPr lang="en-US" sz="1600" dirty="0"/>
          </a:p>
        </p:txBody>
      </p:sp>
      <p:sp>
        <p:nvSpPr>
          <p:cNvPr id="7" name="Text 4"/>
          <p:cNvSpPr/>
          <p:nvPr/>
        </p:nvSpPr>
        <p:spPr>
          <a:xfrm>
            <a:off x="381000" y="3959543"/>
            <a:ext cx="6515100" cy="371475"/>
          </a:xfrm>
          <a:prstGeom prst="rect">
            <a:avLst/>
          </a:prstGeom>
          <a:noFill/>
          <a:ln/>
        </p:spPr>
        <p:txBody>
          <a:bodyPr wrap="square" lIns="0" tIns="0" rIns="0" bIns="0" rtlCol="0" anchor="ctr"/>
          <a:lstStyle/>
          <a:p>
            <a:pPr>
              <a:lnSpc>
                <a:spcPct val="140000"/>
              </a:lnSpc>
            </a:pPr>
            <a:r>
              <a:rPr lang="en-US" sz="1800" dirty="0">
                <a:solidFill>
                  <a:srgbClr val="F8F7F5">
                    <a:alpha val="90000"/>
                  </a:srgbClr>
                </a:solidFill>
                <a:latin typeface="Quattrocento Sans" pitchFamily="34" charset="0"/>
                <a:ea typeface="Quattrocento Sans" pitchFamily="34" charset="-122"/>
                <a:cs typeface="Quattrocento Sans" pitchFamily="34" charset="-120"/>
              </a:rPr>
              <a:t>Data-Driven Insights for Strategic Business Decisions</a:t>
            </a:r>
            <a:endParaRPr lang="en-US" sz="1600" dirty="0"/>
          </a:p>
        </p:txBody>
      </p:sp>
      <p:sp>
        <p:nvSpPr>
          <p:cNvPr id="8" name="Shape 5"/>
          <p:cNvSpPr/>
          <p:nvPr/>
        </p:nvSpPr>
        <p:spPr>
          <a:xfrm>
            <a:off x="384810" y="5741670"/>
            <a:ext cx="2055495" cy="731520"/>
          </a:xfrm>
          <a:custGeom>
            <a:avLst/>
            <a:gdLst/>
            <a:ahLst/>
            <a:cxnLst/>
            <a:rect l="l" t="t" r="r" b="b"/>
            <a:pathLst>
              <a:path w="2055495" h="731520">
                <a:moveTo>
                  <a:pt x="76202" y="0"/>
                </a:moveTo>
                <a:lnTo>
                  <a:pt x="1979293" y="0"/>
                </a:lnTo>
                <a:cubicBezTo>
                  <a:pt x="2021378" y="0"/>
                  <a:pt x="2055495" y="34117"/>
                  <a:pt x="2055495" y="76202"/>
                </a:cubicBezTo>
                <a:lnTo>
                  <a:pt x="2055495" y="655318"/>
                </a:lnTo>
                <a:cubicBezTo>
                  <a:pt x="2055495" y="697403"/>
                  <a:pt x="2021378" y="731520"/>
                  <a:pt x="1979293" y="731520"/>
                </a:cubicBezTo>
                <a:lnTo>
                  <a:pt x="76202" y="731520"/>
                </a:lnTo>
                <a:cubicBezTo>
                  <a:pt x="34117" y="731520"/>
                  <a:pt x="0" y="697403"/>
                  <a:pt x="0" y="655318"/>
                </a:cubicBezTo>
                <a:lnTo>
                  <a:pt x="0" y="76202"/>
                </a:lnTo>
                <a:cubicBezTo>
                  <a:pt x="0" y="34117"/>
                  <a:pt x="34117" y="0"/>
                  <a:pt x="76202" y="0"/>
                </a:cubicBezTo>
                <a:close/>
              </a:path>
            </a:pathLst>
          </a:custGeom>
          <a:solidFill>
            <a:srgbClr val="F8F7F5">
              <a:alpha val="10196"/>
            </a:srgbClr>
          </a:solidFill>
          <a:ln w="10160">
            <a:solidFill>
              <a:srgbClr val="F8F7F5">
                <a:alpha val="20000"/>
              </a:srgbClr>
            </a:solidFill>
            <a:prstDash val="solid"/>
          </a:ln>
        </p:spPr>
      </p:sp>
      <p:sp>
        <p:nvSpPr>
          <p:cNvPr id="9" name="Text 6"/>
          <p:cNvSpPr/>
          <p:nvPr/>
        </p:nvSpPr>
        <p:spPr>
          <a:xfrm>
            <a:off x="617220" y="5882640"/>
            <a:ext cx="705802" cy="190500"/>
          </a:xfrm>
          <a:prstGeom prst="rect">
            <a:avLst/>
          </a:prstGeom>
          <a:noFill/>
          <a:ln/>
        </p:spPr>
        <p:txBody>
          <a:bodyPr wrap="square" lIns="0" tIns="0" rIns="0" bIns="0" rtlCol="0" anchor="ctr"/>
          <a:lstStyle/>
          <a:p>
            <a:pPr>
              <a:lnSpc>
                <a:spcPct val="120000"/>
              </a:lnSpc>
            </a:pPr>
            <a:r>
              <a:rPr lang="en-US" sz="1050" spc="53" kern="0" dirty="0">
                <a:solidFill>
                  <a:srgbClr val="D4A574"/>
                </a:solidFill>
                <a:latin typeface="Liter" pitchFamily="34" charset="0"/>
                <a:ea typeface="Liter" pitchFamily="34" charset="-122"/>
                <a:cs typeface="Liter" pitchFamily="34" charset="-120"/>
              </a:rPr>
              <a:t>Dataset</a:t>
            </a:r>
            <a:endParaRPr lang="en-US" sz="1600" dirty="0"/>
          </a:p>
        </p:txBody>
      </p:sp>
      <p:sp>
        <p:nvSpPr>
          <p:cNvPr id="10" name="Text 7"/>
          <p:cNvSpPr/>
          <p:nvPr/>
        </p:nvSpPr>
        <p:spPr>
          <a:xfrm>
            <a:off x="617220" y="6088380"/>
            <a:ext cx="1685925" cy="266700"/>
          </a:xfrm>
          <a:prstGeom prst="rect">
            <a:avLst/>
          </a:prstGeom>
          <a:noFill/>
          <a:ln/>
        </p:spPr>
        <p:txBody>
          <a:bodyPr wrap="square" lIns="0" tIns="0" rIns="0" bIns="0" rtlCol="0" anchor="ctr"/>
          <a:lstStyle/>
          <a:p>
            <a:pPr>
              <a:lnSpc>
                <a:spcPct val="120000"/>
              </a:lnSpc>
            </a:pPr>
            <a:r>
              <a:rPr lang="en-US" sz="1500" b="1" dirty="0">
                <a:solidFill>
                  <a:srgbClr val="F8F7F5"/>
                </a:solidFill>
                <a:latin typeface="Quattrocento Sans" pitchFamily="34" charset="0"/>
                <a:ea typeface="Quattrocento Sans" pitchFamily="34" charset="-122"/>
                <a:cs typeface="Quattrocento Sans" pitchFamily="34" charset="-120"/>
              </a:rPr>
              <a:t>3,900 Transactions</a:t>
            </a:r>
            <a:endParaRPr lang="en-US" sz="1600" dirty="0"/>
          </a:p>
        </p:txBody>
      </p:sp>
      <p:sp>
        <p:nvSpPr>
          <p:cNvPr id="11" name="Shape 8"/>
          <p:cNvSpPr/>
          <p:nvPr/>
        </p:nvSpPr>
        <p:spPr>
          <a:xfrm>
            <a:off x="2672953" y="5741670"/>
            <a:ext cx="1645920" cy="731520"/>
          </a:xfrm>
          <a:custGeom>
            <a:avLst/>
            <a:gdLst/>
            <a:ahLst/>
            <a:cxnLst/>
            <a:rect l="l" t="t" r="r" b="b"/>
            <a:pathLst>
              <a:path w="1645920" h="731520">
                <a:moveTo>
                  <a:pt x="76202" y="0"/>
                </a:moveTo>
                <a:lnTo>
                  <a:pt x="1569718" y="0"/>
                </a:lnTo>
                <a:cubicBezTo>
                  <a:pt x="1611803" y="0"/>
                  <a:pt x="1645920" y="34117"/>
                  <a:pt x="1645920" y="76202"/>
                </a:cubicBezTo>
                <a:lnTo>
                  <a:pt x="1645920" y="655318"/>
                </a:lnTo>
                <a:cubicBezTo>
                  <a:pt x="1645920" y="697403"/>
                  <a:pt x="1611803" y="731520"/>
                  <a:pt x="1569718" y="731520"/>
                </a:cubicBezTo>
                <a:lnTo>
                  <a:pt x="76202" y="731520"/>
                </a:lnTo>
                <a:cubicBezTo>
                  <a:pt x="34117" y="731520"/>
                  <a:pt x="0" y="697403"/>
                  <a:pt x="0" y="655318"/>
                </a:cubicBezTo>
                <a:lnTo>
                  <a:pt x="0" y="76202"/>
                </a:lnTo>
                <a:cubicBezTo>
                  <a:pt x="0" y="34117"/>
                  <a:pt x="34117" y="0"/>
                  <a:pt x="76202" y="0"/>
                </a:cubicBezTo>
                <a:close/>
              </a:path>
            </a:pathLst>
          </a:custGeom>
          <a:solidFill>
            <a:srgbClr val="F8F7F5">
              <a:alpha val="10196"/>
            </a:srgbClr>
          </a:solidFill>
          <a:ln w="10160">
            <a:solidFill>
              <a:srgbClr val="F8F7F5">
                <a:alpha val="20000"/>
              </a:srgbClr>
            </a:solidFill>
            <a:prstDash val="solid"/>
          </a:ln>
        </p:spPr>
      </p:sp>
      <p:sp>
        <p:nvSpPr>
          <p:cNvPr id="12" name="Text 9"/>
          <p:cNvSpPr/>
          <p:nvPr/>
        </p:nvSpPr>
        <p:spPr>
          <a:xfrm>
            <a:off x="2905363" y="5882640"/>
            <a:ext cx="781169" cy="190500"/>
          </a:xfrm>
          <a:prstGeom prst="rect">
            <a:avLst/>
          </a:prstGeom>
          <a:noFill/>
          <a:ln/>
        </p:spPr>
        <p:txBody>
          <a:bodyPr wrap="square" lIns="0" tIns="0" rIns="0" bIns="0" rtlCol="0" anchor="ctr"/>
          <a:lstStyle/>
          <a:p>
            <a:pPr>
              <a:lnSpc>
                <a:spcPct val="120000"/>
              </a:lnSpc>
            </a:pPr>
            <a:r>
              <a:rPr lang="en-US" sz="1050" spc="53" kern="0" dirty="0">
                <a:solidFill>
                  <a:srgbClr val="D4A574"/>
                </a:solidFill>
                <a:latin typeface="Liter" pitchFamily="34" charset="0"/>
                <a:ea typeface="Liter" pitchFamily="34" charset="-122"/>
                <a:cs typeface="Liter" pitchFamily="34" charset="-120"/>
              </a:rPr>
              <a:t>Features</a:t>
            </a:r>
            <a:endParaRPr lang="en-US" sz="1600" dirty="0"/>
          </a:p>
        </p:txBody>
      </p:sp>
      <p:sp>
        <p:nvSpPr>
          <p:cNvPr id="13" name="Text 10"/>
          <p:cNvSpPr/>
          <p:nvPr/>
        </p:nvSpPr>
        <p:spPr>
          <a:xfrm>
            <a:off x="2905363" y="6088380"/>
            <a:ext cx="1276350" cy="266700"/>
          </a:xfrm>
          <a:prstGeom prst="rect">
            <a:avLst/>
          </a:prstGeom>
          <a:noFill/>
          <a:ln/>
        </p:spPr>
        <p:txBody>
          <a:bodyPr wrap="square" lIns="0" tIns="0" rIns="0" bIns="0" rtlCol="0" anchor="ctr"/>
          <a:lstStyle/>
          <a:p>
            <a:pPr>
              <a:lnSpc>
                <a:spcPct val="120000"/>
              </a:lnSpc>
            </a:pPr>
            <a:r>
              <a:rPr lang="en-US" sz="1500" b="1" dirty="0">
                <a:solidFill>
                  <a:srgbClr val="F8F7F5"/>
                </a:solidFill>
                <a:latin typeface="Quattrocento Sans" pitchFamily="34" charset="0"/>
                <a:ea typeface="Quattrocento Sans" pitchFamily="34" charset="-122"/>
                <a:cs typeface="Quattrocento Sans" pitchFamily="34" charset="-120"/>
              </a:rPr>
              <a:t>18 Dimensions</a:t>
            </a:r>
            <a:endParaRPr lang="en-US" sz="1600" dirty="0"/>
          </a:p>
        </p:txBody>
      </p:sp>
      <p:sp>
        <p:nvSpPr>
          <p:cNvPr id="14" name="Text 11"/>
          <p:cNvSpPr/>
          <p:nvPr/>
        </p:nvSpPr>
        <p:spPr>
          <a:xfrm>
            <a:off x="10328315" y="5916930"/>
            <a:ext cx="1485900" cy="190500"/>
          </a:xfrm>
          <a:prstGeom prst="rect">
            <a:avLst/>
          </a:prstGeom>
          <a:noFill/>
          <a:ln/>
        </p:spPr>
        <p:txBody>
          <a:bodyPr wrap="square" lIns="0" tIns="0" rIns="0" bIns="0" rtlCol="0" anchor="ctr"/>
          <a:lstStyle/>
          <a:p>
            <a:pPr algn="r">
              <a:lnSpc>
                <a:spcPct val="120000"/>
              </a:lnSpc>
            </a:pPr>
            <a:r>
              <a:rPr lang="en-US" sz="1050" dirty="0">
                <a:solidFill>
                  <a:srgbClr val="F8F7F5">
                    <a:alpha val="70000"/>
                  </a:srgbClr>
                </a:solidFill>
                <a:latin typeface="Quattrocento Sans" pitchFamily="34" charset="0"/>
                <a:ea typeface="Quattrocento Sans" pitchFamily="34" charset="-122"/>
                <a:cs typeface="Quattrocento Sans" pitchFamily="34" charset="-120"/>
              </a:rPr>
              <a:t>Comprehensive Analysis</a:t>
            </a:r>
            <a:endParaRPr lang="en-US" sz="1600" dirty="0"/>
          </a:p>
        </p:txBody>
      </p:sp>
      <p:sp>
        <p:nvSpPr>
          <p:cNvPr id="15" name="Text 12"/>
          <p:cNvSpPr/>
          <p:nvPr/>
        </p:nvSpPr>
        <p:spPr>
          <a:xfrm>
            <a:off x="10328315" y="6107430"/>
            <a:ext cx="1485900" cy="190500"/>
          </a:xfrm>
          <a:prstGeom prst="rect">
            <a:avLst/>
          </a:prstGeom>
          <a:noFill/>
          <a:ln/>
        </p:spPr>
        <p:txBody>
          <a:bodyPr wrap="square" lIns="0" tIns="0" rIns="0" bIns="0" rtlCol="0" anchor="ctr"/>
          <a:lstStyle/>
          <a:p>
            <a:pPr algn="r">
              <a:lnSpc>
                <a:spcPct val="120000"/>
              </a:lnSpc>
            </a:pPr>
            <a:r>
              <a:rPr lang="en-US" sz="1050" dirty="0">
                <a:solidFill>
                  <a:srgbClr val="F8F7F5">
                    <a:alpha val="70000"/>
                  </a:srgbClr>
                </a:solidFill>
                <a:latin typeface="Liter" pitchFamily="34" charset="0"/>
                <a:ea typeface="Liter" pitchFamily="34" charset="-122"/>
                <a:cs typeface="Liter" pitchFamily="34" charset="-120"/>
              </a:rPr>
              <a:t>Python • SQL • Power BI</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81000" y="457200"/>
            <a:ext cx="457200" cy="38100"/>
          </a:xfrm>
          <a:custGeom>
            <a:avLst/>
            <a:gdLst/>
            <a:ahLst/>
            <a:cxnLst/>
            <a:rect l="l" t="t" r="r" b="b"/>
            <a:pathLst>
              <a:path w="457200" h="38100">
                <a:moveTo>
                  <a:pt x="0" y="0"/>
                </a:moveTo>
                <a:lnTo>
                  <a:pt x="457200" y="0"/>
                </a:lnTo>
                <a:lnTo>
                  <a:pt x="457200" y="38100"/>
                </a:lnTo>
                <a:lnTo>
                  <a:pt x="0" y="38100"/>
                </a:lnTo>
                <a:lnTo>
                  <a:pt x="0" y="0"/>
                </a:lnTo>
                <a:close/>
              </a:path>
            </a:pathLst>
          </a:custGeom>
          <a:solidFill>
            <a:srgbClr val="C75B39"/>
          </a:solidFill>
          <a:ln/>
        </p:spPr>
      </p:sp>
      <p:sp>
        <p:nvSpPr>
          <p:cNvPr id="3" name="Text 1"/>
          <p:cNvSpPr/>
          <p:nvPr/>
        </p:nvSpPr>
        <p:spPr>
          <a:xfrm>
            <a:off x="952500" y="381000"/>
            <a:ext cx="1000125" cy="190500"/>
          </a:xfrm>
          <a:prstGeom prst="rect">
            <a:avLst/>
          </a:prstGeom>
          <a:noFill/>
          <a:ln/>
        </p:spPr>
        <p:txBody>
          <a:bodyPr wrap="square" lIns="0" tIns="0" rIns="0" bIns="0" rtlCol="0" anchor="ctr"/>
          <a:lstStyle/>
          <a:p>
            <a:pPr>
              <a:lnSpc>
                <a:spcPct val="120000"/>
              </a:lnSpc>
            </a:pPr>
            <a:r>
              <a:rPr lang="en-US" sz="1050" spc="105" kern="0" dirty="0">
                <a:solidFill>
                  <a:srgbClr val="C75B39"/>
                </a:solidFill>
                <a:latin typeface="Liter" pitchFamily="34" charset="0"/>
                <a:ea typeface="Liter" pitchFamily="34" charset="-122"/>
                <a:cs typeface="Liter" pitchFamily="34" charset="-120"/>
              </a:rPr>
              <a:t>Navigation</a:t>
            </a:r>
            <a:endParaRPr lang="en-US" sz="1600" dirty="0"/>
          </a:p>
        </p:txBody>
      </p:sp>
      <p:sp>
        <p:nvSpPr>
          <p:cNvPr id="4" name="Text 2"/>
          <p:cNvSpPr/>
          <p:nvPr/>
        </p:nvSpPr>
        <p:spPr>
          <a:xfrm>
            <a:off x="381000" y="723900"/>
            <a:ext cx="11658600" cy="457200"/>
          </a:xfrm>
          <a:prstGeom prst="rect">
            <a:avLst/>
          </a:prstGeom>
          <a:noFill/>
          <a:ln/>
        </p:spPr>
        <p:txBody>
          <a:bodyPr wrap="square" lIns="0" tIns="0" rIns="0" bIns="0" rtlCol="0" anchor="ctr"/>
          <a:lstStyle/>
          <a:p>
            <a:pPr>
              <a:lnSpc>
                <a:spcPct val="80000"/>
              </a:lnSpc>
            </a:pPr>
            <a:r>
              <a:rPr lang="en-US" sz="3600" b="1" dirty="0">
                <a:solidFill>
                  <a:srgbClr val="2E5A4C"/>
                </a:solidFill>
                <a:latin typeface="Oranienbaum" pitchFamily="34" charset="0"/>
                <a:ea typeface="Oranienbaum" pitchFamily="34" charset="-122"/>
                <a:cs typeface="Oranienbaum" pitchFamily="34" charset="-120"/>
              </a:rPr>
              <a:t>Executive Overview</a:t>
            </a:r>
            <a:endParaRPr lang="en-US" sz="1600" dirty="0"/>
          </a:p>
        </p:txBody>
      </p:sp>
      <p:sp>
        <p:nvSpPr>
          <p:cNvPr id="5" name="Text 3"/>
          <p:cNvSpPr/>
          <p:nvPr/>
        </p:nvSpPr>
        <p:spPr>
          <a:xfrm>
            <a:off x="381000" y="1295400"/>
            <a:ext cx="11515725" cy="266700"/>
          </a:xfrm>
          <a:prstGeom prst="rect">
            <a:avLst/>
          </a:prstGeom>
          <a:noFill/>
          <a:ln/>
        </p:spPr>
        <p:txBody>
          <a:bodyPr wrap="square" lIns="0" tIns="0" rIns="0" bIns="0" rtlCol="0" anchor="ctr"/>
          <a:lstStyle/>
          <a:p>
            <a:pPr>
              <a:lnSpc>
                <a:spcPct val="130000"/>
              </a:lnSpc>
            </a:pPr>
            <a:r>
              <a:rPr lang="en-US" sz="1350" dirty="0">
                <a:solidFill>
                  <a:srgbClr val="2C3E50">
                    <a:alpha val="70000"/>
                  </a:srgbClr>
                </a:solidFill>
                <a:latin typeface="Quattrocento Sans" pitchFamily="34" charset="0"/>
                <a:ea typeface="Quattrocento Sans" pitchFamily="34" charset="-122"/>
                <a:cs typeface="Quattrocento Sans" pitchFamily="34" charset="-120"/>
              </a:rPr>
              <a:t>Five key sections covering the complete customer behavior analysis journey</a:t>
            </a:r>
            <a:endParaRPr lang="en-US" sz="1600" dirty="0"/>
          </a:p>
        </p:txBody>
      </p:sp>
      <p:sp>
        <p:nvSpPr>
          <p:cNvPr id="6" name="Shape 4"/>
          <p:cNvSpPr/>
          <p:nvPr/>
        </p:nvSpPr>
        <p:spPr>
          <a:xfrm>
            <a:off x="400050" y="1866900"/>
            <a:ext cx="5581650" cy="1466850"/>
          </a:xfrm>
          <a:custGeom>
            <a:avLst/>
            <a:gdLst/>
            <a:ahLst/>
            <a:cxnLst/>
            <a:rect l="l" t="t" r="r" b="b"/>
            <a:pathLst>
              <a:path w="5581650" h="1466850">
                <a:moveTo>
                  <a:pt x="38100" y="0"/>
                </a:moveTo>
                <a:lnTo>
                  <a:pt x="5467353" y="0"/>
                </a:lnTo>
                <a:cubicBezTo>
                  <a:pt x="5530478" y="0"/>
                  <a:pt x="5581650" y="51172"/>
                  <a:pt x="5581650" y="114297"/>
                </a:cubicBezTo>
                <a:lnTo>
                  <a:pt x="5581650" y="1352553"/>
                </a:lnTo>
                <a:cubicBezTo>
                  <a:pt x="5581650" y="1415678"/>
                  <a:pt x="5530478" y="1466850"/>
                  <a:pt x="5467353" y="1466850"/>
                </a:cubicBezTo>
                <a:lnTo>
                  <a:pt x="38100" y="1466850"/>
                </a:lnTo>
                <a:cubicBezTo>
                  <a:pt x="17072" y="1466850"/>
                  <a:pt x="0" y="1449778"/>
                  <a:pt x="0" y="142875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7" name="Shape 5"/>
          <p:cNvSpPr/>
          <p:nvPr/>
        </p:nvSpPr>
        <p:spPr>
          <a:xfrm>
            <a:off x="400050" y="1866900"/>
            <a:ext cx="38100" cy="1466850"/>
          </a:xfrm>
          <a:custGeom>
            <a:avLst/>
            <a:gdLst/>
            <a:ahLst/>
            <a:cxnLst/>
            <a:rect l="l" t="t" r="r" b="b"/>
            <a:pathLst>
              <a:path w="38100" h="1466850">
                <a:moveTo>
                  <a:pt x="38100" y="0"/>
                </a:moveTo>
                <a:lnTo>
                  <a:pt x="38100" y="0"/>
                </a:lnTo>
                <a:lnTo>
                  <a:pt x="38100" y="1466850"/>
                </a:lnTo>
                <a:lnTo>
                  <a:pt x="38100" y="1466850"/>
                </a:lnTo>
                <a:cubicBezTo>
                  <a:pt x="17072" y="1466850"/>
                  <a:pt x="0" y="1449778"/>
                  <a:pt x="0" y="1428750"/>
                </a:cubicBezTo>
                <a:lnTo>
                  <a:pt x="0" y="38100"/>
                </a:lnTo>
                <a:cubicBezTo>
                  <a:pt x="0" y="17072"/>
                  <a:pt x="17072" y="0"/>
                  <a:pt x="38100" y="0"/>
                </a:cubicBezTo>
                <a:close/>
              </a:path>
            </a:pathLst>
          </a:custGeom>
          <a:solidFill>
            <a:srgbClr val="2E5A4C"/>
          </a:solidFill>
          <a:ln/>
        </p:spPr>
      </p:sp>
      <p:sp>
        <p:nvSpPr>
          <p:cNvPr id="8" name="Shape 6"/>
          <p:cNvSpPr/>
          <p:nvPr/>
        </p:nvSpPr>
        <p:spPr>
          <a:xfrm>
            <a:off x="647700" y="20955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E5A4C"/>
          </a:solidFill>
          <a:ln/>
        </p:spPr>
      </p:sp>
      <p:sp>
        <p:nvSpPr>
          <p:cNvPr id="9" name="Text 7"/>
          <p:cNvSpPr/>
          <p:nvPr/>
        </p:nvSpPr>
        <p:spPr>
          <a:xfrm>
            <a:off x="590550" y="20955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Oranienbaum" pitchFamily="34" charset="0"/>
                <a:ea typeface="Oranienbaum" pitchFamily="34" charset="-122"/>
                <a:cs typeface="Oranienbaum" pitchFamily="34" charset="-120"/>
              </a:rPr>
              <a:t>01</a:t>
            </a:r>
            <a:endParaRPr lang="en-US" sz="1600" dirty="0"/>
          </a:p>
        </p:txBody>
      </p:sp>
      <p:sp>
        <p:nvSpPr>
          <p:cNvPr id="10" name="Text 8"/>
          <p:cNvSpPr/>
          <p:nvPr/>
        </p:nvSpPr>
        <p:spPr>
          <a:xfrm>
            <a:off x="1333500" y="2095500"/>
            <a:ext cx="4514850" cy="266700"/>
          </a:xfrm>
          <a:prstGeom prst="rect">
            <a:avLst/>
          </a:prstGeom>
          <a:noFill/>
          <a:ln/>
        </p:spPr>
        <p:txBody>
          <a:bodyPr wrap="square" lIns="0" tIns="0" rIns="0" bIns="0" rtlCol="0" anchor="ctr"/>
          <a:lstStyle/>
          <a:p>
            <a:pPr>
              <a:lnSpc>
                <a:spcPct val="120000"/>
              </a:lnSpc>
            </a:pPr>
            <a:r>
              <a:rPr lang="en-US" sz="1500" b="1" dirty="0">
                <a:solidFill>
                  <a:srgbClr val="2E5A4C"/>
                </a:solidFill>
                <a:latin typeface="Liter" pitchFamily="34" charset="0"/>
                <a:ea typeface="Liter" pitchFamily="34" charset="-122"/>
                <a:cs typeface="Liter" pitchFamily="34" charset="-120"/>
              </a:rPr>
              <a:t>Project Overview</a:t>
            </a:r>
            <a:endParaRPr lang="en-US" sz="1600" dirty="0"/>
          </a:p>
        </p:txBody>
      </p:sp>
      <p:sp>
        <p:nvSpPr>
          <p:cNvPr id="11" name="Text 9"/>
          <p:cNvSpPr/>
          <p:nvPr/>
        </p:nvSpPr>
        <p:spPr>
          <a:xfrm>
            <a:off x="1333500" y="2438400"/>
            <a:ext cx="4495800" cy="495300"/>
          </a:xfrm>
          <a:prstGeom prst="rect">
            <a:avLst/>
          </a:prstGeom>
          <a:noFill/>
          <a:ln/>
        </p:spPr>
        <p:txBody>
          <a:bodyPr wrap="square" lIns="0" tIns="0" rIns="0" bIns="0" rtlCol="0" anchor="ctr"/>
          <a:lstStyle/>
          <a:p>
            <a:pPr>
              <a:lnSpc>
                <a:spcPct val="140000"/>
              </a:lnSpc>
            </a:pPr>
            <a:r>
              <a:rPr lang="en-US" sz="1200" dirty="0">
                <a:solidFill>
                  <a:srgbClr val="2C3E50">
                    <a:alpha val="80000"/>
                  </a:srgbClr>
                </a:solidFill>
                <a:latin typeface="Quattrocento Sans" pitchFamily="34" charset="0"/>
                <a:ea typeface="Quattrocento Sans" pitchFamily="34" charset="-122"/>
                <a:cs typeface="Quattrocento Sans" pitchFamily="34" charset="-120"/>
              </a:rPr>
              <a:t>Understanding the scope, objectives, and business context of the customer behavior analysis initiative.</a:t>
            </a:r>
            <a:endParaRPr lang="en-US" sz="1600" dirty="0"/>
          </a:p>
        </p:txBody>
      </p:sp>
      <p:sp>
        <p:nvSpPr>
          <p:cNvPr id="12" name="Shape 10"/>
          <p:cNvSpPr/>
          <p:nvPr/>
        </p:nvSpPr>
        <p:spPr>
          <a:xfrm>
            <a:off x="6229350" y="1866900"/>
            <a:ext cx="5581650" cy="1466850"/>
          </a:xfrm>
          <a:custGeom>
            <a:avLst/>
            <a:gdLst/>
            <a:ahLst/>
            <a:cxnLst/>
            <a:rect l="l" t="t" r="r" b="b"/>
            <a:pathLst>
              <a:path w="5581650" h="1466850">
                <a:moveTo>
                  <a:pt x="38100" y="0"/>
                </a:moveTo>
                <a:lnTo>
                  <a:pt x="5467353" y="0"/>
                </a:lnTo>
                <a:cubicBezTo>
                  <a:pt x="5530478" y="0"/>
                  <a:pt x="5581650" y="51172"/>
                  <a:pt x="5581650" y="114297"/>
                </a:cubicBezTo>
                <a:lnTo>
                  <a:pt x="5581650" y="1352553"/>
                </a:lnTo>
                <a:cubicBezTo>
                  <a:pt x="5581650" y="1415678"/>
                  <a:pt x="5530478" y="1466850"/>
                  <a:pt x="5467353" y="1466850"/>
                </a:cubicBezTo>
                <a:lnTo>
                  <a:pt x="38100" y="1466850"/>
                </a:lnTo>
                <a:cubicBezTo>
                  <a:pt x="17072" y="1466850"/>
                  <a:pt x="0" y="1449778"/>
                  <a:pt x="0" y="142875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13" name="Shape 11"/>
          <p:cNvSpPr/>
          <p:nvPr/>
        </p:nvSpPr>
        <p:spPr>
          <a:xfrm>
            <a:off x="6229350" y="1866900"/>
            <a:ext cx="38100" cy="1466850"/>
          </a:xfrm>
          <a:custGeom>
            <a:avLst/>
            <a:gdLst/>
            <a:ahLst/>
            <a:cxnLst/>
            <a:rect l="l" t="t" r="r" b="b"/>
            <a:pathLst>
              <a:path w="38100" h="1466850">
                <a:moveTo>
                  <a:pt x="38100" y="0"/>
                </a:moveTo>
                <a:lnTo>
                  <a:pt x="38100" y="0"/>
                </a:lnTo>
                <a:lnTo>
                  <a:pt x="38100" y="1466850"/>
                </a:lnTo>
                <a:lnTo>
                  <a:pt x="38100" y="1466850"/>
                </a:lnTo>
                <a:cubicBezTo>
                  <a:pt x="17072" y="1466850"/>
                  <a:pt x="0" y="1449778"/>
                  <a:pt x="0" y="1428750"/>
                </a:cubicBezTo>
                <a:lnTo>
                  <a:pt x="0" y="38100"/>
                </a:lnTo>
                <a:cubicBezTo>
                  <a:pt x="0" y="17072"/>
                  <a:pt x="17072" y="0"/>
                  <a:pt x="38100" y="0"/>
                </a:cubicBezTo>
                <a:close/>
              </a:path>
            </a:pathLst>
          </a:custGeom>
          <a:solidFill>
            <a:srgbClr val="D4A574"/>
          </a:solidFill>
          <a:ln/>
        </p:spPr>
      </p:sp>
      <p:sp>
        <p:nvSpPr>
          <p:cNvPr id="14" name="Shape 12"/>
          <p:cNvSpPr/>
          <p:nvPr/>
        </p:nvSpPr>
        <p:spPr>
          <a:xfrm>
            <a:off x="6477000" y="20955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D4A574"/>
          </a:solidFill>
          <a:ln/>
        </p:spPr>
      </p:sp>
      <p:sp>
        <p:nvSpPr>
          <p:cNvPr id="15" name="Text 13"/>
          <p:cNvSpPr/>
          <p:nvPr/>
        </p:nvSpPr>
        <p:spPr>
          <a:xfrm>
            <a:off x="6419850" y="20955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Oranienbaum" pitchFamily="34" charset="0"/>
                <a:ea typeface="Oranienbaum" pitchFamily="34" charset="-122"/>
                <a:cs typeface="Oranienbaum" pitchFamily="34" charset="-120"/>
              </a:rPr>
              <a:t>02</a:t>
            </a:r>
            <a:endParaRPr lang="en-US" sz="1600" dirty="0"/>
          </a:p>
        </p:txBody>
      </p:sp>
      <p:sp>
        <p:nvSpPr>
          <p:cNvPr id="16" name="Text 14"/>
          <p:cNvSpPr/>
          <p:nvPr/>
        </p:nvSpPr>
        <p:spPr>
          <a:xfrm>
            <a:off x="7162800" y="2095500"/>
            <a:ext cx="4514850" cy="266700"/>
          </a:xfrm>
          <a:prstGeom prst="rect">
            <a:avLst/>
          </a:prstGeom>
          <a:noFill/>
          <a:ln/>
        </p:spPr>
        <p:txBody>
          <a:bodyPr wrap="square" lIns="0" tIns="0" rIns="0" bIns="0" rtlCol="0" anchor="ctr"/>
          <a:lstStyle/>
          <a:p>
            <a:pPr>
              <a:lnSpc>
                <a:spcPct val="120000"/>
              </a:lnSpc>
            </a:pPr>
            <a:r>
              <a:rPr lang="en-US" sz="1500" b="1" dirty="0">
                <a:solidFill>
                  <a:srgbClr val="2E5A4C"/>
                </a:solidFill>
                <a:latin typeface="Liter" pitchFamily="34" charset="0"/>
                <a:ea typeface="Liter" pitchFamily="34" charset="-122"/>
                <a:cs typeface="Liter" pitchFamily="34" charset="-120"/>
              </a:rPr>
              <a:t>Dataset &amp; Methodology</a:t>
            </a:r>
            <a:endParaRPr lang="en-US" sz="1600" dirty="0"/>
          </a:p>
        </p:txBody>
      </p:sp>
      <p:sp>
        <p:nvSpPr>
          <p:cNvPr id="17" name="Text 15"/>
          <p:cNvSpPr/>
          <p:nvPr/>
        </p:nvSpPr>
        <p:spPr>
          <a:xfrm>
            <a:off x="7162800" y="2438400"/>
            <a:ext cx="4495800" cy="495300"/>
          </a:xfrm>
          <a:prstGeom prst="rect">
            <a:avLst/>
          </a:prstGeom>
          <a:noFill/>
          <a:ln/>
        </p:spPr>
        <p:txBody>
          <a:bodyPr wrap="square" lIns="0" tIns="0" rIns="0" bIns="0" rtlCol="0" anchor="ctr"/>
          <a:lstStyle/>
          <a:p>
            <a:pPr>
              <a:lnSpc>
                <a:spcPct val="140000"/>
              </a:lnSpc>
            </a:pPr>
            <a:r>
              <a:rPr lang="en-US" sz="1200" dirty="0">
                <a:solidFill>
                  <a:srgbClr val="2C3E50">
                    <a:alpha val="80000"/>
                  </a:srgbClr>
                </a:solidFill>
                <a:latin typeface="Quattrocento Sans" pitchFamily="34" charset="0"/>
                <a:ea typeface="Quattrocento Sans" pitchFamily="34" charset="-122"/>
                <a:cs typeface="Quattrocento Sans" pitchFamily="34" charset="-120"/>
              </a:rPr>
              <a:t>Exploring the data architecture, quality, and our three-layer analytics approach using Python, SQL, and Power BI.</a:t>
            </a:r>
            <a:endParaRPr lang="en-US" sz="1600" dirty="0"/>
          </a:p>
        </p:txBody>
      </p:sp>
      <p:sp>
        <p:nvSpPr>
          <p:cNvPr id="18" name="Shape 16"/>
          <p:cNvSpPr/>
          <p:nvPr/>
        </p:nvSpPr>
        <p:spPr>
          <a:xfrm>
            <a:off x="400050" y="3562350"/>
            <a:ext cx="5581650" cy="1466850"/>
          </a:xfrm>
          <a:custGeom>
            <a:avLst/>
            <a:gdLst/>
            <a:ahLst/>
            <a:cxnLst/>
            <a:rect l="l" t="t" r="r" b="b"/>
            <a:pathLst>
              <a:path w="5581650" h="1466850">
                <a:moveTo>
                  <a:pt x="38100" y="0"/>
                </a:moveTo>
                <a:lnTo>
                  <a:pt x="5467353" y="0"/>
                </a:lnTo>
                <a:cubicBezTo>
                  <a:pt x="5530478" y="0"/>
                  <a:pt x="5581650" y="51172"/>
                  <a:pt x="5581650" y="114297"/>
                </a:cubicBezTo>
                <a:lnTo>
                  <a:pt x="5581650" y="1352553"/>
                </a:lnTo>
                <a:cubicBezTo>
                  <a:pt x="5581650" y="1415678"/>
                  <a:pt x="5530478" y="1466850"/>
                  <a:pt x="5467353" y="1466850"/>
                </a:cubicBezTo>
                <a:lnTo>
                  <a:pt x="38100" y="1466850"/>
                </a:lnTo>
                <a:cubicBezTo>
                  <a:pt x="17072" y="1466850"/>
                  <a:pt x="0" y="1449778"/>
                  <a:pt x="0" y="142875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19" name="Shape 17"/>
          <p:cNvSpPr/>
          <p:nvPr/>
        </p:nvSpPr>
        <p:spPr>
          <a:xfrm>
            <a:off x="400050" y="3562350"/>
            <a:ext cx="38100" cy="1466850"/>
          </a:xfrm>
          <a:custGeom>
            <a:avLst/>
            <a:gdLst/>
            <a:ahLst/>
            <a:cxnLst/>
            <a:rect l="l" t="t" r="r" b="b"/>
            <a:pathLst>
              <a:path w="38100" h="1466850">
                <a:moveTo>
                  <a:pt x="38100" y="0"/>
                </a:moveTo>
                <a:lnTo>
                  <a:pt x="38100" y="0"/>
                </a:lnTo>
                <a:lnTo>
                  <a:pt x="38100" y="1466850"/>
                </a:lnTo>
                <a:lnTo>
                  <a:pt x="38100" y="1466850"/>
                </a:lnTo>
                <a:cubicBezTo>
                  <a:pt x="17072" y="1466850"/>
                  <a:pt x="0" y="1449778"/>
                  <a:pt x="0" y="1428750"/>
                </a:cubicBezTo>
                <a:lnTo>
                  <a:pt x="0" y="38100"/>
                </a:lnTo>
                <a:cubicBezTo>
                  <a:pt x="0" y="17072"/>
                  <a:pt x="17072" y="0"/>
                  <a:pt x="38100" y="0"/>
                </a:cubicBezTo>
                <a:close/>
              </a:path>
            </a:pathLst>
          </a:custGeom>
          <a:solidFill>
            <a:srgbClr val="C75B39"/>
          </a:solidFill>
          <a:ln/>
        </p:spPr>
      </p:sp>
      <p:sp>
        <p:nvSpPr>
          <p:cNvPr id="20" name="Shape 18"/>
          <p:cNvSpPr/>
          <p:nvPr/>
        </p:nvSpPr>
        <p:spPr>
          <a:xfrm>
            <a:off x="647700" y="37909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75B39"/>
          </a:solidFill>
          <a:ln/>
        </p:spPr>
      </p:sp>
      <p:sp>
        <p:nvSpPr>
          <p:cNvPr id="21" name="Text 19"/>
          <p:cNvSpPr/>
          <p:nvPr/>
        </p:nvSpPr>
        <p:spPr>
          <a:xfrm>
            <a:off x="590550" y="379095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Oranienbaum" pitchFamily="34" charset="0"/>
                <a:ea typeface="Oranienbaum" pitchFamily="34" charset="-122"/>
                <a:cs typeface="Oranienbaum" pitchFamily="34" charset="-120"/>
              </a:rPr>
              <a:t>03</a:t>
            </a:r>
            <a:endParaRPr lang="en-US" sz="1600" dirty="0"/>
          </a:p>
        </p:txBody>
      </p:sp>
      <p:sp>
        <p:nvSpPr>
          <p:cNvPr id="22" name="Text 20"/>
          <p:cNvSpPr/>
          <p:nvPr/>
        </p:nvSpPr>
        <p:spPr>
          <a:xfrm>
            <a:off x="1333500" y="3790950"/>
            <a:ext cx="4514850" cy="266700"/>
          </a:xfrm>
          <a:prstGeom prst="rect">
            <a:avLst/>
          </a:prstGeom>
          <a:noFill/>
          <a:ln/>
        </p:spPr>
        <p:txBody>
          <a:bodyPr wrap="square" lIns="0" tIns="0" rIns="0" bIns="0" rtlCol="0" anchor="ctr"/>
          <a:lstStyle/>
          <a:p>
            <a:pPr>
              <a:lnSpc>
                <a:spcPct val="120000"/>
              </a:lnSpc>
            </a:pPr>
            <a:r>
              <a:rPr lang="en-US" sz="1500" b="1" dirty="0">
                <a:solidFill>
                  <a:srgbClr val="2E5A4C"/>
                </a:solidFill>
                <a:latin typeface="Liter" pitchFamily="34" charset="0"/>
                <a:ea typeface="Liter" pitchFamily="34" charset="-122"/>
                <a:cs typeface="Liter" pitchFamily="34" charset="-120"/>
              </a:rPr>
              <a:t>Key Insights</a:t>
            </a:r>
            <a:endParaRPr lang="en-US" sz="1600" dirty="0"/>
          </a:p>
        </p:txBody>
      </p:sp>
      <p:sp>
        <p:nvSpPr>
          <p:cNvPr id="23" name="Text 21"/>
          <p:cNvSpPr/>
          <p:nvPr/>
        </p:nvSpPr>
        <p:spPr>
          <a:xfrm>
            <a:off x="1333500" y="4133850"/>
            <a:ext cx="4495800" cy="495300"/>
          </a:xfrm>
          <a:prstGeom prst="rect">
            <a:avLst/>
          </a:prstGeom>
          <a:noFill/>
          <a:ln/>
        </p:spPr>
        <p:txBody>
          <a:bodyPr wrap="square" lIns="0" tIns="0" rIns="0" bIns="0" rtlCol="0" anchor="ctr"/>
          <a:lstStyle/>
          <a:p>
            <a:pPr>
              <a:lnSpc>
                <a:spcPct val="140000"/>
              </a:lnSpc>
            </a:pPr>
            <a:r>
              <a:rPr lang="en-US" sz="1200" dirty="0">
                <a:solidFill>
                  <a:srgbClr val="2C3E50">
                    <a:alpha val="80000"/>
                  </a:srgbClr>
                </a:solidFill>
                <a:latin typeface="Quattrocento Sans" pitchFamily="34" charset="0"/>
                <a:ea typeface="Quattrocento Sans" pitchFamily="34" charset="-122"/>
                <a:cs typeface="Quattrocento Sans" pitchFamily="34" charset="-120"/>
              </a:rPr>
              <a:t>Revenue patterns, customer segments, product performance, and behavioral trends revealed through data analysis.</a:t>
            </a:r>
            <a:endParaRPr lang="en-US" sz="1600" dirty="0"/>
          </a:p>
        </p:txBody>
      </p:sp>
      <p:sp>
        <p:nvSpPr>
          <p:cNvPr id="24" name="Shape 22"/>
          <p:cNvSpPr/>
          <p:nvPr/>
        </p:nvSpPr>
        <p:spPr>
          <a:xfrm>
            <a:off x="6229350" y="3562350"/>
            <a:ext cx="5581650" cy="1466850"/>
          </a:xfrm>
          <a:custGeom>
            <a:avLst/>
            <a:gdLst/>
            <a:ahLst/>
            <a:cxnLst/>
            <a:rect l="l" t="t" r="r" b="b"/>
            <a:pathLst>
              <a:path w="5581650" h="1466850">
                <a:moveTo>
                  <a:pt x="38100" y="0"/>
                </a:moveTo>
                <a:lnTo>
                  <a:pt x="5467353" y="0"/>
                </a:lnTo>
                <a:cubicBezTo>
                  <a:pt x="5530478" y="0"/>
                  <a:pt x="5581650" y="51172"/>
                  <a:pt x="5581650" y="114297"/>
                </a:cubicBezTo>
                <a:lnTo>
                  <a:pt x="5581650" y="1352553"/>
                </a:lnTo>
                <a:cubicBezTo>
                  <a:pt x="5581650" y="1415678"/>
                  <a:pt x="5530478" y="1466850"/>
                  <a:pt x="5467353" y="1466850"/>
                </a:cubicBezTo>
                <a:lnTo>
                  <a:pt x="38100" y="1466850"/>
                </a:lnTo>
                <a:cubicBezTo>
                  <a:pt x="17072" y="1466850"/>
                  <a:pt x="0" y="1449778"/>
                  <a:pt x="0" y="1428750"/>
                </a:cubicBezTo>
                <a:lnTo>
                  <a:pt x="0" y="38100"/>
                </a:lnTo>
                <a:cubicBezTo>
                  <a:pt x="0" y="17072"/>
                  <a:pt x="17072" y="0"/>
                  <a:pt x="38100" y="0"/>
                </a:cubicBezTo>
                <a:close/>
              </a:path>
            </a:pathLst>
          </a:custGeom>
          <a:solidFill>
            <a:srgbClr val="FFFFFF"/>
          </a:solidFill>
          <a:ln/>
          <a:effectLst>
            <a:outerShdw sx="100000" sy="100000" kx="0" ky="0" algn="bl" rotWithShape="0" blurRad="142875" dist="95250" dir="5400000">
              <a:srgbClr val="000000">
                <a:alpha val="10196"/>
              </a:srgbClr>
            </a:outerShdw>
          </a:effectLst>
        </p:spPr>
      </p:sp>
      <p:sp>
        <p:nvSpPr>
          <p:cNvPr id="25" name="Shape 23"/>
          <p:cNvSpPr/>
          <p:nvPr/>
        </p:nvSpPr>
        <p:spPr>
          <a:xfrm>
            <a:off x="6229350" y="3562350"/>
            <a:ext cx="38100" cy="1466850"/>
          </a:xfrm>
          <a:custGeom>
            <a:avLst/>
            <a:gdLst/>
            <a:ahLst/>
            <a:cxnLst/>
            <a:rect l="l" t="t" r="r" b="b"/>
            <a:pathLst>
              <a:path w="38100" h="1466850">
                <a:moveTo>
                  <a:pt x="38100" y="0"/>
                </a:moveTo>
                <a:lnTo>
                  <a:pt x="38100" y="0"/>
                </a:lnTo>
                <a:lnTo>
                  <a:pt x="38100" y="1466850"/>
                </a:lnTo>
                <a:lnTo>
                  <a:pt x="38100" y="1466850"/>
                </a:lnTo>
                <a:cubicBezTo>
                  <a:pt x="17072" y="1466850"/>
                  <a:pt x="0" y="1449778"/>
                  <a:pt x="0" y="1428750"/>
                </a:cubicBezTo>
                <a:lnTo>
                  <a:pt x="0" y="38100"/>
                </a:lnTo>
                <a:cubicBezTo>
                  <a:pt x="0" y="17072"/>
                  <a:pt x="17072" y="0"/>
                  <a:pt x="38100" y="0"/>
                </a:cubicBezTo>
                <a:close/>
              </a:path>
            </a:pathLst>
          </a:custGeom>
          <a:solidFill>
            <a:srgbClr val="2E5A4C"/>
          </a:solidFill>
          <a:ln/>
        </p:spPr>
      </p:sp>
      <p:sp>
        <p:nvSpPr>
          <p:cNvPr id="26" name="Shape 24"/>
          <p:cNvSpPr/>
          <p:nvPr/>
        </p:nvSpPr>
        <p:spPr>
          <a:xfrm>
            <a:off x="6477000" y="37909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E5A4C"/>
          </a:solidFill>
          <a:ln/>
        </p:spPr>
      </p:sp>
      <p:sp>
        <p:nvSpPr>
          <p:cNvPr id="27" name="Text 25"/>
          <p:cNvSpPr/>
          <p:nvPr/>
        </p:nvSpPr>
        <p:spPr>
          <a:xfrm>
            <a:off x="6419850" y="379095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Oranienbaum" pitchFamily="34" charset="0"/>
                <a:ea typeface="Oranienbaum" pitchFamily="34" charset="-122"/>
                <a:cs typeface="Oranienbaum" pitchFamily="34" charset="-120"/>
              </a:rPr>
              <a:t>04</a:t>
            </a:r>
            <a:endParaRPr lang="en-US" sz="1600" dirty="0"/>
          </a:p>
        </p:txBody>
      </p:sp>
      <p:sp>
        <p:nvSpPr>
          <p:cNvPr id="28" name="Text 26"/>
          <p:cNvSpPr/>
          <p:nvPr/>
        </p:nvSpPr>
        <p:spPr>
          <a:xfrm>
            <a:off x="7162800" y="3790950"/>
            <a:ext cx="4514850" cy="266700"/>
          </a:xfrm>
          <a:prstGeom prst="rect">
            <a:avLst/>
          </a:prstGeom>
          <a:noFill/>
          <a:ln/>
        </p:spPr>
        <p:txBody>
          <a:bodyPr wrap="square" lIns="0" tIns="0" rIns="0" bIns="0" rtlCol="0" anchor="ctr"/>
          <a:lstStyle/>
          <a:p>
            <a:pPr>
              <a:lnSpc>
                <a:spcPct val="120000"/>
              </a:lnSpc>
            </a:pPr>
            <a:r>
              <a:rPr lang="en-US" sz="1500" b="1" dirty="0">
                <a:solidFill>
                  <a:srgbClr val="2E5A4C"/>
                </a:solidFill>
                <a:latin typeface="Liter" pitchFamily="34" charset="0"/>
                <a:ea typeface="Liter" pitchFamily="34" charset="-122"/>
                <a:cs typeface="Liter" pitchFamily="34" charset="-120"/>
              </a:rPr>
              <a:t>Segmentation Findings</a:t>
            </a:r>
            <a:endParaRPr lang="en-US" sz="1600" dirty="0"/>
          </a:p>
        </p:txBody>
      </p:sp>
      <p:sp>
        <p:nvSpPr>
          <p:cNvPr id="29" name="Text 27"/>
          <p:cNvSpPr/>
          <p:nvPr/>
        </p:nvSpPr>
        <p:spPr>
          <a:xfrm>
            <a:off x="7162800" y="4133850"/>
            <a:ext cx="4495800" cy="495300"/>
          </a:xfrm>
          <a:prstGeom prst="rect">
            <a:avLst/>
          </a:prstGeom>
          <a:noFill/>
          <a:ln/>
        </p:spPr>
        <p:txBody>
          <a:bodyPr wrap="square" lIns="0" tIns="0" rIns="0" bIns="0" rtlCol="0" anchor="ctr"/>
          <a:lstStyle/>
          <a:p>
            <a:pPr>
              <a:lnSpc>
                <a:spcPct val="140000"/>
              </a:lnSpc>
            </a:pPr>
            <a:r>
              <a:rPr lang="en-US" sz="1200" dirty="0">
                <a:solidFill>
                  <a:srgbClr val="2C3E50">
                    <a:alpha val="80000"/>
                  </a:srgbClr>
                </a:solidFill>
                <a:latin typeface="Quattrocento Sans" pitchFamily="34" charset="0"/>
                <a:ea typeface="Quattrocento Sans" pitchFamily="34" charset="-122"/>
                <a:cs typeface="Quattrocento Sans" pitchFamily="34" charset="-120"/>
              </a:rPr>
              <a:t>Customer classification into New, Returning, and Loyal segments with lifecycle management insights.</a:t>
            </a:r>
            <a:endParaRPr lang="en-US" sz="1600" dirty="0"/>
          </a:p>
        </p:txBody>
      </p:sp>
      <p:sp>
        <p:nvSpPr>
          <p:cNvPr id="30" name="Shape 28"/>
          <p:cNvSpPr/>
          <p:nvPr/>
        </p:nvSpPr>
        <p:spPr>
          <a:xfrm>
            <a:off x="381000" y="5257800"/>
            <a:ext cx="11430000" cy="1219200"/>
          </a:xfrm>
          <a:custGeom>
            <a:avLst/>
            <a:gdLst/>
            <a:ahLst/>
            <a:cxnLst/>
            <a:rect l="l" t="t" r="r" b="b"/>
            <a:pathLst>
              <a:path w="11430000" h="1219200">
                <a:moveTo>
                  <a:pt x="114300" y="0"/>
                </a:moveTo>
                <a:lnTo>
                  <a:pt x="11315700" y="0"/>
                </a:lnTo>
                <a:cubicBezTo>
                  <a:pt x="11378784" y="0"/>
                  <a:pt x="11430000" y="51216"/>
                  <a:pt x="11430000" y="114300"/>
                </a:cubicBezTo>
                <a:lnTo>
                  <a:pt x="11430000" y="1104900"/>
                </a:lnTo>
                <a:cubicBezTo>
                  <a:pt x="11430000" y="1167984"/>
                  <a:pt x="11378784" y="1219200"/>
                  <a:pt x="11315700" y="1219200"/>
                </a:cubicBezTo>
                <a:lnTo>
                  <a:pt x="114300" y="1219200"/>
                </a:lnTo>
                <a:cubicBezTo>
                  <a:pt x="51216" y="1219200"/>
                  <a:pt x="0" y="1167984"/>
                  <a:pt x="0" y="1104900"/>
                </a:cubicBezTo>
                <a:lnTo>
                  <a:pt x="0" y="114300"/>
                </a:lnTo>
                <a:cubicBezTo>
                  <a:pt x="0" y="51216"/>
                  <a:pt x="51216" y="0"/>
                  <a:pt x="114300" y="0"/>
                </a:cubicBezTo>
                <a:close/>
              </a:path>
            </a:pathLst>
          </a:custGeom>
          <a:gradFill rotWithShape="1" flip="none">
            <a:gsLst>
              <a:gs pos="0">
                <a:srgbClr val="2E5A4C"/>
              </a:gs>
              <a:gs pos="100000">
                <a:srgbClr val="C75B39"/>
              </a:gs>
            </a:gsLst>
            <a:lin ang="0" scaled="1"/>
          </a:gradFill>
          <a:ln/>
          <a:effectLst>
            <a:outerShdw sx="100000" sy="100000" kx="0" ky="0" algn="bl" rotWithShape="0" blurRad="142875" dist="95250" dir="5400000">
              <a:srgbClr val="000000">
                <a:alpha val="10196"/>
              </a:srgbClr>
            </a:outerShdw>
          </a:effectLst>
        </p:spPr>
      </p:sp>
      <p:sp>
        <p:nvSpPr>
          <p:cNvPr id="31" name="Shape 29"/>
          <p:cNvSpPr/>
          <p:nvPr/>
        </p:nvSpPr>
        <p:spPr>
          <a:xfrm>
            <a:off x="609600" y="5486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FFFF">
              <a:alpha val="20000"/>
            </a:srgbClr>
          </a:solidFill>
          <a:ln/>
        </p:spPr>
      </p:sp>
      <p:sp>
        <p:nvSpPr>
          <p:cNvPr id="32" name="Text 30"/>
          <p:cNvSpPr/>
          <p:nvPr/>
        </p:nvSpPr>
        <p:spPr>
          <a:xfrm>
            <a:off x="552450" y="5486400"/>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Oranienbaum" pitchFamily="34" charset="0"/>
                <a:ea typeface="Oranienbaum" pitchFamily="34" charset="-122"/>
                <a:cs typeface="Oranienbaum" pitchFamily="34" charset="-120"/>
              </a:rPr>
              <a:t>05</a:t>
            </a:r>
            <a:endParaRPr lang="en-US" sz="1600" dirty="0"/>
          </a:p>
        </p:txBody>
      </p:sp>
      <p:sp>
        <p:nvSpPr>
          <p:cNvPr id="33" name="Text 31"/>
          <p:cNvSpPr/>
          <p:nvPr/>
        </p:nvSpPr>
        <p:spPr>
          <a:xfrm>
            <a:off x="1295400" y="5486400"/>
            <a:ext cx="92297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Strategic Recommendations</a:t>
            </a:r>
            <a:endParaRPr lang="en-US" sz="1600" dirty="0"/>
          </a:p>
        </p:txBody>
      </p:sp>
      <p:sp>
        <p:nvSpPr>
          <p:cNvPr id="34" name="Text 32"/>
          <p:cNvSpPr/>
          <p:nvPr/>
        </p:nvSpPr>
        <p:spPr>
          <a:xfrm>
            <a:off x="1295400" y="5829300"/>
            <a:ext cx="9210675" cy="247650"/>
          </a:xfrm>
          <a:prstGeom prst="rect">
            <a:avLst/>
          </a:prstGeom>
          <a:noFill/>
          <a:ln/>
        </p:spPr>
        <p:txBody>
          <a:bodyPr wrap="square" lIns="0" tIns="0" rIns="0" bIns="0" rtlCol="0" anchor="ctr"/>
          <a:lstStyle/>
          <a:p>
            <a:pPr>
              <a:lnSpc>
                <a:spcPct val="14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Five actionable pillars for growth: subscription optimization, loyalty programs, pricing strategy, product positioning, and targeted marketing.</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81000" y="457200"/>
            <a:ext cx="457200" cy="38100"/>
          </a:xfrm>
          <a:custGeom>
            <a:avLst/>
            <a:gdLst/>
            <a:ahLst/>
            <a:cxnLst/>
            <a:rect l="l" t="t" r="r" b="b"/>
            <a:pathLst>
              <a:path w="457200" h="38100">
                <a:moveTo>
                  <a:pt x="0" y="0"/>
                </a:moveTo>
                <a:lnTo>
                  <a:pt x="457200" y="0"/>
                </a:lnTo>
                <a:lnTo>
                  <a:pt x="457200" y="38100"/>
                </a:lnTo>
                <a:lnTo>
                  <a:pt x="0" y="38100"/>
                </a:lnTo>
                <a:lnTo>
                  <a:pt x="0" y="0"/>
                </a:lnTo>
                <a:close/>
              </a:path>
            </a:pathLst>
          </a:custGeom>
          <a:solidFill>
            <a:srgbClr val="2E5A4C"/>
          </a:solidFill>
          <a:ln/>
        </p:spPr>
      </p:sp>
      <p:sp>
        <p:nvSpPr>
          <p:cNvPr id="3" name="Text 1"/>
          <p:cNvSpPr/>
          <p:nvPr/>
        </p:nvSpPr>
        <p:spPr>
          <a:xfrm>
            <a:off x="952500" y="381000"/>
            <a:ext cx="923925" cy="190500"/>
          </a:xfrm>
          <a:prstGeom prst="rect">
            <a:avLst/>
          </a:prstGeom>
          <a:noFill/>
          <a:ln/>
        </p:spPr>
        <p:txBody>
          <a:bodyPr wrap="square" lIns="0" tIns="0" rIns="0" bIns="0" rtlCol="0" anchor="ctr"/>
          <a:lstStyle/>
          <a:p>
            <a:pPr>
              <a:lnSpc>
                <a:spcPct val="120000"/>
              </a:lnSpc>
            </a:pPr>
            <a:r>
              <a:rPr lang="en-US" sz="1050" spc="105" kern="0" dirty="0">
                <a:solidFill>
                  <a:srgbClr val="2E5A4C"/>
                </a:solidFill>
                <a:latin typeface="Liter" pitchFamily="34" charset="0"/>
                <a:ea typeface="Liter" pitchFamily="34" charset="-122"/>
                <a:cs typeface="Liter" pitchFamily="34" charset="-120"/>
              </a:rPr>
              <a:t>Section 01</a:t>
            </a:r>
            <a:endParaRPr lang="en-US" sz="1600" dirty="0"/>
          </a:p>
        </p:txBody>
      </p:sp>
      <p:sp>
        <p:nvSpPr>
          <p:cNvPr id="4" name="Text 2"/>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2E5A4C"/>
                </a:solidFill>
                <a:latin typeface="Oranienbaum" pitchFamily="34" charset="0"/>
                <a:ea typeface="Oranienbaum" pitchFamily="34" charset="-122"/>
                <a:cs typeface="Oranienbaum" pitchFamily="34" charset="-120"/>
              </a:rPr>
              <a:t>Project Overview: Unlocking Customer Insights</a:t>
            </a:r>
            <a:endParaRPr lang="en-US" sz="1600" dirty="0"/>
          </a:p>
        </p:txBody>
      </p:sp>
      <p:sp>
        <p:nvSpPr>
          <p:cNvPr id="5" name="Shape 3"/>
          <p:cNvSpPr/>
          <p:nvPr/>
        </p:nvSpPr>
        <p:spPr>
          <a:xfrm>
            <a:off x="381000" y="1295400"/>
            <a:ext cx="6724650" cy="2305050"/>
          </a:xfrm>
          <a:custGeom>
            <a:avLst/>
            <a:gdLst/>
            <a:ahLst/>
            <a:cxnLst/>
            <a:rect l="l" t="t" r="r" b="b"/>
            <a:pathLst>
              <a:path w="6724650" h="2305050">
                <a:moveTo>
                  <a:pt x="114307" y="0"/>
                </a:moveTo>
                <a:lnTo>
                  <a:pt x="6610343" y="0"/>
                </a:lnTo>
                <a:cubicBezTo>
                  <a:pt x="6673473" y="0"/>
                  <a:pt x="6724650" y="51177"/>
                  <a:pt x="6724650" y="114307"/>
                </a:cubicBezTo>
                <a:lnTo>
                  <a:pt x="6724650" y="2190743"/>
                </a:lnTo>
                <a:cubicBezTo>
                  <a:pt x="6724650" y="2253873"/>
                  <a:pt x="6673473" y="2305050"/>
                  <a:pt x="6610343" y="2305050"/>
                </a:cubicBezTo>
                <a:lnTo>
                  <a:pt x="114307" y="2305050"/>
                </a:lnTo>
                <a:cubicBezTo>
                  <a:pt x="51177" y="2305050"/>
                  <a:pt x="0" y="2253873"/>
                  <a:pt x="0" y="2190743"/>
                </a:cubicBezTo>
                <a:lnTo>
                  <a:pt x="0" y="114307"/>
                </a:lnTo>
                <a:cubicBezTo>
                  <a:pt x="0" y="51219"/>
                  <a:pt x="51219" y="0"/>
                  <a:pt x="114307"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6" name="Shape 4"/>
          <p:cNvSpPr/>
          <p:nvPr/>
        </p:nvSpPr>
        <p:spPr>
          <a:xfrm>
            <a:off x="647700" y="1533406"/>
            <a:ext cx="285750" cy="285750"/>
          </a:xfrm>
          <a:custGeom>
            <a:avLst/>
            <a:gdLst/>
            <a:ahLst/>
            <a:cxnLst/>
            <a:rect l="l" t="t" r="r" b="b"/>
            <a:pathLst>
              <a:path w="285750" h="285750">
                <a:moveTo>
                  <a:pt x="250031" y="142875"/>
                </a:moveTo>
                <a:cubicBezTo>
                  <a:pt x="250031" y="83734"/>
                  <a:pt x="202016" y="35719"/>
                  <a:pt x="142875" y="35719"/>
                </a:cubicBezTo>
                <a:cubicBezTo>
                  <a:pt x="83734" y="35719"/>
                  <a:pt x="35719" y="83734"/>
                  <a:pt x="35719" y="142875"/>
                </a:cubicBezTo>
                <a:cubicBezTo>
                  <a:pt x="35719" y="202016"/>
                  <a:pt x="83734" y="250031"/>
                  <a:pt x="142875" y="250031"/>
                </a:cubicBezTo>
                <a:cubicBezTo>
                  <a:pt x="202016" y="250031"/>
                  <a:pt x="250031" y="202016"/>
                  <a:pt x="250031" y="142875"/>
                </a:cubicBezTo>
                <a:close/>
                <a:moveTo>
                  <a:pt x="0" y="142875"/>
                </a:moveTo>
                <a:cubicBezTo>
                  <a:pt x="0" y="64020"/>
                  <a:pt x="64020" y="0"/>
                  <a:pt x="142875" y="0"/>
                </a:cubicBezTo>
                <a:cubicBezTo>
                  <a:pt x="221730" y="0"/>
                  <a:pt x="285750" y="64020"/>
                  <a:pt x="285750" y="142875"/>
                </a:cubicBezTo>
                <a:cubicBezTo>
                  <a:pt x="285750" y="221730"/>
                  <a:pt x="221730" y="285750"/>
                  <a:pt x="142875" y="285750"/>
                </a:cubicBezTo>
                <a:cubicBezTo>
                  <a:pt x="64020" y="285750"/>
                  <a:pt x="0" y="221730"/>
                  <a:pt x="0" y="142875"/>
                </a:cubicBezTo>
                <a:close/>
                <a:moveTo>
                  <a:pt x="142875" y="187523"/>
                </a:moveTo>
                <a:cubicBezTo>
                  <a:pt x="167517" y="187523"/>
                  <a:pt x="187523" y="167517"/>
                  <a:pt x="187523" y="142875"/>
                </a:cubicBezTo>
                <a:cubicBezTo>
                  <a:pt x="187523" y="118233"/>
                  <a:pt x="167517" y="98227"/>
                  <a:pt x="142875" y="98227"/>
                </a:cubicBezTo>
                <a:cubicBezTo>
                  <a:pt x="118233" y="98227"/>
                  <a:pt x="98227" y="118233"/>
                  <a:pt x="98227" y="142875"/>
                </a:cubicBezTo>
                <a:cubicBezTo>
                  <a:pt x="98227" y="167517"/>
                  <a:pt x="118233" y="187523"/>
                  <a:pt x="142875" y="187523"/>
                </a:cubicBezTo>
                <a:close/>
                <a:moveTo>
                  <a:pt x="142875" y="62508"/>
                </a:moveTo>
                <a:cubicBezTo>
                  <a:pt x="187231" y="62508"/>
                  <a:pt x="223242" y="98519"/>
                  <a:pt x="223242" y="142875"/>
                </a:cubicBezTo>
                <a:cubicBezTo>
                  <a:pt x="223242" y="187231"/>
                  <a:pt x="187231" y="223242"/>
                  <a:pt x="142875" y="223242"/>
                </a:cubicBezTo>
                <a:cubicBezTo>
                  <a:pt x="98519" y="223242"/>
                  <a:pt x="62508" y="187231"/>
                  <a:pt x="62508" y="142875"/>
                </a:cubicBezTo>
                <a:cubicBezTo>
                  <a:pt x="62508" y="98519"/>
                  <a:pt x="98519" y="62508"/>
                  <a:pt x="142875" y="62508"/>
                </a:cubicBezTo>
                <a:close/>
                <a:moveTo>
                  <a:pt x="125016" y="142875"/>
                </a:moveTo>
                <a:cubicBezTo>
                  <a:pt x="125016" y="133018"/>
                  <a:pt x="133018" y="125016"/>
                  <a:pt x="142875" y="125016"/>
                </a:cubicBezTo>
                <a:cubicBezTo>
                  <a:pt x="152732" y="125016"/>
                  <a:pt x="160734" y="133018"/>
                  <a:pt x="160734" y="142875"/>
                </a:cubicBezTo>
                <a:cubicBezTo>
                  <a:pt x="160734" y="152732"/>
                  <a:pt x="152732" y="160734"/>
                  <a:pt x="142875" y="160734"/>
                </a:cubicBezTo>
                <a:cubicBezTo>
                  <a:pt x="133018" y="160734"/>
                  <a:pt x="125016" y="152732"/>
                  <a:pt x="125016" y="142875"/>
                </a:cubicBezTo>
                <a:close/>
              </a:path>
            </a:pathLst>
          </a:custGeom>
          <a:solidFill>
            <a:srgbClr val="C75B39"/>
          </a:solidFill>
          <a:ln/>
        </p:spPr>
      </p:sp>
      <p:sp>
        <p:nvSpPr>
          <p:cNvPr id="7" name="Text 5"/>
          <p:cNvSpPr/>
          <p:nvPr/>
        </p:nvSpPr>
        <p:spPr>
          <a:xfrm>
            <a:off x="1081088" y="1524000"/>
            <a:ext cx="1657350" cy="304800"/>
          </a:xfrm>
          <a:prstGeom prst="rect">
            <a:avLst/>
          </a:prstGeom>
          <a:noFill/>
          <a:ln/>
        </p:spPr>
        <p:txBody>
          <a:bodyPr wrap="square" lIns="0" tIns="0" rIns="0" bIns="0" rtlCol="0" anchor="ctr"/>
          <a:lstStyle/>
          <a:p>
            <a:pPr>
              <a:lnSpc>
                <a:spcPct val="110000"/>
              </a:lnSpc>
            </a:pPr>
            <a:r>
              <a:rPr lang="en-US" sz="1800" b="1" dirty="0">
                <a:solidFill>
                  <a:srgbClr val="2E5A4C"/>
                </a:solidFill>
                <a:latin typeface="Liter" pitchFamily="34" charset="0"/>
                <a:ea typeface="Liter" pitchFamily="34" charset="-122"/>
                <a:cs typeface="Liter" pitchFamily="34" charset="-120"/>
              </a:rPr>
              <a:t>Project Mission</a:t>
            </a:r>
            <a:endParaRPr lang="en-US" sz="1600" dirty="0"/>
          </a:p>
        </p:txBody>
      </p:sp>
      <p:sp>
        <p:nvSpPr>
          <p:cNvPr id="8" name="Text 6"/>
          <p:cNvSpPr/>
          <p:nvPr/>
        </p:nvSpPr>
        <p:spPr>
          <a:xfrm>
            <a:off x="609600" y="1981081"/>
            <a:ext cx="6343650" cy="742950"/>
          </a:xfrm>
          <a:prstGeom prst="rect">
            <a:avLst/>
          </a:prstGeom>
          <a:noFill/>
          <a:ln/>
        </p:spPr>
        <p:txBody>
          <a:bodyPr wrap="square" lIns="0" tIns="0" rIns="0" bIns="0" rtlCol="0" anchor="ctr"/>
          <a:lstStyle/>
          <a:p>
            <a:pPr>
              <a:lnSpc>
                <a:spcPct val="140000"/>
              </a:lnSpc>
            </a:pPr>
            <a:r>
              <a:rPr lang="en-US" sz="1200" dirty="0">
                <a:solidFill>
                  <a:srgbClr val="2C3E50"/>
                </a:solidFill>
                <a:latin typeface="Quattrocento Sans" pitchFamily="34" charset="0"/>
                <a:ea typeface="Quattrocento Sans" pitchFamily="34" charset="-122"/>
                <a:cs typeface="Quattrocento Sans" pitchFamily="34" charset="-120"/>
              </a:rPr>
              <a:t>This comprehensive analysis examines </a:t>
            </a:r>
            <a:pPr>
              <a:lnSpc>
                <a:spcPct val="140000"/>
              </a:lnSpc>
            </a:pPr>
            <a:r>
              <a:rPr lang="en-US" sz="1200" b="1" dirty="0">
                <a:solidFill>
                  <a:srgbClr val="C75B39"/>
                </a:solidFill>
                <a:latin typeface="Quattrocento Sans" pitchFamily="34" charset="0"/>
                <a:ea typeface="Quattrocento Sans" pitchFamily="34" charset="-122"/>
                <a:cs typeface="Quattrocento Sans" pitchFamily="34" charset="-120"/>
              </a:rPr>
              <a:t>3,900 customer transactions</a:t>
            </a:r>
            <a:pPr>
              <a:lnSpc>
                <a:spcPct val="140000"/>
              </a:lnSpc>
            </a:pPr>
            <a:r>
              <a:rPr lang="en-US" sz="1200" dirty="0">
                <a:solidFill>
                  <a:srgbClr val="2C3E50"/>
                </a:solidFill>
                <a:latin typeface="Quattrocento Sans" pitchFamily="34" charset="0"/>
                <a:ea typeface="Quattrocento Sans" pitchFamily="34" charset="-122"/>
                <a:cs typeface="Quattrocento Sans" pitchFamily="34" charset="-120"/>
              </a:rPr>
              <a:t> across multiple product categories to uncover actionable insights into spending patterns, customer segments, product preferences, and subscription behavior.</a:t>
            </a:r>
            <a:endParaRPr lang="en-US" sz="1600" dirty="0"/>
          </a:p>
        </p:txBody>
      </p:sp>
      <p:sp>
        <p:nvSpPr>
          <p:cNvPr id="9" name="Text 7"/>
          <p:cNvSpPr/>
          <p:nvPr/>
        </p:nvSpPr>
        <p:spPr>
          <a:xfrm>
            <a:off x="609600" y="2876431"/>
            <a:ext cx="6343650" cy="495300"/>
          </a:xfrm>
          <a:prstGeom prst="rect">
            <a:avLst/>
          </a:prstGeom>
          <a:noFill/>
          <a:ln/>
        </p:spPr>
        <p:txBody>
          <a:bodyPr wrap="square" lIns="0" tIns="0" rIns="0" bIns="0" rtlCol="0" anchor="ctr"/>
          <a:lstStyle/>
          <a:p>
            <a:pPr>
              <a:lnSpc>
                <a:spcPct val="140000"/>
              </a:lnSpc>
            </a:pPr>
            <a:r>
              <a:rPr lang="en-US" sz="1200" dirty="0">
                <a:solidFill>
                  <a:srgbClr val="2C3E50"/>
                </a:solidFill>
                <a:latin typeface="Quattrocento Sans" pitchFamily="34" charset="0"/>
                <a:ea typeface="Quattrocento Sans" pitchFamily="34" charset="-122"/>
                <a:cs typeface="Quattrocento Sans" pitchFamily="34" charset="-120"/>
              </a:rPr>
              <a:t>Our goal is to transform raw transactional data into </a:t>
            </a:r>
            <a:pPr>
              <a:lnSpc>
                <a:spcPct val="140000"/>
              </a:lnSpc>
            </a:pPr>
            <a:r>
              <a:rPr lang="en-US" sz="1200" dirty="0">
                <a:solidFill>
                  <a:srgbClr val="2C3E50"/>
                </a:solidFill>
                <a:highlight>
                  <a:srgbClr val="D4A574">
                    <a:alpha val="20000"/>
                  </a:srgbClr>
                </a:highlight>
                <a:latin typeface="Quattrocento Sans" pitchFamily="34" charset="0"/>
                <a:ea typeface="Quattrocento Sans" pitchFamily="34" charset="-122"/>
                <a:cs typeface="Quattrocento Sans" pitchFamily="34" charset="-120"/>
              </a:rPr>
              <a:t>strategic business intelligence </a:t>
            </a:r>
            <a:pPr>
              <a:lnSpc>
                <a:spcPct val="140000"/>
              </a:lnSpc>
            </a:pPr>
            <a:r>
              <a:rPr lang="en-US" sz="1200" dirty="0">
                <a:solidFill>
                  <a:srgbClr val="2C3E50"/>
                </a:solidFill>
                <a:latin typeface="Quattrocento Sans" pitchFamily="34" charset="0"/>
                <a:ea typeface="Quattrocento Sans" pitchFamily="34" charset="-122"/>
                <a:cs typeface="Quattrocento Sans" pitchFamily="34" charset="-120"/>
              </a:rPr>
              <a:t>that guides marketing decisions, pricing strategies, and customer experience optimization.</a:t>
            </a:r>
            <a:endParaRPr lang="en-US" sz="1600" dirty="0"/>
          </a:p>
        </p:txBody>
      </p:sp>
      <p:sp>
        <p:nvSpPr>
          <p:cNvPr id="10" name="Shape 8"/>
          <p:cNvSpPr/>
          <p:nvPr/>
        </p:nvSpPr>
        <p:spPr>
          <a:xfrm>
            <a:off x="400050" y="3790831"/>
            <a:ext cx="3267075" cy="1028700"/>
          </a:xfrm>
          <a:custGeom>
            <a:avLst/>
            <a:gdLst/>
            <a:ahLst/>
            <a:cxnLst/>
            <a:rect l="l" t="t" r="r" b="b"/>
            <a:pathLst>
              <a:path w="3267075" h="1028700">
                <a:moveTo>
                  <a:pt x="38100" y="0"/>
                </a:moveTo>
                <a:lnTo>
                  <a:pt x="3190879" y="0"/>
                </a:lnTo>
                <a:cubicBezTo>
                  <a:pt x="3232961" y="0"/>
                  <a:pt x="3267075" y="34114"/>
                  <a:pt x="3267075" y="76196"/>
                </a:cubicBezTo>
                <a:lnTo>
                  <a:pt x="3267075" y="952504"/>
                </a:lnTo>
                <a:cubicBezTo>
                  <a:pt x="3267075" y="994586"/>
                  <a:pt x="3232961" y="1028700"/>
                  <a:pt x="3190879" y="1028700"/>
                </a:cubicBezTo>
                <a:lnTo>
                  <a:pt x="38100" y="1028700"/>
                </a:lnTo>
                <a:cubicBezTo>
                  <a:pt x="17072" y="1028700"/>
                  <a:pt x="0" y="1011628"/>
                  <a:pt x="0" y="990600"/>
                </a:cubicBezTo>
                <a:lnTo>
                  <a:pt x="0" y="38100"/>
                </a:lnTo>
                <a:cubicBezTo>
                  <a:pt x="0" y="17072"/>
                  <a:pt x="17072" y="0"/>
                  <a:pt x="38100" y="0"/>
                </a:cubicBezTo>
                <a:close/>
              </a:path>
            </a:pathLst>
          </a:custGeom>
          <a:solidFill>
            <a:srgbClr val="2E5A4C">
              <a:alpha val="5098"/>
            </a:srgbClr>
          </a:solidFill>
          <a:ln/>
        </p:spPr>
      </p:sp>
      <p:sp>
        <p:nvSpPr>
          <p:cNvPr id="11" name="Shape 9"/>
          <p:cNvSpPr/>
          <p:nvPr/>
        </p:nvSpPr>
        <p:spPr>
          <a:xfrm>
            <a:off x="400050" y="3790831"/>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2E5A4C"/>
          </a:solidFill>
          <a:ln/>
        </p:spPr>
      </p:sp>
      <p:sp>
        <p:nvSpPr>
          <p:cNvPr id="12" name="Shape 10"/>
          <p:cNvSpPr/>
          <p:nvPr/>
        </p:nvSpPr>
        <p:spPr>
          <a:xfrm>
            <a:off x="595313" y="3981331"/>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2E5A4C"/>
          </a:solidFill>
          <a:ln/>
        </p:spPr>
      </p:sp>
      <p:sp>
        <p:nvSpPr>
          <p:cNvPr id="13" name="Text 11"/>
          <p:cNvSpPr/>
          <p:nvPr/>
        </p:nvSpPr>
        <p:spPr>
          <a:xfrm>
            <a:off x="885825" y="3943231"/>
            <a:ext cx="1476375" cy="266700"/>
          </a:xfrm>
          <a:prstGeom prst="rect">
            <a:avLst/>
          </a:prstGeom>
          <a:noFill/>
          <a:ln/>
        </p:spPr>
        <p:txBody>
          <a:bodyPr wrap="square" lIns="0" tIns="0" rIns="0" bIns="0" rtlCol="0" anchor="ctr"/>
          <a:lstStyle/>
          <a:p>
            <a:pPr>
              <a:lnSpc>
                <a:spcPct val="130000"/>
              </a:lnSpc>
            </a:pPr>
            <a:r>
              <a:rPr lang="en-US" sz="1350" b="1" dirty="0">
                <a:solidFill>
                  <a:srgbClr val="2E5A4C"/>
                </a:solidFill>
                <a:latin typeface="Liter" pitchFamily="34" charset="0"/>
                <a:ea typeface="Liter" pitchFamily="34" charset="-122"/>
                <a:cs typeface="Liter" pitchFamily="34" charset="-120"/>
              </a:rPr>
              <a:t>Spending Patterns</a:t>
            </a:r>
            <a:endParaRPr lang="en-US" sz="1600" dirty="0"/>
          </a:p>
        </p:txBody>
      </p:sp>
      <p:sp>
        <p:nvSpPr>
          <p:cNvPr id="14" name="Text 12"/>
          <p:cNvSpPr/>
          <p:nvPr/>
        </p:nvSpPr>
        <p:spPr>
          <a:xfrm>
            <a:off x="571500" y="4286131"/>
            <a:ext cx="3009900" cy="381000"/>
          </a:xfrm>
          <a:prstGeom prst="rect">
            <a:avLst/>
          </a:prstGeom>
          <a:noFill/>
          <a:ln/>
        </p:spPr>
        <p:txBody>
          <a:bodyPr wrap="square" lIns="0" tIns="0" rIns="0" bIns="0" rtlCol="0" anchor="ctr"/>
          <a:lstStyle/>
          <a:p>
            <a:pPr>
              <a:lnSpc>
                <a:spcPct val="120000"/>
              </a:lnSpc>
            </a:pPr>
            <a:r>
              <a:rPr lang="en-US" sz="1050" dirty="0">
                <a:solidFill>
                  <a:srgbClr val="2C3E50">
                    <a:alpha val="80000"/>
                  </a:srgbClr>
                </a:solidFill>
                <a:latin typeface="Quattrocento Sans" pitchFamily="34" charset="0"/>
                <a:ea typeface="Quattrocento Sans" pitchFamily="34" charset="-122"/>
                <a:cs typeface="Quattrocento Sans" pitchFamily="34" charset="-120"/>
              </a:rPr>
              <a:t>Analyze purchase amounts, frequency, and seasonal trends</a:t>
            </a:r>
            <a:endParaRPr lang="en-US" sz="1600" dirty="0"/>
          </a:p>
        </p:txBody>
      </p:sp>
      <p:sp>
        <p:nvSpPr>
          <p:cNvPr id="15" name="Shape 13"/>
          <p:cNvSpPr/>
          <p:nvPr/>
        </p:nvSpPr>
        <p:spPr>
          <a:xfrm>
            <a:off x="3836670" y="3790831"/>
            <a:ext cx="3267075" cy="1028700"/>
          </a:xfrm>
          <a:custGeom>
            <a:avLst/>
            <a:gdLst/>
            <a:ahLst/>
            <a:cxnLst/>
            <a:rect l="l" t="t" r="r" b="b"/>
            <a:pathLst>
              <a:path w="3267075" h="1028700">
                <a:moveTo>
                  <a:pt x="38100" y="0"/>
                </a:moveTo>
                <a:lnTo>
                  <a:pt x="3190879" y="0"/>
                </a:lnTo>
                <a:cubicBezTo>
                  <a:pt x="3232961" y="0"/>
                  <a:pt x="3267075" y="34114"/>
                  <a:pt x="3267075" y="76196"/>
                </a:cubicBezTo>
                <a:lnTo>
                  <a:pt x="3267075" y="952504"/>
                </a:lnTo>
                <a:cubicBezTo>
                  <a:pt x="3267075" y="994586"/>
                  <a:pt x="3232961" y="1028700"/>
                  <a:pt x="3190879" y="1028700"/>
                </a:cubicBezTo>
                <a:lnTo>
                  <a:pt x="38100" y="1028700"/>
                </a:lnTo>
                <a:cubicBezTo>
                  <a:pt x="17072" y="1028700"/>
                  <a:pt x="0" y="1011628"/>
                  <a:pt x="0" y="990600"/>
                </a:cubicBezTo>
                <a:lnTo>
                  <a:pt x="0" y="38100"/>
                </a:lnTo>
                <a:cubicBezTo>
                  <a:pt x="0" y="17072"/>
                  <a:pt x="17072" y="0"/>
                  <a:pt x="38100" y="0"/>
                </a:cubicBezTo>
                <a:close/>
              </a:path>
            </a:pathLst>
          </a:custGeom>
          <a:solidFill>
            <a:srgbClr val="D4A574">
              <a:alpha val="10196"/>
            </a:srgbClr>
          </a:solidFill>
          <a:ln/>
        </p:spPr>
      </p:sp>
      <p:sp>
        <p:nvSpPr>
          <p:cNvPr id="16" name="Shape 14"/>
          <p:cNvSpPr/>
          <p:nvPr/>
        </p:nvSpPr>
        <p:spPr>
          <a:xfrm>
            <a:off x="3836670" y="3790831"/>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D4A574"/>
          </a:solidFill>
          <a:ln/>
        </p:spPr>
      </p:sp>
      <p:sp>
        <p:nvSpPr>
          <p:cNvPr id="17" name="Shape 15"/>
          <p:cNvSpPr/>
          <p:nvPr/>
        </p:nvSpPr>
        <p:spPr>
          <a:xfrm>
            <a:off x="4008120" y="3981331"/>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D4A574"/>
          </a:solidFill>
          <a:ln/>
        </p:spPr>
      </p:sp>
      <p:sp>
        <p:nvSpPr>
          <p:cNvPr id="18" name="Text 16"/>
          <p:cNvSpPr/>
          <p:nvPr/>
        </p:nvSpPr>
        <p:spPr>
          <a:xfrm>
            <a:off x="4322445" y="3943231"/>
            <a:ext cx="1638300" cy="266700"/>
          </a:xfrm>
          <a:prstGeom prst="rect">
            <a:avLst/>
          </a:prstGeom>
          <a:noFill/>
          <a:ln/>
        </p:spPr>
        <p:txBody>
          <a:bodyPr wrap="square" lIns="0" tIns="0" rIns="0" bIns="0" rtlCol="0" anchor="ctr"/>
          <a:lstStyle/>
          <a:p>
            <a:pPr>
              <a:lnSpc>
                <a:spcPct val="130000"/>
              </a:lnSpc>
            </a:pPr>
            <a:r>
              <a:rPr lang="en-US" sz="1350" b="1" dirty="0">
                <a:solidFill>
                  <a:srgbClr val="2E5A4C"/>
                </a:solidFill>
                <a:latin typeface="Liter" pitchFamily="34" charset="0"/>
                <a:ea typeface="Liter" pitchFamily="34" charset="-122"/>
                <a:cs typeface="Liter" pitchFamily="34" charset="-120"/>
              </a:rPr>
              <a:t>Customer Segments</a:t>
            </a:r>
            <a:endParaRPr lang="en-US" sz="1600" dirty="0"/>
          </a:p>
        </p:txBody>
      </p:sp>
      <p:sp>
        <p:nvSpPr>
          <p:cNvPr id="19" name="Text 17"/>
          <p:cNvSpPr/>
          <p:nvPr/>
        </p:nvSpPr>
        <p:spPr>
          <a:xfrm>
            <a:off x="4008120" y="4286131"/>
            <a:ext cx="3009900" cy="381000"/>
          </a:xfrm>
          <a:prstGeom prst="rect">
            <a:avLst/>
          </a:prstGeom>
          <a:noFill/>
          <a:ln/>
        </p:spPr>
        <p:txBody>
          <a:bodyPr wrap="square" lIns="0" tIns="0" rIns="0" bIns="0" rtlCol="0" anchor="ctr"/>
          <a:lstStyle/>
          <a:p>
            <a:pPr>
              <a:lnSpc>
                <a:spcPct val="120000"/>
              </a:lnSpc>
            </a:pPr>
            <a:r>
              <a:rPr lang="en-US" sz="1050" dirty="0">
                <a:solidFill>
                  <a:srgbClr val="2C3E50">
                    <a:alpha val="80000"/>
                  </a:srgbClr>
                </a:solidFill>
                <a:latin typeface="Quattrocento Sans" pitchFamily="34" charset="0"/>
                <a:ea typeface="Quattrocento Sans" pitchFamily="34" charset="-122"/>
                <a:cs typeface="Quattrocento Sans" pitchFamily="34" charset="-120"/>
              </a:rPr>
              <a:t>Identify New, Returning, and Loyal customer groups</a:t>
            </a:r>
            <a:endParaRPr lang="en-US" sz="1600" dirty="0"/>
          </a:p>
        </p:txBody>
      </p:sp>
      <p:sp>
        <p:nvSpPr>
          <p:cNvPr id="20" name="Shape 18"/>
          <p:cNvSpPr/>
          <p:nvPr/>
        </p:nvSpPr>
        <p:spPr>
          <a:xfrm>
            <a:off x="400050" y="4971931"/>
            <a:ext cx="3267075" cy="1028700"/>
          </a:xfrm>
          <a:custGeom>
            <a:avLst/>
            <a:gdLst/>
            <a:ahLst/>
            <a:cxnLst/>
            <a:rect l="l" t="t" r="r" b="b"/>
            <a:pathLst>
              <a:path w="3267075" h="1028700">
                <a:moveTo>
                  <a:pt x="38100" y="0"/>
                </a:moveTo>
                <a:lnTo>
                  <a:pt x="3190879" y="0"/>
                </a:lnTo>
                <a:cubicBezTo>
                  <a:pt x="3232961" y="0"/>
                  <a:pt x="3267075" y="34114"/>
                  <a:pt x="3267075" y="76196"/>
                </a:cubicBezTo>
                <a:lnTo>
                  <a:pt x="3267075" y="952504"/>
                </a:lnTo>
                <a:cubicBezTo>
                  <a:pt x="3267075" y="994586"/>
                  <a:pt x="3232961" y="1028700"/>
                  <a:pt x="3190879" y="1028700"/>
                </a:cubicBezTo>
                <a:lnTo>
                  <a:pt x="38100" y="1028700"/>
                </a:lnTo>
                <a:cubicBezTo>
                  <a:pt x="17072" y="1028700"/>
                  <a:pt x="0" y="1011628"/>
                  <a:pt x="0" y="990600"/>
                </a:cubicBezTo>
                <a:lnTo>
                  <a:pt x="0" y="38100"/>
                </a:lnTo>
                <a:cubicBezTo>
                  <a:pt x="0" y="17072"/>
                  <a:pt x="17072" y="0"/>
                  <a:pt x="38100" y="0"/>
                </a:cubicBezTo>
                <a:close/>
              </a:path>
            </a:pathLst>
          </a:custGeom>
          <a:solidFill>
            <a:srgbClr val="C75B39">
              <a:alpha val="10196"/>
            </a:srgbClr>
          </a:solidFill>
          <a:ln/>
        </p:spPr>
      </p:sp>
      <p:sp>
        <p:nvSpPr>
          <p:cNvPr id="21" name="Shape 19"/>
          <p:cNvSpPr/>
          <p:nvPr/>
        </p:nvSpPr>
        <p:spPr>
          <a:xfrm>
            <a:off x="400050" y="4971931"/>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C75B39"/>
          </a:solidFill>
          <a:ln/>
        </p:spPr>
      </p:sp>
      <p:sp>
        <p:nvSpPr>
          <p:cNvPr id="22" name="Shape 20"/>
          <p:cNvSpPr/>
          <p:nvPr/>
        </p:nvSpPr>
        <p:spPr>
          <a:xfrm>
            <a:off x="607219" y="5162431"/>
            <a:ext cx="166688" cy="190500"/>
          </a:xfrm>
          <a:custGeom>
            <a:avLst/>
            <a:gdLst/>
            <a:ahLst/>
            <a:cxnLst/>
            <a:rect l="l" t="t" r="r" b="b"/>
            <a:pathLst>
              <a:path w="166688" h="190500">
                <a:moveTo>
                  <a:pt x="59531" y="29766"/>
                </a:moveTo>
                <a:cubicBezTo>
                  <a:pt x="59531" y="16632"/>
                  <a:pt x="70210" y="5953"/>
                  <a:pt x="83344" y="5953"/>
                </a:cubicBezTo>
                <a:cubicBezTo>
                  <a:pt x="96478" y="5953"/>
                  <a:pt x="107156" y="16632"/>
                  <a:pt x="107156" y="29766"/>
                </a:cubicBezTo>
                <a:lnTo>
                  <a:pt x="107156" y="47625"/>
                </a:lnTo>
                <a:lnTo>
                  <a:pt x="59531" y="47625"/>
                </a:lnTo>
                <a:lnTo>
                  <a:pt x="59531" y="29766"/>
                </a:lnTo>
                <a:close/>
                <a:moveTo>
                  <a:pt x="41672" y="47625"/>
                </a:moveTo>
                <a:lnTo>
                  <a:pt x="17859" y="47625"/>
                </a:lnTo>
                <a:cubicBezTo>
                  <a:pt x="8000" y="47625"/>
                  <a:pt x="0" y="55625"/>
                  <a:pt x="0" y="65484"/>
                </a:cubicBezTo>
                <a:lnTo>
                  <a:pt x="0" y="142875"/>
                </a:lnTo>
                <a:cubicBezTo>
                  <a:pt x="0" y="162595"/>
                  <a:pt x="15999" y="178594"/>
                  <a:pt x="35719" y="178594"/>
                </a:cubicBezTo>
                <a:lnTo>
                  <a:pt x="130969" y="178594"/>
                </a:lnTo>
                <a:cubicBezTo>
                  <a:pt x="150688" y="178594"/>
                  <a:pt x="166688" y="162595"/>
                  <a:pt x="166688" y="142875"/>
                </a:cubicBezTo>
                <a:lnTo>
                  <a:pt x="166688" y="65484"/>
                </a:lnTo>
                <a:cubicBezTo>
                  <a:pt x="166688" y="55625"/>
                  <a:pt x="158688" y="47625"/>
                  <a:pt x="148828" y="47625"/>
                </a:cubicBezTo>
                <a:lnTo>
                  <a:pt x="125016" y="47625"/>
                </a:lnTo>
                <a:lnTo>
                  <a:pt x="125016" y="29766"/>
                </a:lnTo>
                <a:cubicBezTo>
                  <a:pt x="125016" y="6734"/>
                  <a:pt x="106375" y="-11906"/>
                  <a:pt x="83344" y="-11906"/>
                </a:cubicBezTo>
                <a:cubicBezTo>
                  <a:pt x="60313" y="-11906"/>
                  <a:pt x="41672" y="6734"/>
                  <a:pt x="41672" y="29766"/>
                </a:cubicBezTo>
                <a:lnTo>
                  <a:pt x="41672" y="47625"/>
                </a:lnTo>
                <a:close/>
                <a:moveTo>
                  <a:pt x="50602" y="65484"/>
                </a:moveTo>
                <a:cubicBezTo>
                  <a:pt x="55530" y="65484"/>
                  <a:pt x="59531" y="69486"/>
                  <a:pt x="59531" y="74414"/>
                </a:cubicBezTo>
                <a:cubicBezTo>
                  <a:pt x="59531" y="79342"/>
                  <a:pt x="55530" y="83344"/>
                  <a:pt x="50602" y="83344"/>
                </a:cubicBezTo>
                <a:cubicBezTo>
                  <a:pt x="45673" y="83344"/>
                  <a:pt x="41672" y="79342"/>
                  <a:pt x="41672" y="74414"/>
                </a:cubicBezTo>
                <a:cubicBezTo>
                  <a:pt x="41672" y="69486"/>
                  <a:pt x="45673" y="65484"/>
                  <a:pt x="50602" y="65484"/>
                </a:cubicBezTo>
                <a:close/>
                <a:moveTo>
                  <a:pt x="107156" y="74414"/>
                </a:moveTo>
                <a:cubicBezTo>
                  <a:pt x="107156" y="69486"/>
                  <a:pt x="111158" y="65484"/>
                  <a:pt x="116086" y="65484"/>
                </a:cubicBezTo>
                <a:cubicBezTo>
                  <a:pt x="121014" y="65484"/>
                  <a:pt x="125016" y="69486"/>
                  <a:pt x="125016" y="74414"/>
                </a:cubicBezTo>
                <a:cubicBezTo>
                  <a:pt x="125016" y="79342"/>
                  <a:pt x="121014" y="83344"/>
                  <a:pt x="116086" y="83344"/>
                </a:cubicBezTo>
                <a:cubicBezTo>
                  <a:pt x="111158" y="83344"/>
                  <a:pt x="107156" y="79342"/>
                  <a:pt x="107156" y="74414"/>
                </a:cubicBezTo>
                <a:close/>
              </a:path>
            </a:pathLst>
          </a:custGeom>
          <a:solidFill>
            <a:srgbClr val="C75B39"/>
          </a:solidFill>
          <a:ln/>
        </p:spPr>
      </p:sp>
      <p:sp>
        <p:nvSpPr>
          <p:cNvPr id="23" name="Text 21"/>
          <p:cNvSpPr/>
          <p:nvPr/>
        </p:nvSpPr>
        <p:spPr>
          <a:xfrm>
            <a:off x="885825" y="5124331"/>
            <a:ext cx="1638300" cy="266700"/>
          </a:xfrm>
          <a:prstGeom prst="rect">
            <a:avLst/>
          </a:prstGeom>
          <a:noFill/>
          <a:ln/>
        </p:spPr>
        <p:txBody>
          <a:bodyPr wrap="square" lIns="0" tIns="0" rIns="0" bIns="0" rtlCol="0" anchor="ctr"/>
          <a:lstStyle/>
          <a:p>
            <a:pPr>
              <a:lnSpc>
                <a:spcPct val="130000"/>
              </a:lnSpc>
            </a:pPr>
            <a:r>
              <a:rPr lang="en-US" sz="1350" b="1" dirty="0">
                <a:solidFill>
                  <a:srgbClr val="2E5A4C"/>
                </a:solidFill>
                <a:latin typeface="Liter" pitchFamily="34" charset="0"/>
                <a:ea typeface="Liter" pitchFamily="34" charset="-122"/>
                <a:cs typeface="Liter" pitchFamily="34" charset="-120"/>
              </a:rPr>
              <a:t>Product Preferences</a:t>
            </a:r>
            <a:endParaRPr lang="en-US" sz="1600" dirty="0"/>
          </a:p>
        </p:txBody>
      </p:sp>
      <p:sp>
        <p:nvSpPr>
          <p:cNvPr id="24" name="Text 22"/>
          <p:cNvSpPr/>
          <p:nvPr/>
        </p:nvSpPr>
        <p:spPr>
          <a:xfrm>
            <a:off x="571500" y="5467231"/>
            <a:ext cx="3009900" cy="381000"/>
          </a:xfrm>
          <a:prstGeom prst="rect">
            <a:avLst/>
          </a:prstGeom>
          <a:noFill/>
          <a:ln/>
        </p:spPr>
        <p:txBody>
          <a:bodyPr wrap="square" lIns="0" tIns="0" rIns="0" bIns="0" rtlCol="0" anchor="ctr"/>
          <a:lstStyle/>
          <a:p>
            <a:pPr>
              <a:lnSpc>
                <a:spcPct val="120000"/>
              </a:lnSpc>
            </a:pPr>
            <a:r>
              <a:rPr lang="en-US" sz="1050" dirty="0">
                <a:solidFill>
                  <a:srgbClr val="2C3E50">
                    <a:alpha val="80000"/>
                  </a:srgbClr>
                </a:solidFill>
                <a:latin typeface="Quattrocento Sans" pitchFamily="34" charset="0"/>
                <a:ea typeface="Quattrocento Sans" pitchFamily="34" charset="-122"/>
                <a:cs typeface="Quattrocento Sans" pitchFamily="34" charset="-120"/>
              </a:rPr>
              <a:t>Discover top-rated and best-selling products by category</a:t>
            </a:r>
            <a:endParaRPr lang="en-US" sz="1600" dirty="0"/>
          </a:p>
        </p:txBody>
      </p:sp>
      <p:sp>
        <p:nvSpPr>
          <p:cNvPr id="25" name="Shape 23"/>
          <p:cNvSpPr/>
          <p:nvPr/>
        </p:nvSpPr>
        <p:spPr>
          <a:xfrm>
            <a:off x="3836670" y="4971931"/>
            <a:ext cx="3267075" cy="1028700"/>
          </a:xfrm>
          <a:custGeom>
            <a:avLst/>
            <a:gdLst/>
            <a:ahLst/>
            <a:cxnLst/>
            <a:rect l="l" t="t" r="r" b="b"/>
            <a:pathLst>
              <a:path w="3267075" h="1028700">
                <a:moveTo>
                  <a:pt x="38100" y="0"/>
                </a:moveTo>
                <a:lnTo>
                  <a:pt x="3190879" y="0"/>
                </a:lnTo>
                <a:cubicBezTo>
                  <a:pt x="3232961" y="0"/>
                  <a:pt x="3267075" y="34114"/>
                  <a:pt x="3267075" y="76196"/>
                </a:cubicBezTo>
                <a:lnTo>
                  <a:pt x="3267075" y="952504"/>
                </a:lnTo>
                <a:cubicBezTo>
                  <a:pt x="3267075" y="994586"/>
                  <a:pt x="3232961" y="1028700"/>
                  <a:pt x="3190879" y="1028700"/>
                </a:cubicBezTo>
                <a:lnTo>
                  <a:pt x="38100" y="1028700"/>
                </a:lnTo>
                <a:cubicBezTo>
                  <a:pt x="17072" y="1028700"/>
                  <a:pt x="0" y="1011628"/>
                  <a:pt x="0" y="990600"/>
                </a:cubicBezTo>
                <a:lnTo>
                  <a:pt x="0" y="38100"/>
                </a:lnTo>
                <a:cubicBezTo>
                  <a:pt x="0" y="17072"/>
                  <a:pt x="17072" y="0"/>
                  <a:pt x="38100" y="0"/>
                </a:cubicBezTo>
                <a:close/>
              </a:path>
            </a:pathLst>
          </a:custGeom>
          <a:solidFill>
            <a:srgbClr val="2E5A4C">
              <a:alpha val="5098"/>
            </a:srgbClr>
          </a:solidFill>
          <a:ln/>
        </p:spPr>
      </p:sp>
      <p:sp>
        <p:nvSpPr>
          <p:cNvPr id="26" name="Shape 24"/>
          <p:cNvSpPr/>
          <p:nvPr/>
        </p:nvSpPr>
        <p:spPr>
          <a:xfrm>
            <a:off x="3836670" y="4971931"/>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2E5A4C"/>
          </a:solidFill>
          <a:ln/>
        </p:spPr>
      </p:sp>
      <p:sp>
        <p:nvSpPr>
          <p:cNvPr id="27" name="Shape 25"/>
          <p:cNvSpPr/>
          <p:nvPr/>
        </p:nvSpPr>
        <p:spPr>
          <a:xfrm>
            <a:off x="4020026" y="5162431"/>
            <a:ext cx="214313" cy="190500"/>
          </a:xfrm>
          <a:custGeom>
            <a:avLst/>
            <a:gdLst/>
            <a:ahLst/>
            <a:cxnLst/>
            <a:rect l="l" t="t" r="r" b="b"/>
            <a:pathLst>
              <a:path w="214313" h="190500">
                <a:moveTo>
                  <a:pt x="116458" y="32445"/>
                </a:moveTo>
                <a:cubicBezTo>
                  <a:pt x="119881" y="29728"/>
                  <a:pt x="122039" y="25524"/>
                  <a:pt x="122039" y="20836"/>
                </a:cubicBezTo>
                <a:cubicBezTo>
                  <a:pt x="122039" y="12613"/>
                  <a:pt x="115379" y="5953"/>
                  <a:pt x="107156" y="5953"/>
                </a:cubicBezTo>
                <a:cubicBezTo>
                  <a:pt x="98933" y="5953"/>
                  <a:pt x="92273" y="12613"/>
                  <a:pt x="92273" y="20836"/>
                </a:cubicBezTo>
                <a:cubicBezTo>
                  <a:pt x="92273" y="25524"/>
                  <a:pt x="94469" y="29728"/>
                  <a:pt x="97854" y="32445"/>
                </a:cubicBezTo>
                <a:lnTo>
                  <a:pt x="72405" y="72479"/>
                </a:lnTo>
                <a:cubicBezTo>
                  <a:pt x="68684" y="78321"/>
                  <a:pt x="60759" y="79772"/>
                  <a:pt x="55215" y="75605"/>
                </a:cubicBezTo>
                <a:lnTo>
                  <a:pt x="33077" y="59048"/>
                </a:lnTo>
                <a:cubicBezTo>
                  <a:pt x="34751" y="56666"/>
                  <a:pt x="35719" y="53727"/>
                  <a:pt x="35719" y="50602"/>
                </a:cubicBezTo>
                <a:cubicBezTo>
                  <a:pt x="35719" y="42379"/>
                  <a:pt x="29059" y="35719"/>
                  <a:pt x="20836" y="35719"/>
                </a:cubicBezTo>
                <a:cubicBezTo>
                  <a:pt x="12613" y="35719"/>
                  <a:pt x="5953" y="42379"/>
                  <a:pt x="5953" y="50602"/>
                </a:cubicBezTo>
                <a:cubicBezTo>
                  <a:pt x="5953" y="58713"/>
                  <a:pt x="12464" y="65336"/>
                  <a:pt x="20538" y="65484"/>
                </a:cubicBezTo>
                <a:lnTo>
                  <a:pt x="32668" y="146410"/>
                </a:lnTo>
                <a:cubicBezTo>
                  <a:pt x="34417" y="158055"/>
                  <a:pt x="44425" y="166688"/>
                  <a:pt x="56220" y="166688"/>
                </a:cubicBezTo>
                <a:lnTo>
                  <a:pt x="158093" y="166688"/>
                </a:lnTo>
                <a:cubicBezTo>
                  <a:pt x="169887" y="166688"/>
                  <a:pt x="179896" y="158055"/>
                  <a:pt x="181645" y="146410"/>
                </a:cubicBezTo>
                <a:lnTo>
                  <a:pt x="193774" y="65484"/>
                </a:lnTo>
                <a:cubicBezTo>
                  <a:pt x="201848" y="65336"/>
                  <a:pt x="208359" y="58713"/>
                  <a:pt x="208359" y="50602"/>
                </a:cubicBezTo>
                <a:cubicBezTo>
                  <a:pt x="208359" y="42379"/>
                  <a:pt x="201699" y="35719"/>
                  <a:pt x="193477" y="35719"/>
                </a:cubicBezTo>
                <a:cubicBezTo>
                  <a:pt x="185254" y="35719"/>
                  <a:pt x="178594" y="42379"/>
                  <a:pt x="178594" y="50602"/>
                </a:cubicBezTo>
                <a:cubicBezTo>
                  <a:pt x="178594" y="53727"/>
                  <a:pt x="179561" y="56666"/>
                  <a:pt x="181235" y="59048"/>
                </a:cubicBezTo>
                <a:lnTo>
                  <a:pt x="159134" y="75642"/>
                </a:lnTo>
                <a:cubicBezTo>
                  <a:pt x="153591" y="79809"/>
                  <a:pt x="145666" y="78358"/>
                  <a:pt x="141945" y="72517"/>
                </a:cubicBezTo>
                <a:lnTo>
                  <a:pt x="116458" y="32445"/>
                </a:lnTo>
                <a:close/>
              </a:path>
            </a:pathLst>
          </a:custGeom>
          <a:solidFill>
            <a:srgbClr val="2E5A4C"/>
          </a:solidFill>
          <a:ln/>
        </p:spPr>
      </p:sp>
      <p:sp>
        <p:nvSpPr>
          <p:cNvPr id="28" name="Text 26"/>
          <p:cNvSpPr/>
          <p:nvPr/>
        </p:nvSpPr>
        <p:spPr>
          <a:xfrm>
            <a:off x="4322445" y="5124331"/>
            <a:ext cx="1743075" cy="266700"/>
          </a:xfrm>
          <a:prstGeom prst="rect">
            <a:avLst/>
          </a:prstGeom>
          <a:noFill/>
          <a:ln/>
        </p:spPr>
        <p:txBody>
          <a:bodyPr wrap="square" lIns="0" tIns="0" rIns="0" bIns="0" rtlCol="0" anchor="ctr"/>
          <a:lstStyle/>
          <a:p>
            <a:pPr>
              <a:lnSpc>
                <a:spcPct val="130000"/>
              </a:lnSpc>
            </a:pPr>
            <a:r>
              <a:rPr lang="en-US" sz="1350" b="1" dirty="0">
                <a:solidFill>
                  <a:srgbClr val="2E5A4C"/>
                </a:solidFill>
                <a:latin typeface="Liter" pitchFamily="34" charset="0"/>
                <a:ea typeface="Liter" pitchFamily="34" charset="-122"/>
                <a:cs typeface="Liter" pitchFamily="34" charset="-120"/>
              </a:rPr>
              <a:t>Subscription Behavior</a:t>
            </a:r>
            <a:endParaRPr lang="en-US" sz="1600" dirty="0"/>
          </a:p>
        </p:txBody>
      </p:sp>
      <p:sp>
        <p:nvSpPr>
          <p:cNvPr id="29" name="Text 27"/>
          <p:cNvSpPr/>
          <p:nvPr/>
        </p:nvSpPr>
        <p:spPr>
          <a:xfrm>
            <a:off x="4008120" y="5467231"/>
            <a:ext cx="3009900" cy="381000"/>
          </a:xfrm>
          <a:prstGeom prst="rect">
            <a:avLst/>
          </a:prstGeom>
          <a:noFill/>
          <a:ln/>
        </p:spPr>
        <p:txBody>
          <a:bodyPr wrap="square" lIns="0" tIns="0" rIns="0" bIns="0" rtlCol="0" anchor="ctr"/>
          <a:lstStyle/>
          <a:p>
            <a:pPr>
              <a:lnSpc>
                <a:spcPct val="120000"/>
              </a:lnSpc>
            </a:pPr>
            <a:r>
              <a:rPr lang="en-US" sz="1050" dirty="0">
                <a:solidFill>
                  <a:srgbClr val="2C3E50">
                    <a:alpha val="80000"/>
                  </a:srgbClr>
                </a:solidFill>
                <a:latin typeface="Quattrocento Sans" pitchFamily="34" charset="0"/>
                <a:ea typeface="Quattrocento Sans" pitchFamily="34" charset="-122"/>
                <a:cs typeface="Quattrocento Sans" pitchFamily="34" charset="-120"/>
              </a:rPr>
              <a:t>Compare subscriber vs. non-subscriber value and loyalty</a:t>
            </a:r>
            <a:endParaRPr lang="en-US" sz="1600" dirty="0"/>
          </a:p>
        </p:txBody>
      </p:sp>
      <p:sp>
        <p:nvSpPr>
          <p:cNvPr id="30" name="Shape 28"/>
          <p:cNvSpPr/>
          <p:nvPr/>
        </p:nvSpPr>
        <p:spPr>
          <a:xfrm>
            <a:off x="7330440" y="1295400"/>
            <a:ext cx="4476750" cy="3838575"/>
          </a:xfrm>
          <a:custGeom>
            <a:avLst/>
            <a:gdLst/>
            <a:ahLst/>
            <a:cxnLst/>
            <a:rect l="l" t="t" r="r" b="b"/>
            <a:pathLst>
              <a:path w="4476750" h="3838575">
                <a:moveTo>
                  <a:pt x="114313" y="0"/>
                </a:moveTo>
                <a:lnTo>
                  <a:pt x="4362437" y="0"/>
                </a:lnTo>
                <a:cubicBezTo>
                  <a:pt x="4425570" y="0"/>
                  <a:pt x="4476750" y="51180"/>
                  <a:pt x="4476750" y="114313"/>
                </a:cubicBezTo>
                <a:lnTo>
                  <a:pt x="4476750" y="3724262"/>
                </a:lnTo>
                <a:cubicBezTo>
                  <a:pt x="4476750" y="3787395"/>
                  <a:pt x="4425570" y="3838575"/>
                  <a:pt x="4362437" y="3838575"/>
                </a:cubicBezTo>
                <a:lnTo>
                  <a:pt x="114313" y="3838575"/>
                </a:lnTo>
                <a:cubicBezTo>
                  <a:pt x="51180" y="3838575"/>
                  <a:pt x="0" y="3787395"/>
                  <a:pt x="0" y="3724262"/>
                </a:cubicBezTo>
                <a:lnTo>
                  <a:pt x="0" y="114313"/>
                </a:lnTo>
                <a:cubicBezTo>
                  <a:pt x="0" y="51180"/>
                  <a:pt x="51180" y="0"/>
                  <a:pt x="114313" y="0"/>
                </a:cubicBezTo>
                <a:close/>
              </a:path>
            </a:pathLst>
          </a:custGeom>
          <a:gradFill rotWithShape="1" flip="none">
            <a:gsLst>
              <a:gs pos="0">
                <a:srgbClr val="2E5A4C"/>
              </a:gs>
              <a:gs pos="100000">
                <a:srgbClr val="2E5A4C">
                  <a:alpha val="80000"/>
                </a:srgbClr>
              </a:gs>
            </a:gsLst>
            <a:lin ang="2700000" scaled="1"/>
          </a:gradFill>
          <a:ln/>
          <a:effectLst>
            <a:outerShdw sx="100000" sy="100000" kx="0" ky="0" algn="bl" rotWithShape="0" blurRad="142875" dist="95250" dir="5400000">
              <a:srgbClr val="000000">
                <a:alpha val="10196"/>
              </a:srgbClr>
            </a:outerShdw>
          </a:effectLst>
        </p:spPr>
      </p:sp>
      <p:sp>
        <p:nvSpPr>
          <p:cNvPr id="31" name="Shape 29"/>
          <p:cNvSpPr/>
          <p:nvPr/>
        </p:nvSpPr>
        <p:spPr>
          <a:xfrm>
            <a:off x="9370695" y="1650326"/>
            <a:ext cx="400050" cy="457200"/>
          </a:xfrm>
          <a:custGeom>
            <a:avLst/>
            <a:gdLst/>
            <a:ahLst/>
            <a:cxnLst/>
            <a:rect l="l" t="t" r="r" b="b"/>
            <a:pathLst>
              <a:path w="400050" h="457200">
                <a:moveTo>
                  <a:pt x="400050" y="183773"/>
                </a:moveTo>
                <a:cubicBezTo>
                  <a:pt x="386834" y="192524"/>
                  <a:pt x="371654" y="199579"/>
                  <a:pt x="355848" y="205204"/>
                </a:cubicBezTo>
                <a:cubicBezTo>
                  <a:pt x="313879" y="220206"/>
                  <a:pt x="258782" y="228600"/>
                  <a:pt x="200025" y="228600"/>
                </a:cubicBezTo>
                <a:cubicBezTo>
                  <a:pt x="141268" y="228600"/>
                  <a:pt x="86082" y="220117"/>
                  <a:pt x="44202" y="205204"/>
                </a:cubicBezTo>
                <a:cubicBezTo>
                  <a:pt x="28486" y="199579"/>
                  <a:pt x="13216" y="192524"/>
                  <a:pt x="0" y="183773"/>
                </a:cubicBezTo>
                <a:lnTo>
                  <a:pt x="0" y="257175"/>
                </a:lnTo>
                <a:cubicBezTo>
                  <a:pt x="0" y="296644"/>
                  <a:pt x="89565" y="328613"/>
                  <a:pt x="200025" y="328613"/>
                </a:cubicBezTo>
                <a:cubicBezTo>
                  <a:pt x="310485" y="328613"/>
                  <a:pt x="400050" y="296644"/>
                  <a:pt x="400050" y="257175"/>
                </a:cubicBezTo>
                <a:lnTo>
                  <a:pt x="400050" y="183773"/>
                </a:lnTo>
                <a:close/>
                <a:moveTo>
                  <a:pt x="400050" y="114300"/>
                </a:moveTo>
                <a:lnTo>
                  <a:pt x="400050" y="71438"/>
                </a:lnTo>
                <a:cubicBezTo>
                  <a:pt x="400050" y="31968"/>
                  <a:pt x="310485" y="0"/>
                  <a:pt x="200025" y="0"/>
                </a:cubicBezTo>
                <a:cubicBezTo>
                  <a:pt x="89565" y="0"/>
                  <a:pt x="0" y="31968"/>
                  <a:pt x="0" y="71438"/>
                </a:cubicBezTo>
                <a:lnTo>
                  <a:pt x="0" y="114300"/>
                </a:lnTo>
                <a:cubicBezTo>
                  <a:pt x="0" y="153769"/>
                  <a:pt x="89565" y="185738"/>
                  <a:pt x="200025" y="185738"/>
                </a:cubicBezTo>
                <a:cubicBezTo>
                  <a:pt x="310485" y="185738"/>
                  <a:pt x="400050" y="153769"/>
                  <a:pt x="400050" y="114300"/>
                </a:cubicBezTo>
                <a:close/>
                <a:moveTo>
                  <a:pt x="355848" y="348079"/>
                </a:moveTo>
                <a:cubicBezTo>
                  <a:pt x="313968" y="362992"/>
                  <a:pt x="258872" y="371475"/>
                  <a:pt x="200025" y="371475"/>
                </a:cubicBezTo>
                <a:cubicBezTo>
                  <a:pt x="141178" y="371475"/>
                  <a:pt x="86082" y="362992"/>
                  <a:pt x="44202" y="348079"/>
                </a:cubicBezTo>
                <a:cubicBezTo>
                  <a:pt x="28486" y="342454"/>
                  <a:pt x="13216" y="335399"/>
                  <a:pt x="0" y="326648"/>
                </a:cubicBezTo>
                <a:lnTo>
                  <a:pt x="0" y="385763"/>
                </a:lnTo>
                <a:cubicBezTo>
                  <a:pt x="0" y="425232"/>
                  <a:pt x="89565" y="457200"/>
                  <a:pt x="200025" y="457200"/>
                </a:cubicBezTo>
                <a:cubicBezTo>
                  <a:pt x="310485" y="457200"/>
                  <a:pt x="400050" y="425232"/>
                  <a:pt x="400050" y="385763"/>
                </a:cubicBezTo>
                <a:lnTo>
                  <a:pt x="400050" y="326648"/>
                </a:lnTo>
                <a:cubicBezTo>
                  <a:pt x="386834" y="335399"/>
                  <a:pt x="371654" y="342454"/>
                  <a:pt x="355848" y="348079"/>
                </a:cubicBezTo>
                <a:close/>
              </a:path>
            </a:pathLst>
          </a:custGeom>
          <a:solidFill>
            <a:srgbClr val="D4A574"/>
          </a:solidFill>
          <a:ln/>
        </p:spPr>
      </p:sp>
      <p:sp>
        <p:nvSpPr>
          <p:cNvPr id="32" name="Text 30"/>
          <p:cNvSpPr/>
          <p:nvPr/>
        </p:nvSpPr>
        <p:spPr>
          <a:xfrm>
            <a:off x="7501890" y="2221826"/>
            <a:ext cx="4133850" cy="3048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Oranienbaum" pitchFamily="34" charset="0"/>
                <a:ea typeface="Oranienbaum" pitchFamily="34" charset="-122"/>
                <a:cs typeface="Oranienbaum" pitchFamily="34" charset="-120"/>
              </a:rPr>
              <a:t>Data Scale</a:t>
            </a:r>
            <a:endParaRPr lang="en-US" sz="1600" dirty="0"/>
          </a:p>
        </p:txBody>
      </p:sp>
      <p:sp>
        <p:nvSpPr>
          <p:cNvPr id="33" name="Shape 31"/>
          <p:cNvSpPr/>
          <p:nvPr/>
        </p:nvSpPr>
        <p:spPr>
          <a:xfrm>
            <a:off x="7559040" y="2755106"/>
            <a:ext cx="4019550" cy="533400"/>
          </a:xfrm>
          <a:custGeom>
            <a:avLst/>
            <a:gdLst/>
            <a:ahLst/>
            <a:cxnLst/>
            <a:rect l="l" t="t" r="r" b="b"/>
            <a:pathLst>
              <a:path w="4019550" h="533400">
                <a:moveTo>
                  <a:pt x="76202" y="0"/>
                </a:moveTo>
                <a:lnTo>
                  <a:pt x="3943348" y="0"/>
                </a:lnTo>
                <a:cubicBezTo>
                  <a:pt x="3985433" y="0"/>
                  <a:pt x="4019550" y="34117"/>
                  <a:pt x="4019550" y="76202"/>
                </a:cubicBezTo>
                <a:lnTo>
                  <a:pt x="4019550" y="457198"/>
                </a:lnTo>
                <a:cubicBezTo>
                  <a:pt x="4019550" y="499283"/>
                  <a:pt x="3985433" y="533400"/>
                  <a:pt x="3943348" y="533400"/>
                </a:cubicBezTo>
                <a:lnTo>
                  <a:pt x="76202" y="533400"/>
                </a:lnTo>
                <a:cubicBezTo>
                  <a:pt x="34117" y="533400"/>
                  <a:pt x="0" y="499283"/>
                  <a:pt x="0" y="457198"/>
                </a:cubicBezTo>
                <a:lnTo>
                  <a:pt x="0" y="76202"/>
                </a:lnTo>
                <a:cubicBezTo>
                  <a:pt x="0" y="34145"/>
                  <a:pt x="34145" y="0"/>
                  <a:pt x="76202" y="0"/>
                </a:cubicBezTo>
                <a:close/>
              </a:path>
            </a:pathLst>
          </a:custGeom>
          <a:solidFill>
            <a:srgbClr val="FFFFFF">
              <a:alpha val="10196"/>
            </a:srgbClr>
          </a:solidFill>
          <a:ln/>
        </p:spPr>
      </p:sp>
      <p:sp>
        <p:nvSpPr>
          <p:cNvPr id="34" name="Text 32"/>
          <p:cNvSpPr/>
          <p:nvPr/>
        </p:nvSpPr>
        <p:spPr>
          <a:xfrm>
            <a:off x="7673340" y="2926438"/>
            <a:ext cx="11525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Total Transactions</a:t>
            </a:r>
            <a:endParaRPr lang="en-US" sz="1600" dirty="0"/>
          </a:p>
        </p:txBody>
      </p:sp>
      <p:sp>
        <p:nvSpPr>
          <p:cNvPr id="35" name="Text 33"/>
          <p:cNvSpPr/>
          <p:nvPr/>
        </p:nvSpPr>
        <p:spPr>
          <a:xfrm>
            <a:off x="10963990" y="2869406"/>
            <a:ext cx="619125" cy="304800"/>
          </a:xfrm>
          <a:prstGeom prst="rect">
            <a:avLst/>
          </a:prstGeom>
          <a:noFill/>
          <a:ln/>
        </p:spPr>
        <p:txBody>
          <a:bodyPr wrap="square" lIns="0" tIns="0" rIns="0" bIns="0" rtlCol="0" anchor="ctr"/>
          <a:lstStyle/>
          <a:p>
            <a:pPr>
              <a:lnSpc>
                <a:spcPct val="110000"/>
              </a:lnSpc>
            </a:pPr>
            <a:r>
              <a:rPr lang="en-US" sz="1800" b="1" dirty="0">
                <a:solidFill>
                  <a:srgbClr val="D4A574"/>
                </a:solidFill>
                <a:latin typeface="Oranienbaum" pitchFamily="34" charset="0"/>
                <a:ea typeface="Oranienbaum" pitchFamily="34" charset="-122"/>
                <a:cs typeface="Oranienbaum" pitchFamily="34" charset="-120"/>
              </a:rPr>
              <a:t>3,900</a:t>
            </a:r>
            <a:endParaRPr lang="en-US" sz="1600" dirty="0"/>
          </a:p>
        </p:txBody>
      </p:sp>
      <p:sp>
        <p:nvSpPr>
          <p:cNvPr id="36" name="Shape 34"/>
          <p:cNvSpPr/>
          <p:nvPr/>
        </p:nvSpPr>
        <p:spPr>
          <a:xfrm>
            <a:off x="7559040" y="3440788"/>
            <a:ext cx="4019550" cy="533400"/>
          </a:xfrm>
          <a:custGeom>
            <a:avLst/>
            <a:gdLst/>
            <a:ahLst/>
            <a:cxnLst/>
            <a:rect l="l" t="t" r="r" b="b"/>
            <a:pathLst>
              <a:path w="4019550" h="533400">
                <a:moveTo>
                  <a:pt x="76202" y="0"/>
                </a:moveTo>
                <a:lnTo>
                  <a:pt x="3943348" y="0"/>
                </a:lnTo>
                <a:cubicBezTo>
                  <a:pt x="3985433" y="0"/>
                  <a:pt x="4019550" y="34117"/>
                  <a:pt x="4019550" y="76202"/>
                </a:cubicBezTo>
                <a:lnTo>
                  <a:pt x="4019550" y="457198"/>
                </a:lnTo>
                <a:cubicBezTo>
                  <a:pt x="4019550" y="499283"/>
                  <a:pt x="3985433" y="533400"/>
                  <a:pt x="3943348" y="533400"/>
                </a:cubicBezTo>
                <a:lnTo>
                  <a:pt x="76202" y="533400"/>
                </a:lnTo>
                <a:cubicBezTo>
                  <a:pt x="34117" y="533400"/>
                  <a:pt x="0" y="499283"/>
                  <a:pt x="0" y="457198"/>
                </a:cubicBezTo>
                <a:lnTo>
                  <a:pt x="0" y="76202"/>
                </a:lnTo>
                <a:cubicBezTo>
                  <a:pt x="0" y="34145"/>
                  <a:pt x="34145" y="0"/>
                  <a:pt x="76202" y="0"/>
                </a:cubicBezTo>
                <a:close/>
              </a:path>
            </a:pathLst>
          </a:custGeom>
          <a:solidFill>
            <a:srgbClr val="FFFFFF">
              <a:alpha val="10196"/>
            </a:srgbClr>
          </a:solidFill>
          <a:ln/>
        </p:spPr>
      </p:sp>
      <p:sp>
        <p:nvSpPr>
          <p:cNvPr id="37" name="Text 35"/>
          <p:cNvSpPr/>
          <p:nvPr/>
        </p:nvSpPr>
        <p:spPr>
          <a:xfrm>
            <a:off x="7673340" y="3612118"/>
            <a:ext cx="885825"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Data Features</a:t>
            </a:r>
            <a:endParaRPr lang="en-US" sz="1600" dirty="0"/>
          </a:p>
        </p:txBody>
      </p:sp>
      <p:sp>
        <p:nvSpPr>
          <p:cNvPr id="38" name="Text 36"/>
          <p:cNvSpPr/>
          <p:nvPr/>
        </p:nvSpPr>
        <p:spPr>
          <a:xfrm>
            <a:off x="11285220" y="3555088"/>
            <a:ext cx="295275" cy="304800"/>
          </a:xfrm>
          <a:prstGeom prst="rect">
            <a:avLst/>
          </a:prstGeom>
          <a:noFill/>
          <a:ln/>
        </p:spPr>
        <p:txBody>
          <a:bodyPr wrap="square" lIns="0" tIns="0" rIns="0" bIns="0" rtlCol="0" anchor="ctr"/>
          <a:lstStyle/>
          <a:p>
            <a:pPr>
              <a:lnSpc>
                <a:spcPct val="110000"/>
              </a:lnSpc>
            </a:pPr>
            <a:r>
              <a:rPr lang="en-US" sz="1800" b="1" dirty="0">
                <a:solidFill>
                  <a:srgbClr val="D4A574"/>
                </a:solidFill>
                <a:latin typeface="Oranienbaum" pitchFamily="34" charset="0"/>
                <a:ea typeface="Oranienbaum" pitchFamily="34" charset="-122"/>
                <a:cs typeface="Oranienbaum" pitchFamily="34" charset="-120"/>
              </a:rPr>
              <a:t>18</a:t>
            </a:r>
            <a:endParaRPr lang="en-US" sz="1600" dirty="0"/>
          </a:p>
        </p:txBody>
      </p:sp>
      <p:sp>
        <p:nvSpPr>
          <p:cNvPr id="39" name="Shape 37"/>
          <p:cNvSpPr/>
          <p:nvPr/>
        </p:nvSpPr>
        <p:spPr>
          <a:xfrm>
            <a:off x="7559040" y="4126468"/>
            <a:ext cx="4019550" cy="647700"/>
          </a:xfrm>
          <a:custGeom>
            <a:avLst/>
            <a:gdLst/>
            <a:ahLst/>
            <a:cxnLst/>
            <a:rect l="l" t="t" r="r" b="b"/>
            <a:pathLst>
              <a:path w="4019550" h="647700">
                <a:moveTo>
                  <a:pt x="76202" y="0"/>
                </a:moveTo>
                <a:lnTo>
                  <a:pt x="3943348" y="0"/>
                </a:lnTo>
                <a:cubicBezTo>
                  <a:pt x="3985433" y="0"/>
                  <a:pt x="4019550" y="34117"/>
                  <a:pt x="4019550" y="76202"/>
                </a:cubicBezTo>
                <a:lnTo>
                  <a:pt x="4019550" y="571498"/>
                </a:lnTo>
                <a:cubicBezTo>
                  <a:pt x="4019550" y="613583"/>
                  <a:pt x="3985433" y="647700"/>
                  <a:pt x="3943348" y="647700"/>
                </a:cubicBezTo>
                <a:lnTo>
                  <a:pt x="76202" y="647700"/>
                </a:lnTo>
                <a:cubicBezTo>
                  <a:pt x="34117" y="647700"/>
                  <a:pt x="0" y="613583"/>
                  <a:pt x="0" y="571498"/>
                </a:cubicBezTo>
                <a:lnTo>
                  <a:pt x="0" y="76202"/>
                </a:lnTo>
                <a:cubicBezTo>
                  <a:pt x="0" y="34117"/>
                  <a:pt x="34117" y="0"/>
                  <a:pt x="76202" y="0"/>
                </a:cubicBezTo>
                <a:close/>
              </a:path>
            </a:pathLst>
          </a:custGeom>
          <a:solidFill>
            <a:srgbClr val="FFFFFF">
              <a:alpha val="10196"/>
            </a:srgbClr>
          </a:solidFill>
          <a:ln/>
        </p:spPr>
      </p:sp>
      <p:sp>
        <p:nvSpPr>
          <p:cNvPr id="40" name="Text 38"/>
          <p:cNvSpPr/>
          <p:nvPr/>
        </p:nvSpPr>
        <p:spPr>
          <a:xfrm>
            <a:off x="7673340" y="4278868"/>
            <a:ext cx="781050" cy="190500"/>
          </a:xfrm>
          <a:prstGeom prst="rect">
            <a:avLst/>
          </a:prstGeom>
          <a:noFill/>
          <a:ln/>
        </p:spPr>
        <p:txBody>
          <a:bodyPr wrap="square" lIns="0" tIns="0" rIns="0" bIns="0" rtlCol="0" anchor="ctr"/>
          <a:lstStyle/>
          <a:p>
            <a:pPr>
              <a:lnSpc>
                <a:spcPct val="120000"/>
              </a:lnSpc>
            </a:pPr>
            <a:r>
              <a:rPr lang="en-US" sz="1050" dirty="0">
                <a:solidFill>
                  <a:srgbClr val="FFFFFF"/>
                </a:solidFill>
                <a:latin typeface="Liter" pitchFamily="34" charset="0"/>
                <a:ea typeface="Liter" pitchFamily="34" charset="-122"/>
                <a:cs typeface="Liter" pitchFamily="34" charset="-120"/>
              </a:rPr>
              <a:t>Data Quality</a:t>
            </a:r>
            <a:endParaRPr lang="en-US" sz="1600" dirty="0"/>
          </a:p>
        </p:txBody>
      </p:sp>
      <p:sp>
        <p:nvSpPr>
          <p:cNvPr id="41" name="Text 39"/>
          <p:cNvSpPr/>
          <p:nvPr/>
        </p:nvSpPr>
        <p:spPr>
          <a:xfrm>
            <a:off x="10894695" y="4240768"/>
            <a:ext cx="657225" cy="266700"/>
          </a:xfrm>
          <a:prstGeom prst="rect">
            <a:avLst/>
          </a:prstGeom>
          <a:noFill/>
          <a:ln/>
        </p:spPr>
        <p:txBody>
          <a:bodyPr wrap="square" lIns="0" tIns="0" rIns="0" bIns="0" rtlCol="0" anchor="ctr"/>
          <a:lstStyle/>
          <a:p>
            <a:pPr>
              <a:lnSpc>
                <a:spcPct val="130000"/>
              </a:lnSpc>
            </a:pPr>
            <a:r>
              <a:rPr lang="en-US" sz="1350" b="1" dirty="0">
                <a:solidFill>
                  <a:srgbClr val="D4A574"/>
                </a:solidFill>
                <a:latin typeface="Quattrocento Sans" pitchFamily="34" charset="0"/>
                <a:ea typeface="Quattrocento Sans" pitchFamily="34" charset="-122"/>
                <a:cs typeface="Quattrocento Sans" pitchFamily="34" charset="-120"/>
              </a:rPr>
              <a:t>99.05%</a:t>
            </a:r>
            <a:endParaRPr lang="en-US" sz="1600" dirty="0"/>
          </a:p>
        </p:txBody>
      </p:sp>
      <p:sp>
        <p:nvSpPr>
          <p:cNvPr id="42" name="Shape 40"/>
          <p:cNvSpPr/>
          <p:nvPr/>
        </p:nvSpPr>
        <p:spPr>
          <a:xfrm>
            <a:off x="7673340" y="4583668"/>
            <a:ext cx="3790950" cy="76200"/>
          </a:xfrm>
          <a:custGeom>
            <a:avLst/>
            <a:gdLst/>
            <a:ahLst/>
            <a:cxnLst/>
            <a:rect l="l" t="t" r="r" b="b"/>
            <a:pathLst>
              <a:path w="3790950" h="76200">
                <a:moveTo>
                  <a:pt x="38100" y="0"/>
                </a:moveTo>
                <a:lnTo>
                  <a:pt x="3752850" y="0"/>
                </a:lnTo>
                <a:cubicBezTo>
                  <a:pt x="3773878" y="0"/>
                  <a:pt x="3790950" y="17072"/>
                  <a:pt x="3790950" y="38100"/>
                </a:cubicBezTo>
                <a:lnTo>
                  <a:pt x="3790950" y="38100"/>
                </a:lnTo>
                <a:cubicBezTo>
                  <a:pt x="3790950" y="59128"/>
                  <a:pt x="3773878" y="76200"/>
                  <a:pt x="3752850" y="76200"/>
                </a:cubicBezTo>
                <a:lnTo>
                  <a:pt x="38100" y="76200"/>
                </a:lnTo>
                <a:cubicBezTo>
                  <a:pt x="17072" y="76200"/>
                  <a:pt x="0" y="59128"/>
                  <a:pt x="0" y="38100"/>
                </a:cubicBezTo>
                <a:lnTo>
                  <a:pt x="0" y="38100"/>
                </a:lnTo>
                <a:cubicBezTo>
                  <a:pt x="0" y="17072"/>
                  <a:pt x="17072" y="0"/>
                  <a:pt x="38100" y="0"/>
                </a:cubicBezTo>
                <a:close/>
              </a:path>
            </a:pathLst>
          </a:custGeom>
          <a:solidFill>
            <a:srgbClr val="FFFFFF">
              <a:alpha val="20000"/>
            </a:srgbClr>
          </a:solidFill>
          <a:ln/>
        </p:spPr>
      </p:sp>
      <p:sp>
        <p:nvSpPr>
          <p:cNvPr id="43" name="Shape 41"/>
          <p:cNvSpPr/>
          <p:nvPr/>
        </p:nvSpPr>
        <p:spPr>
          <a:xfrm>
            <a:off x="7673340" y="4583668"/>
            <a:ext cx="3762375" cy="76200"/>
          </a:xfrm>
          <a:custGeom>
            <a:avLst/>
            <a:gdLst/>
            <a:ahLst/>
            <a:cxnLst/>
            <a:rect l="l" t="t" r="r" b="b"/>
            <a:pathLst>
              <a:path w="3762375" h="76200">
                <a:moveTo>
                  <a:pt x="38100" y="0"/>
                </a:moveTo>
                <a:lnTo>
                  <a:pt x="3724275" y="0"/>
                </a:lnTo>
                <a:cubicBezTo>
                  <a:pt x="3745303" y="0"/>
                  <a:pt x="3762375" y="17072"/>
                  <a:pt x="3762375" y="38100"/>
                </a:cubicBezTo>
                <a:lnTo>
                  <a:pt x="3762375" y="38100"/>
                </a:lnTo>
                <a:cubicBezTo>
                  <a:pt x="3762375" y="59128"/>
                  <a:pt x="3745303" y="76200"/>
                  <a:pt x="3724275" y="76200"/>
                </a:cubicBezTo>
                <a:lnTo>
                  <a:pt x="38100" y="76200"/>
                </a:lnTo>
                <a:cubicBezTo>
                  <a:pt x="17072" y="76200"/>
                  <a:pt x="0" y="59128"/>
                  <a:pt x="0" y="38100"/>
                </a:cubicBezTo>
                <a:lnTo>
                  <a:pt x="0" y="38100"/>
                </a:lnTo>
                <a:cubicBezTo>
                  <a:pt x="0" y="17072"/>
                  <a:pt x="17072" y="0"/>
                  <a:pt x="38100" y="0"/>
                </a:cubicBezTo>
                <a:close/>
              </a:path>
            </a:pathLst>
          </a:custGeom>
          <a:solidFill>
            <a:srgbClr val="D4A574"/>
          </a:solidFill>
          <a:ln/>
        </p:spPr>
      </p:sp>
      <p:sp>
        <p:nvSpPr>
          <p:cNvPr id="44" name="Shape 42"/>
          <p:cNvSpPr/>
          <p:nvPr/>
        </p:nvSpPr>
        <p:spPr>
          <a:xfrm>
            <a:off x="7330440" y="5281613"/>
            <a:ext cx="4476750" cy="1200150"/>
          </a:xfrm>
          <a:custGeom>
            <a:avLst/>
            <a:gdLst/>
            <a:ahLst/>
            <a:cxnLst/>
            <a:rect l="l" t="t" r="r" b="b"/>
            <a:pathLst>
              <a:path w="4476750" h="1200150">
                <a:moveTo>
                  <a:pt x="114302" y="0"/>
                </a:moveTo>
                <a:lnTo>
                  <a:pt x="4362448" y="0"/>
                </a:lnTo>
                <a:cubicBezTo>
                  <a:pt x="4425533" y="0"/>
                  <a:pt x="4476750" y="51217"/>
                  <a:pt x="4476750" y="114302"/>
                </a:cubicBezTo>
                <a:lnTo>
                  <a:pt x="4476750" y="1085848"/>
                </a:lnTo>
                <a:cubicBezTo>
                  <a:pt x="4476750" y="1148933"/>
                  <a:pt x="4425533" y="1200150"/>
                  <a:pt x="4362448" y="1200150"/>
                </a:cubicBezTo>
                <a:lnTo>
                  <a:pt x="114302" y="1200150"/>
                </a:lnTo>
                <a:cubicBezTo>
                  <a:pt x="51217" y="1200150"/>
                  <a:pt x="0" y="1148933"/>
                  <a:pt x="0" y="1085848"/>
                </a:cubicBezTo>
                <a:lnTo>
                  <a:pt x="0" y="114302"/>
                </a:lnTo>
                <a:cubicBezTo>
                  <a:pt x="0" y="51217"/>
                  <a:pt x="51217" y="0"/>
                  <a:pt x="114302"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45" name="Shape 43"/>
          <p:cNvSpPr/>
          <p:nvPr/>
        </p:nvSpPr>
        <p:spPr>
          <a:xfrm>
            <a:off x="7566184" y="5519738"/>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D4A574"/>
          </a:solidFill>
          <a:ln/>
        </p:spPr>
      </p:sp>
      <p:sp>
        <p:nvSpPr>
          <p:cNvPr id="46" name="Text 44"/>
          <p:cNvSpPr/>
          <p:nvPr/>
        </p:nvSpPr>
        <p:spPr>
          <a:xfrm>
            <a:off x="7740015" y="5472113"/>
            <a:ext cx="3962400" cy="266700"/>
          </a:xfrm>
          <a:prstGeom prst="rect">
            <a:avLst/>
          </a:prstGeom>
          <a:noFill/>
          <a:ln/>
        </p:spPr>
        <p:txBody>
          <a:bodyPr wrap="square" lIns="0" tIns="0" rIns="0" bIns="0" rtlCol="0" anchor="ctr"/>
          <a:lstStyle/>
          <a:p>
            <a:pPr>
              <a:lnSpc>
                <a:spcPct val="130000"/>
              </a:lnSpc>
            </a:pPr>
            <a:r>
              <a:rPr lang="en-US" sz="1350" b="1" dirty="0">
                <a:solidFill>
                  <a:srgbClr val="2E5A4C"/>
                </a:solidFill>
                <a:latin typeface="Liter" pitchFamily="34" charset="0"/>
                <a:ea typeface="Liter" pitchFamily="34" charset="-122"/>
                <a:cs typeface="Liter" pitchFamily="34" charset="-120"/>
              </a:rPr>
              <a:t>Key Outcome</a:t>
            </a:r>
            <a:endParaRPr lang="en-US" sz="1600" dirty="0"/>
          </a:p>
        </p:txBody>
      </p:sp>
      <p:sp>
        <p:nvSpPr>
          <p:cNvPr id="47" name="Text 45"/>
          <p:cNvSpPr/>
          <p:nvPr/>
        </p:nvSpPr>
        <p:spPr>
          <a:xfrm>
            <a:off x="7520940" y="5853113"/>
            <a:ext cx="4162425" cy="438150"/>
          </a:xfrm>
          <a:prstGeom prst="rect">
            <a:avLst/>
          </a:prstGeom>
          <a:noFill/>
          <a:ln/>
        </p:spPr>
        <p:txBody>
          <a:bodyPr wrap="square" lIns="0" tIns="0" rIns="0" bIns="0" rtlCol="0" anchor="ctr"/>
          <a:lstStyle/>
          <a:p>
            <a:pPr>
              <a:lnSpc>
                <a:spcPct val="140000"/>
              </a:lnSpc>
            </a:pPr>
            <a:r>
              <a:rPr lang="en-US" sz="1050" dirty="0">
                <a:solidFill>
                  <a:srgbClr val="2C3E50"/>
                </a:solidFill>
                <a:latin typeface="Quattrocento Sans" pitchFamily="34" charset="0"/>
                <a:ea typeface="Quattrocento Sans" pitchFamily="34" charset="-122"/>
                <a:cs typeface="Quattrocento Sans" pitchFamily="34" charset="-120"/>
              </a:rPr>
              <a:t>Deliver </a:t>
            </a:r>
            <a:pPr>
              <a:lnSpc>
                <a:spcPct val="140000"/>
              </a:lnSpc>
            </a:pPr>
            <a:r>
              <a:rPr lang="en-US" sz="1050" b="1" dirty="0">
                <a:solidFill>
                  <a:srgbClr val="2C3E50"/>
                </a:solidFill>
                <a:latin typeface="Quattrocento Sans" pitchFamily="34" charset="0"/>
                <a:ea typeface="Quattrocento Sans" pitchFamily="34" charset="-122"/>
                <a:cs typeface="Quattrocento Sans" pitchFamily="34" charset="-120"/>
              </a:rPr>
              <a:t>actionable insights</a:t>
            </a:r>
            <a:pPr>
              <a:lnSpc>
                <a:spcPct val="140000"/>
              </a:lnSpc>
            </a:pPr>
            <a:r>
              <a:rPr lang="en-US" sz="1050" dirty="0">
                <a:solidFill>
                  <a:srgbClr val="2C3E50"/>
                </a:solidFill>
                <a:latin typeface="Quattrocento Sans" pitchFamily="34" charset="0"/>
                <a:ea typeface="Quattrocento Sans" pitchFamily="34" charset="-122"/>
                <a:cs typeface="Quattrocento Sans" pitchFamily="34" charset="-120"/>
              </a:rPr>
              <a:t> for strategic business decisions across marketing, pricing, and customer experience optimization.</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81000" y="457200"/>
            <a:ext cx="457200" cy="38100"/>
          </a:xfrm>
          <a:custGeom>
            <a:avLst/>
            <a:gdLst/>
            <a:ahLst/>
            <a:cxnLst/>
            <a:rect l="l" t="t" r="r" b="b"/>
            <a:pathLst>
              <a:path w="457200" h="38100">
                <a:moveTo>
                  <a:pt x="0" y="0"/>
                </a:moveTo>
                <a:lnTo>
                  <a:pt x="457200" y="0"/>
                </a:lnTo>
                <a:lnTo>
                  <a:pt x="457200" y="38100"/>
                </a:lnTo>
                <a:lnTo>
                  <a:pt x="0" y="38100"/>
                </a:lnTo>
                <a:lnTo>
                  <a:pt x="0" y="0"/>
                </a:lnTo>
                <a:close/>
              </a:path>
            </a:pathLst>
          </a:custGeom>
          <a:solidFill>
            <a:srgbClr val="D4A574"/>
          </a:solidFill>
          <a:ln/>
        </p:spPr>
      </p:sp>
      <p:sp>
        <p:nvSpPr>
          <p:cNvPr id="3" name="Text 1"/>
          <p:cNvSpPr/>
          <p:nvPr/>
        </p:nvSpPr>
        <p:spPr>
          <a:xfrm>
            <a:off x="952500" y="381000"/>
            <a:ext cx="952500" cy="190500"/>
          </a:xfrm>
          <a:prstGeom prst="rect">
            <a:avLst/>
          </a:prstGeom>
          <a:noFill/>
          <a:ln/>
        </p:spPr>
        <p:txBody>
          <a:bodyPr wrap="square" lIns="0" tIns="0" rIns="0" bIns="0" rtlCol="0" anchor="ctr"/>
          <a:lstStyle/>
          <a:p>
            <a:pPr>
              <a:lnSpc>
                <a:spcPct val="120000"/>
              </a:lnSpc>
            </a:pPr>
            <a:r>
              <a:rPr lang="en-US" sz="1050" spc="105" kern="0" dirty="0">
                <a:solidFill>
                  <a:srgbClr val="D4A574"/>
                </a:solidFill>
                <a:latin typeface="Liter" pitchFamily="34" charset="0"/>
                <a:ea typeface="Liter" pitchFamily="34" charset="-122"/>
                <a:cs typeface="Liter" pitchFamily="34" charset="-120"/>
              </a:rPr>
              <a:t>Section 02</a:t>
            </a:r>
            <a:endParaRPr lang="en-US" sz="1600" dirty="0"/>
          </a:p>
        </p:txBody>
      </p:sp>
      <p:sp>
        <p:nvSpPr>
          <p:cNvPr id="4" name="Text 2"/>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E5A4C"/>
                </a:solidFill>
                <a:latin typeface="Oranienbaum" pitchFamily="34" charset="0"/>
                <a:ea typeface="Oranienbaum" pitchFamily="34" charset="-122"/>
                <a:cs typeface="Oranienbaum" pitchFamily="34" charset="-120"/>
              </a:rPr>
              <a:t>Dataset Architecture</a:t>
            </a:r>
            <a:endParaRPr lang="en-US" sz="1600" dirty="0"/>
          </a:p>
        </p:txBody>
      </p:sp>
      <p:sp>
        <p:nvSpPr>
          <p:cNvPr id="5" name="Text 3"/>
          <p:cNvSpPr/>
          <p:nvPr/>
        </p:nvSpPr>
        <p:spPr>
          <a:xfrm>
            <a:off x="381000" y="1066800"/>
            <a:ext cx="11515725" cy="266700"/>
          </a:xfrm>
          <a:prstGeom prst="rect">
            <a:avLst/>
          </a:prstGeom>
          <a:noFill/>
          <a:ln/>
        </p:spPr>
        <p:txBody>
          <a:bodyPr wrap="square" lIns="0" tIns="0" rIns="0" bIns="0" rtlCol="0" anchor="ctr"/>
          <a:lstStyle/>
          <a:p>
            <a:pPr>
              <a:lnSpc>
                <a:spcPct val="130000"/>
              </a:lnSpc>
            </a:pPr>
            <a:r>
              <a:rPr lang="en-US" sz="1350" dirty="0">
                <a:solidFill>
                  <a:srgbClr val="2C3E50">
                    <a:alpha val="70000"/>
                  </a:srgbClr>
                </a:solidFill>
                <a:latin typeface="Quattrocento Sans" pitchFamily="34" charset="0"/>
                <a:ea typeface="Quattrocento Sans" pitchFamily="34" charset="-122"/>
                <a:cs typeface="Quattrocento Sans" pitchFamily="34" charset="-120"/>
              </a:rPr>
              <a:t>18 Dimensions of Customer Behavior</a:t>
            </a:r>
            <a:endParaRPr lang="en-US" sz="1600" dirty="0"/>
          </a:p>
        </p:txBody>
      </p:sp>
      <p:sp>
        <p:nvSpPr>
          <p:cNvPr id="6" name="Shape 4"/>
          <p:cNvSpPr/>
          <p:nvPr/>
        </p:nvSpPr>
        <p:spPr>
          <a:xfrm>
            <a:off x="381000" y="1485900"/>
            <a:ext cx="5600700" cy="2419350"/>
          </a:xfrm>
          <a:custGeom>
            <a:avLst/>
            <a:gdLst/>
            <a:ahLst/>
            <a:cxnLst/>
            <a:rect l="l" t="t" r="r" b="b"/>
            <a:pathLst>
              <a:path w="5600700" h="2419350">
                <a:moveTo>
                  <a:pt x="114290" y="0"/>
                </a:moveTo>
                <a:lnTo>
                  <a:pt x="5486410" y="0"/>
                </a:lnTo>
                <a:cubicBezTo>
                  <a:pt x="5549531" y="0"/>
                  <a:pt x="5600700" y="51169"/>
                  <a:pt x="5600700" y="114290"/>
                </a:cubicBezTo>
                <a:lnTo>
                  <a:pt x="5600700" y="2305060"/>
                </a:lnTo>
                <a:cubicBezTo>
                  <a:pt x="5600700" y="2368181"/>
                  <a:pt x="5549531" y="2419350"/>
                  <a:pt x="5486410" y="2419350"/>
                </a:cubicBezTo>
                <a:lnTo>
                  <a:pt x="114290" y="2419350"/>
                </a:lnTo>
                <a:cubicBezTo>
                  <a:pt x="51169" y="2419350"/>
                  <a:pt x="0" y="2368181"/>
                  <a:pt x="0" y="2305060"/>
                </a:cubicBezTo>
                <a:lnTo>
                  <a:pt x="0" y="114290"/>
                </a:lnTo>
                <a:cubicBezTo>
                  <a:pt x="0" y="51212"/>
                  <a:pt x="51212" y="0"/>
                  <a:pt x="11429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7" name="Shape 5"/>
          <p:cNvSpPr/>
          <p:nvPr/>
        </p:nvSpPr>
        <p:spPr>
          <a:xfrm>
            <a:off x="571500" y="16764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E5A4C"/>
          </a:solidFill>
          <a:ln/>
        </p:spPr>
      </p:sp>
      <p:sp>
        <p:nvSpPr>
          <p:cNvPr id="8" name="Shape 6"/>
          <p:cNvSpPr/>
          <p:nvPr/>
        </p:nvSpPr>
        <p:spPr>
          <a:xfrm>
            <a:off x="695325" y="1790700"/>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FFFFFF"/>
          </a:solidFill>
          <a:ln/>
        </p:spPr>
      </p:sp>
      <p:sp>
        <p:nvSpPr>
          <p:cNvPr id="9" name="Text 7"/>
          <p:cNvSpPr/>
          <p:nvPr/>
        </p:nvSpPr>
        <p:spPr>
          <a:xfrm>
            <a:off x="1066800" y="1733550"/>
            <a:ext cx="2190750" cy="266700"/>
          </a:xfrm>
          <a:prstGeom prst="rect">
            <a:avLst/>
          </a:prstGeom>
          <a:noFill/>
          <a:ln/>
        </p:spPr>
        <p:txBody>
          <a:bodyPr wrap="square" lIns="0" tIns="0" rIns="0" bIns="0" rtlCol="0" anchor="ctr"/>
          <a:lstStyle/>
          <a:p>
            <a:pPr>
              <a:lnSpc>
                <a:spcPct val="120000"/>
              </a:lnSpc>
            </a:pPr>
            <a:r>
              <a:rPr lang="en-US" sz="1500" b="1" dirty="0">
                <a:solidFill>
                  <a:srgbClr val="2E5A4C"/>
                </a:solidFill>
                <a:latin typeface="Liter" pitchFamily="34" charset="0"/>
                <a:ea typeface="Liter" pitchFamily="34" charset="-122"/>
                <a:cs typeface="Liter" pitchFamily="34" charset="-120"/>
              </a:rPr>
              <a:t>Customer Demographics</a:t>
            </a:r>
            <a:endParaRPr lang="en-US" sz="1600" dirty="0"/>
          </a:p>
        </p:txBody>
      </p:sp>
      <p:sp>
        <p:nvSpPr>
          <p:cNvPr id="10" name="Shape 8"/>
          <p:cNvSpPr/>
          <p:nvPr/>
        </p:nvSpPr>
        <p:spPr>
          <a:xfrm>
            <a:off x="571500" y="2171700"/>
            <a:ext cx="2552700" cy="714375"/>
          </a:xfrm>
          <a:custGeom>
            <a:avLst/>
            <a:gdLst/>
            <a:ahLst/>
            <a:cxnLst/>
            <a:rect l="l" t="t" r="r" b="b"/>
            <a:pathLst>
              <a:path w="2552700" h="714375">
                <a:moveTo>
                  <a:pt x="76202" y="0"/>
                </a:moveTo>
                <a:lnTo>
                  <a:pt x="2476498" y="0"/>
                </a:lnTo>
                <a:cubicBezTo>
                  <a:pt x="2518583" y="0"/>
                  <a:pt x="2552700" y="34117"/>
                  <a:pt x="2552700" y="76202"/>
                </a:cubicBezTo>
                <a:lnTo>
                  <a:pt x="2552700" y="638173"/>
                </a:lnTo>
                <a:cubicBezTo>
                  <a:pt x="2552700" y="680258"/>
                  <a:pt x="2518583" y="714375"/>
                  <a:pt x="2476498" y="714375"/>
                </a:cubicBezTo>
                <a:lnTo>
                  <a:pt x="76202" y="714375"/>
                </a:lnTo>
                <a:cubicBezTo>
                  <a:pt x="34117" y="714375"/>
                  <a:pt x="0" y="680258"/>
                  <a:pt x="0" y="638173"/>
                </a:cubicBezTo>
                <a:lnTo>
                  <a:pt x="0" y="76202"/>
                </a:lnTo>
                <a:cubicBezTo>
                  <a:pt x="0" y="34145"/>
                  <a:pt x="34145" y="0"/>
                  <a:pt x="76202" y="0"/>
                </a:cubicBezTo>
                <a:close/>
              </a:path>
            </a:pathLst>
          </a:custGeom>
          <a:solidFill>
            <a:srgbClr val="2E5A4C">
              <a:alpha val="5098"/>
            </a:srgbClr>
          </a:solidFill>
          <a:ln/>
        </p:spPr>
      </p:sp>
      <p:sp>
        <p:nvSpPr>
          <p:cNvPr id="11" name="Shape 9"/>
          <p:cNvSpPr/>
          <p:nvPr/>
        </p:nvSpPr>
        <p:spPr>
          <a:xfrm>
            <a:off x="714375" y="2452688"/>
            <a:ext cx="133350" cy="152400"/>
          </a:xfrm>
          <a:custGeom>
            <a:avLst/>
            <a:gdLst/>
            <a:ahLst/>
            <a:cxnLst/>
            <a:rect l="l" t="t" r="r" b="b"/>
            <a:pathLst>
              <a:path w="133350" h="152400">
                <a:moveTo>
                  <a:pt x="25718" y="-3125"/>
                </a:moveTo>
                <a:lnTo>
                  <a:pt x="18395" y="9406"/>
                </a:lnTo>
                <a:cubicBezTo>
                  <a:pt x="17264" y="11341"/>
                  <a:pt x="16669" y="13573"/>
                  <a:pt x="16669" y="15835"/>
                </a:cubicBezTo>
                <a:lnTo>
                  <a:pt x="16669" y="16669"/>
                </a:lnTo>
                <a:cubicBezTo>
                  <a:pt x="16669" y="23247"/>
                  <a:pt x="21997" y="28575"/>
                  <a:pt x="28575" y="28575"/>
                </a:cubicBezTo>
                <a:cubicBezTo>
                  <a:pt x="35153" y="28575"/>
                  <a:pt x="40481" y="23247"/>
                  <a:pt x="40481" y="16669"/>
                </a:cubicBezTo>
                <a:lnTo>
                  <a:pt x="40481" y="15835"/>
                </a:lnTo>
                <a:cubicBezTo>
                  <a:pt x="40481" y="13573"/>
                  <a:pt x="39886" y="11370"/>
                  <a:pt x="38755" y="9406"/>
                </a:cubicBezTo>
                <a:lnTo>
                  <a:pt x="31432" y="-3125"/>
                </a:lnTo>
                <a:cubicBezTo>
                  <a:pt x="30837" y="-4137"/>
                  <a:pt x="29736" y="-4762"/>
                  <a:pt x="28575" y="-4762"/>
                </a:cubicBezTo>
                <a:cubicBezTo>
                  <a:pt x="27414" y="-4762"/>
                  <a:pt x="26313" y="-4137"/>
                  <a:pt x="25718" y="-3125"/>
                </a:cubicBezTo>
                <a:close/>
                <a:moveTo>
                  <a:pt x="63818" y="-3125"/>
                </a:moveTo>
                <a:lnTo>
                  <a:pt x="56495" y="9406"/>
                </a:lnTo>
                <a:cubicBezTo>
                  <a:pt x="55364" y="11341"/>
                  <a:pt x="54769" y="13573"/>
                  <a:pt x="54769" y="15835"/>
                </a:cubicBezTo>
                <a:lnTo>
                  <a:pt x="54769" y="16669"/>
                </a:lnTo>
                <a:cubicBezTo>
                  <a:pt x="54769" y="23247"/>
                  <a:pt x="60097" y="28575"/>
                  <a:pt x="66675" y="28575"/>
                </a:cubicBezTo>
                <a:cubicBezTo>
                  <a:pt x="73253" y="28575"/>
                  <a:pt x="78581" y="23247"/>
                  <a:pt x="78581" y="16669"/>
                </a:cubicBezTo>
                <a:lnTo>
                  <a:pt x="78581" y="15835"/>
                </a:lnTo>
                <a:cubicBezTo>
                  <a:pt x="78581" y="13573"/>
                  <a:pt x="77986" y="11370"/>
                  <a:pt x="76855" y="9406"/>
                </a:cubicBezTo>
                <a:lnTo>
                  <a:pt x="69533" y="-3125"/>
                </a:lnTo>
                <a:cubicBezTo>
                  <a:pt x="68937" y="-4137"/>
                  <a:pt x="67836" y="-4762"/>
                  <a:pt x="66675" y="-4762"/>
                </a:cubicBezTo>
                <a:cubicBezTo>
                  <a:pt x="65514" y="-4762"/>
                  <a:pt x="64413" y="-4137"/>
                  <a:pt x="63818" y="-3125"/>
                </a:cubicBezTo>
                <a:close/>
                <a:moveTo>
                  <a:pt x="94595" y="9406"/>
                </a:moveTo>
                <a:cubicBezTo>
                  <a:pt x="93464" y="11341"/>
                  <a:pt x="92869" y="13573"/>
                  <a:pt x="92869" y="15835"/>
                </a:cubicBezTo>
                <a:lnTo>
                  <a:pt x="92869" y="16669"/>
                </a:lnTo>
                <a:cubicBezTo>
                  <a:pt x="92869" y="23247"/>
                  <a:pt x="98197" y="28575"/>
                  <a:pt x="104775" y="28575"/>
                </a:cubicBezTo>
                <a:cubicBezTo>
                  <a:pt x="111353" y="28575"/>
                  <a:pt x="116681" y="23247"/>
                  <a:pt x="116681" y="16669"/>
                </a:cubicBezTo>
                <a:lnTo>
                  <a:pt x="116681" y="15835"/>
                </a:lnTo>
                <a:cubicBezTo>
                  <a:pt x="116681" y="13573"/>
                  <a:pt x="116086" y="11370"/>
                  <a:pt x="114955" y="9406"/>
                </a:cubicBezTo>
                <a:lnTo>
                  <a:pt x="107633" y="-3125"/>
                </a:lnTo>
                <a:cubicBezTo>
                  <a:pt x="107037" y="-4137"/>
                  <a:pt x="105936" y="-4762"/>
                  <a:pt x="104775" y="-4762"/>
                </a:cubicBezTo>
                <a:cubicBezTo>
                  <a:pt x="103614" y="-4762"/>
                  <a:pt x="102513" y="-4137"/>
                  <a:pt x="101918" y="-3125"/>
                </a:cubicBezTo>
                <a:lnTo>
                  <a:pt x="94595" y="9406"/>
                </a:lnTo>
                <a:close/>
                <a:moveTo>
                  <a:pt x="38100" y="47625"/>
                </a:moveTo>
                <a:cubicBezTo>
                  <a:pt x="38100" y="42356"/>
                  <a:pt x="33844" y="38100"/>
                  <a:pt x="28575" y="38100"/>
                </a:cubicBezTo>
                <a:cubicBezTo>
                  <a:pt x="23306" y="38100"/>
                  <a:pt x="19050" y="42356"/>
                  <a:pt x="19050" y="47625"/>
                </a:cubicBezTo>
                <a:lnTo>
                  <a:pt x="19050" y="63550"/>
                </a:lnTo>
                <a:cubicBezTo>
                  <a:pt x="7947" y="67449"/>
                  <a:pt x="0" y="78045"/>
                  <a:pt x="0" y="90488"/>
                </a:cubicBezTo>
                <a:lnTo>
                  <a:pt x="0" y="96679"/>
                </a:lnTo>
                <a:cubicBezTo>
                  <a:pt x="6221" y="97066"/>
                  <a:pt x="12383" y="98852"/>
                  <a:pt x="17949" y="102037"/>
                </a:cubicBezTo>
                <a:lnTo>
                  <a:pt x="20062" y="103257"/>
                </a:lnTo>
                <a:cubicBezTo>
                  <a:pt x="27890" y="107722"/>
                  <a:pt x="37594" y="107246"/>
                  <a:pt x="44946" y="102007"/>
                </a:cubicBezTo>
                <a:cubicBezTo>
                  <a:pt x="57954" y="92720"/>
                  <a:pt x="75396" y="92720"/>
                  <a:pt x="88404" y="102007"/>
                </a:cubicBezTo>
                <a:cubicBezTo>
                  <a:pt x="95726" y="107246"/>
                  <a:pt x="105460" y="107752"/>
                  <a:pt x="113288" y="103257"/>
                </a:cubicBezTo>
                <a:lnTo>
                  <a:pt x="115401" y="102037"/>
                </a:lnTo>
                <a:cubicBezTo>
                  <a:pt x="120968" y="98852"/>
                  <a:pt x="127099" y="97066"/>
                  <a:pt x="133350" y="96679"/>
                </a:cubicBezTo>
                <a:lnTo>
                  <a:pt x="133350" y="90488"/>
                </a:lnTo>
                <a:cubicBezTo>
                  <a:pt x="133350" y="78045"/>
                  <a:pt x="125403" y="67449"/>
                  <a:pt x="114300" y="63550"/>
                </a:cubicBezTo>
                <a:lnTo>
                  <a:pt x="114300" y="47625"/>
                </a:lnTo>
                <a:cubicBezTo>
                  <a:pt x="114300" y="42356"/>
                  <a:pt x="110044" y="38100"/>
                  <a:pt x="104775" y="38100"/>
                </a:cubicBezTo>
                <a:cubicBezTo>
                  <a:pt x="99506" y="38100"/>
                  <a:pt x="95250" y="42356"/>
                  <a:pt x="95250" y="47625"/>
                </a:cubicBezTo>
                <a:lnTo>
                  <a:pt x="95250" y="61912"/>
                </a:lnTo>
                <a:lnTo>
                  <a:pt x="76200" y="61912"/>
                </a:lnTo>
                <a:lnTo>
                  <a:pt x="76200" y="47625"/>
                </a:lnTo>
                <a:cubicBezTo>
                  <a:pt x="76200" y="42356"/>
                  <a:pt x="71944" y="38100"/>
                  <a:pt x="66675" y="38100"/>
                </a:cubicBezTo>
                <a:cubicBezTo>
                  <a:pt x="61406" y="38100"/>
                  <a:pt x="57150" y="42356"/>
                  <a:pt x="57150" y="47625"/>
                </a:cubicBezTo>
                <a:lnTo>
                  <a:pt x="57150" y="61912"/>
                </a:lnTo>
                <a:lnTo>
                  <a:pt x="38100" y="61912"/>
                </a:lnTo>
                <a:lnTo>
                  <a:pt x="38100" y="47625"/>
                </a:lnTo>
                <a:close/>
                <a:moveTo>
                  <a:pt x="133350" y="111026"/>
                </a:moveTo>
                <a:cubicBezTo>
                  <a:pt x="129570" y="111383"/>
                  <a:pt x="125879" y="112514"/>
                  <a:pt x="122486" y="114449"/>
                </a:cubicBezTo>
                <a:lnTo>
                  <a:pt x="120372" y="115669"/>
                </a:lnTo>
                <a:cubicBezTo>
                  <a:pt x="107692" y="122902"/>
                  <a:pt x="91976" y="122128"/>
                  <a:pt x="80099" y="113645"/>
                </a:cubicBezTo>
                <a:cubicBezTo>
                  <a:pt x="72063" y="107900"/>
                  <a:pt x="61287" y="107900"/>
                  <a:pt x="53251" y="113645"/>
                </a:cubicBezTo>
                <a:cubicBezTo>
                  <a:pt x="41374" y="122128"/>
                  <a:pt x="25658" y="122932"/>
                  <a:pt x="12978" y="115669"/>
                </a:cubicBezTo>
                <a:lnTo>
                  <a:pt x="10864" y="114449"/>
                </a:lnTo>
                <a:cubicBezTo>
                  <a:pt x="7471" y="112514"/>
                  <a:pt x="3780" y="111353"/>
                  <a:pt x="0" y="111026"/>
                </a:cubicBezTo>
                <a:lnTo>
                  <a:pt x="0" y="133350"/>
                </a:lnTo>
                <a:cubicBezTo>
                  <a:pt x="0" y="143857"/>
                  <a:pt x="8543" y="152400"/>
                  <a:pt x="19050" y="152400"/>
                </a:cubicBezTo>
                <a:lnTo>
                  <a:pt x="114300" y="152400"/>
                </a:lnTo>
                <a:cubicBezTo>
                  <a:pt x="124807" y="152400"/>
                  <a:pt x="133350" y="143857"/>
                  <a:pt x="133350" y="133350"/>
                </a:cubicBezTo>
                <a:lnTo>
                  <a:pt x="133350" y="111026"/>
                </a:lnTo>
                <a:close/>
              </a:path>
            </a:pathLst>
          </a:custGeom>
          <a:solidFill>
            <a:srgbClr val="2E5A4C"/>
          </a:solidFill>
          <a:ln/>
        </p:spPr>
      </p:sp>
      <p:sp>
        <p:nvSpPr>
          <p:cNvPr id="12" name="Text 10"/>
          <p:cNvSpPr/>
          <p:nvPr/>
        </p:nvSpPr>
        <p:spPr>
          <a:xfrm>
            <a:off x="952500" y="2414588"/>
            <a:ext cx="1285875" cy="228600"/>
          </a:xfrm>
          <a:prstGeom prst="rect">
            <a:avLst/>
          </a:prstGeom>
          <a:noFill/>
          <a:ln/>
        </p:spPr>
        <p:txBody>
          <a:bodyPr wrap="square" lIns="0" tIns="0" rIns="0" bIns="0" rtlCol="0" anchor="ctr"/>
          <a:lstStyle/>
          <a:p>
            <a:pP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Age</a:t>
            </a:r>
            <a:pPr>
              <a:lnSpc>
                <a:spcPct val="130000"/>
              </a:lnSpc>
            </a:pPr>
            <a:r>
              <a:rPr lang="en-US" sz="1200" dirty="0">
                <a:solidFill>
                  <a:srgbClr val="2C3E50"/>
                </a:solidFill>
                <a:latin typeface="Quattrocento Sans" pitchFamily="34" charset="0"/>
                <a:ea typeface="Quattrocento Sans" pitchFamily="34" charset="-122"/>
                <a:cs typeface="Quattrocento Sans" pitchFamily="34" charset="-120"/>
              </a:rPr>
              <a:t> &amp; Age Groups</a:t>
            </a:r>
            <a:endParaRPr lang="en-US" sz="1600" dirty="0"/>
          </a:p>
        </p:txBody>
      </p:sp>
      <p:sp>
        <p:nvSpPr>
          <p:cNvPr id="13" name="Shape 11"/>
          <p:cNvSpPr/>
          <p:nvPr/>
        </p:nvSpPr>
        <p:spPr>
          <a:xfrm>
            <a:off x="3238500" y="2171700"/>
            <a:ext cx="2552700" cy="714375"/>
          </a:xfrm>
          <a:custGeom>
            <a:avLst/>
            <a:gdLst/>
            <a:ahLst/>
            <a:cxnLst/>
            <a:rect l="l" t="t" r="r" b="b"/>
            <a:pathLst>
              <a:path w="2552700" h="714375">
                <a:moveTo>
                  <a:pt x="76202" y="0"/>
                </a:moveTo>
                <a:lnTo>
                  <a:pt x="2476498" y="0"/>
                </a:lnTo>
                <a:cubicBezTo>
                  <a:pt x="2518583" y="0"/>
                  <a:pt x="2552700" y="34117"/>
                  <a:pt x="2552700" y="76202"/>
                </a:cubicBezTo>
                <a:lnTo>
                  <a:pt x="2552700" y="638173"/>
                </a:lnTo>
                <a:cubicBezTo>
                  <a:pt x="2552700" y="680258"/>
                  <a:pt x="2518583" y="714375"/>
                  <a:pt x="2476498" y="714375"/>
                </a:cubicBezTo>
                <a:lnTo>
                  <a:pt x="76202" y="714375"/>
                </a:lnTo>
                <a:cubicBezTo>
                  <a:pt x="34117" y="714375"/>
                  <a:pt x="0" y="680258"/>
                  <a:pt x="0" y="638173"/>
                </a:cubicBezTo>
                <a:lnTo>
                  <a:pt x="0" y="76202"/>
                </a:lnTo>
                <a:cubicBezTo>
                  <a:pt x="0" y="34145"/>
                  <a:pt x="34145" y="0"/>
                  <a:pt x="76202" y="0"/>
                </a:cubicBezTo>
                <a:close/>
              </a:path>
            </a:pathLst>
          </a:custGeom>
          <a:solidFill>
            <a:srgbClr val="2E5A4C">
              <a:alpha val="5098"/>
            </a:srgbClr>
          </a:solidFill>
          <a:ln/>
        </p:spPr>
      </p:sp>
      <p:sp>
        <p:nvSpPr>
          <p:cNvPr id="14" name="Shape 12"/>
          <p:cNvSpPr/>
          <p:nvPr/>
        </p:nvSpPr>
        <p:spPr>
          <a:xfrm>
            <a:off x="3352800" y="2452688"/>
            <a:ext cx="190500" cy="152400"/>
          </a:xfrm>
          <a:custGeom>
            <a:avLst/>
            <a:gdLst/>
            <a:ahLst/>
            <a:cxnLst/>
            <a:rect l="l" t="t" r="r" b="b"/>
            <a:pathLst>
              <a:path w="190500" h="152400">
                <a:moveTo>
                  <a:pt x="142875" y="-19050"/>
                </a:moveTo>
                <a:cubicBezTo>
                  <a:pt x="137606" y="-19050"/>
                  <a:pt x="133350" y="-14794"/>
                  <a:pt x="133350" y="-9525"/>
                </a:cubicBezTo>
                <a:cubicBezTo>
                  <a:pt x="133350" y="-4256"/>
                  <a:pt x="137606" y="0"/>
                  <a:pt x="142875" y="0"/>
                </a:cubicBezTo>
                <a:lnTo>
                  <a:pt x="157966" y="0"/>
                </a:lnTo>
                <a:lnTo>
                  <a:pt x="141089" y="16877"/>
                </a:lnTo>
                <a:cubicBezTo>
                  <a:pt x="133261" y="12204"/>
                  <a:pt x="124093" y="9525"/>
                  <a:pt x="114300" y="9525"/>
                </a:cubicBezTo>
                <a:cubicBezTo>
                  <a:pt x="103763" y="9525"/>
                  <a:pt x="93940" y="12650"/>
                  <a:pt x="85725" y="18008"/>
                </a:cubicBezTo>
                <a:cubicBezTo>
                  <a:pt x="77510" y="12650"/>
                  <a:pt x="67687" y="9525"/>
                  <a:pt x="57150" y="9525"/>
                </a:cubicBezTo>
                <a:cubicBezTo>
                  <a:pt x="28218" y="9525"/>
                  <a:pt x="4763" y="32980"/>
                  <a:pt x="4763" y="61912"/>
                </a:cubicBezTo>
                <a:cubicBezTo>
                  <a:pt x="4763" y="87600"/>
                  <a:pt x="23247" y="108972"/>
                  <a:pt x="47625" y="113437"/>
                </a:cubicBezTo>
                <a:lnTo>
                  <a:pt x="47625" y="123825"/>
                </a:lnTo>
                <a:lnTo>
                  <a:pt x="38100" y="123825"/>
                </a:lnTo>
                <a:cubicBezTo>
                  <a:pt x="32831" y="123825"/>
                  <a:pt x="28575" y="128081"/>
                  <a:pt x="28575" y="133350"/>
                </a:cubicBezTo>
                <a:cubicBezTo>
                  <a:pt x="28575" y="138619"/>
                  <a:pt x="32831" y="142875"/>
                  <a:pt x="38100" y="142875"/>
                </a:cubicBezTo>
                <a:lnTo>
                  <a:pt x="47625" y="142875"/>
                </a:lnTo>
                <a:lnTo>
                  <a:pt x="47625" y="152400"/>
                </a:lnTo>
                <a:cubicBezTo>
                  <a:pt x="47625" y="157669"/>
                  <a:pt x="51881" y="161925"/>
                  <a:pt x="57150" y="161925"/>
                </a:cubicBezTo>
                <a:cubicBezTo>
                  <a:pt x="62419" y="161925"/>
                  <a:pt x="66675" y="157669"/>
                  <a:pt x="66675" y="152400"/>
                </a:cubicBezTo>
                <a:lnTo>
                  <a:pt x="66675" y="142875"/>
                </a:lnTo>
                <a:lnTo>
                  <a:pt x="76200" y="142875"/>
                </a:lnTo>
                <a:cubicBezTo>
                  <a:pt x="81469" y="142875"/>
                  <a:pt x="85725" y="138619"/>
                  <a:pt x="85725" y="133350"/>
                </a:cubicBezTo>
                <a:cubicBezTo>
                  <a:pt x="85725" y="128081"/>
                  <a:pt x="81469" y="123825"/>
                  <a:pt x="76200" y="123825"/>
                </a:cubicBezTo>
                <a:lnTo>
                  <a:pt x="66675" y="123825"/>
                </a:lnTo>
                <a:lnTo>
                  <a:pt x="66675" y="113437"/>
                </a:lnTo>
                <a:cubicBezTo>
                  <a:pt x="73610" y="112157"/>
                  <a:pt x="80040" y="109537"/>
                  <a:pt x="85725" y="105817"/>
                </a:cubicBezTo>
                <a:cubicBezTo>
                  <a:pt x="93940" y="111175"/>
                  <a:pt x="103763" y="114300"/>
                  <a:pt x="114300" y="114300"/>
                </a:cubicBezTo>
                <a:cubicBezTo>
                  <a:pt x="143232" y="114300"/>
                  <a:pt x="166688" y="90845"/>
                  <a:pt x="166688" y="61912"/>
                </a:cubicBezTo>
                <a:cubicBezTo>
                  <a:pt x="166688" y="49679"/>
                  <a:pt x="162491" y="38398"/>
                  <a:pt x="155436" y="29468"/>
                </a:cubicBezTo>
                <a:lnTo>
                  <a:pt x="171450" y="13484"/>
                </a:lnTo>
                <a:lnTo>
                  <a:pt x="171450" y="28575"/>
                </a:lnTo>
                <a:cubicBezTo>
                  <a:pt x="171450" y="33844"/>
                  <a:pt x="175706" y="38100"/>
                  <a:pt x="180975" y="38100"/>
                </a:cubicBezTo>
                <a:cubicBezTo>
                  <a:pt x="186244" y="38100"/>
                  <a:pt x="190500" y="33844"/>
                  <a:pt x="190500" y="28575"/>
                </a:cubicBezTo>
                <a:lnTo>
                  <a:pt x="190500" y="-9525"/>
                </a:lnTo>
                <a:cubicBezTo>
                  <a:pt x="190500" y="-14794"/>
                  <a:pt x="186244" y="-19050"/>
                  <a:pt x="180975" y="-19050"/>
                </a:cubicBezTo>
                <a:lnTo>
                  <a:pt x="142875" y="-19050"/>
                </a:lnTo>
                <a:close/>
                <a:moveTo>
                  <a:pt x="100013" y="92035"/>
                </a:moveTo>
                <a:cubicBezTo>
                  <a:pt x="106025" y="83522"/>
                  <a:pt x="109537" y="73134"/>
                  <a:pt x="109537" y="61912"/>
                </a:cubicBezTo>
                <a:cubicBezTo>
                  <a:pt x="109537" y="50691"/>
                  <a:pt x="106025" y="40303"/>
                  <a:pt x="100013" y="31790"/>
                </a:cubicBezTo>
                <a:cubicBezTo>
                  <a:pt x="104358" y="29736"/>
                  <a:pt x="109180" y="28575"/>
                  <a:pt x="114300" y="28575"/>
                </a:cubicBezTo>
                <a:cubicBezTo>
                  <a:pt x="132725" y="28575"/>
                  <a:pt x="147638" y="43488"/>
                  <a:pt x="147638" y="61912"/>
                </a:cubicBezTo>
                <a:cubicBezTo>
                  <a:pt x="147638" y="80337"/>
                  <a:pt x="132725" y="95250"/>
                  <a:pt x="114300" y="95250"/>
                </a:cubicBezTo>
                <a:cubicBezTo>
                  <a:pt x="109180" y="95250"/>
                  <a:pt x="104329" y="94089"/>
                  <a:pt x="100013" y="92035"/>
                </a:cubicBezTo>
                <a:close/>
                <a:moveTo>
                  <a:pt x="85725" y="44738"/>
                </a:moveTo>
                <a:cubicBezTo>
                  <a:pt x="88761" y="49768"/>
                  <a:pt x="90488" y="55632"/>
                  <a:pt x="90488" y="61912"/>
                </a:cubicBezTo>
                <a:cubicBezTo>
                  <a:pt x="90488" y="68193"/>
                  <a:pt x="88761" y="74087"/>
                  <a:pt x="85725" y="79087"/>
                </a:cubicBezTo>
                <a:cubicBezTo>
                  <a:pt x="82689" y="74057"/>
                  <a:pt x="80962" y="68193"/>
                  <a:pt x="80962" y="61912"/>
                </a:cubicBezTo>
                <a:cubicBezTo>
                  <a:pt x="80962" y="55632"/>
                  <a:pt x="82689" y="49738"/>
                  <a:pt x="85725" y="44738"/>
                </a:cubicBezTo>
                <a:close/>
                <a:moveTo>
                  <a:pt x="71438" y="31790"/>
                </a:moveTo>
                <a:cubicBezTo>
                  <a:pt x="65425" y="40303"/>
                  <a:pt x="61912" y="50691"/>
                  <a:pt x="61912" y="61912"/>
                </a:cubicBezTo>
                <a:cubicBezTo>
                  <a:pt x="61912" y="73134"/>
                  <a:pt x="65425" y="83522"/>
                  <a:pt x="71438" y="92035"/>
                </a:cubicBezTo>
                <a:cubicBezTo>
                  <a:pt x="67121" y="94089"/>
                  <a:pt x="62270" y="95250"/>
                  <a:pt x="57150" y="95250"/>
                </a:cubicBezTo>
                <a:cubicBezTo>
                  <a:pt x="38725" y="95250"/>
                  <a:pt x="23813" y="80337"/>
                  <a:pt x="23813" y="61912"/>
                </a:cubicBezTo>
                <a:cubicBezTo>
                  <a:pt x="23813" y="43488"/>
                  <a:pt x="38725" y="28575"/>
                  <a:pt x="57150" y="28575"/>
                </a:cubicBezTo>
                <a:cubicBezTo>
                  <a:pt x="62270" y="28575"/>
                  <a:pt x="67121" y="29736"/>
                  <a:pt x="71438" y="31790"/>
                </a:cubicBezTo>
                <a:close/>
              </a:path>
            </a:pathLst>
          </a:custGeom>
          <a:solidFill>
            <a:srgbClr val="2E5A4C"/>
          </a:solidFill>
          <a:ln/>
        </p:spPr>
      </p:sp>
      <p:sp>
        <p:nvSpPr>
          <p:cNvPr id="15" name="Text 13"/>
          <p:cNvSpPr/>
          <p:nvPr/>
        </p:nvSpPr>
        <p:spPr>
          <a:xfrm>
            <a:off x="3619500" y="2414588"/>
            <a:ext cx="1457325" cy="228600"/>
          </a:xfrm>
          <a:prstGeom prst="rect">
            <a:avLst/>
          </a:prstGeom>
          <a:noFill/>
          <a:ln/>
        </p:spPr>
        <p:txBody>
          <a:bodyPr wrap="square" lIns="0" tIns="0" rIns="0" bIns="0" rtlCol="0" anchor="ctr"/>
          <a:lstStyle/>
          <a:p>
            <a:pP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Gender</a:t>
            </a:r>
            <a:pPr>
              <a:lnSpc>
                <a:spcPct val="130000"/>
              </a:lnSpc>
            </a:pPr>
            <a:r>
              <a:rPr lang="en-US" sz="1200" dirty="0">
                <a:solidFill>
                  <a:srgbClr val="2C3E50"/>
                </a:solidFill>
                <a:latin typeface="Quattrocento Sans" pitchFamily="34" charset="0"/>
                <a:ea typeface="Quattrocento Sans" pitchFamily="34" charset="-122"/>
                <a:cs typeface="Quattrocento Sans" pitchFamily="34" charset="-120"/>
              </a:rPr>
              <a:t> Classification</a:t>
            </a:r>
            <a:endParaRPr lang="en-US" sz="1600" dirty="0"/>
          </a:p>
        </p:txBody>
      </p:sp>
      <p:sp>
        <p:nvSpPr>
          <p:cNvPr id="16" name="Shape 14"/>
          <p:cNvSpPr/>
          <p:nvPr/>
        </p:nvSpPr>
        <p:spPr>
          <a:xfrm>
            <a:off x="571500" y="3000375"/>
            <a:ext cx="2552700" cy="714375"/>
          </a:xfrm>
          <a:custGeom>
            <a:avLst/>
            <a:gdLst/>
            <a:ahLst/>
            <a:cxnLst/>
            <a:rect l="l" t="t" r="r" b="b"/>
            <a:pathLst>
              <a:path w="2552700" h="714375">
                <a:moveTo>
                  <a:pt x="76202" y="0"/>
                </a:moveTo>
                <a:lnTo>
                  <a:pt x="2476498" y="0"/>
                </a:lnTo>
                <a:cubicBezTo>
                  <a:pt x="2518583" y="0"/>
                  <a:pt x="2552700" y="34117"/>
                  <a:pt x="2552700" y="76202"/>
                </a:cubicBezTo>
                <a:lnTo>
                  <a:pt x="2552700" y="638173"/>
                </a:lnTo>
                <a:cubicBezTo>
                  <a:pt x="2552700" y="680258"/>
                  <a:pt x="2518583" y="714375"/>
                  <a:pt x="2476498" y="714375"/>
                </a:cubicBezTo>
                <a:lnTo>
                  <a:pt x="76202" y="714375"/>
                </a:lnTo>
                <a:cubicBezTo>
                  <a:pt x="34117" y="714375"/>
                  <a:pt x="0" y="680258"/>
                  <a:pt x="0" y="638173"/>
                </a:cubicBezTo>
                <a:lnTo>
                  <a:pt x="0" y="76202"/>
                </a:lnTo>
                <a:cubicBezTo>
                  <a:pt x="0" y="34145"/>
                  <a:pt x="34145" y="0"/>
                  <a:pt x="76202" y="0"/>
                </a:cubicBezTo>
                <a:close/>
              </a:path>
            </a:pathLst>
          </a:custGeom>
          <a:solidFill>
            <a:srgbClr val="2E5A4C">
              <a:alpha val="5098"/>
            </a:srgbClr>
          </a:solidFill>
          <a:ln/>
        </p:spPr>
      </p:sp>
      <p:sp>
        <p:nvSpPr>
          <p:cNvPr id="17" name="Shape 15"/>
          <p:cNvSpPr/>
          <p:nvPr/>
        </p:nvSpPr>
        <p:spPr>
          <a:xfrm>
            <a:off x="723900" y="3281363"/>
            <a:ext cx="114300" cy="152400"/>
          </a:xfrm>
          <a:custGeom>
            <a:avLst/>
            <a:gdLst/>
            <a:ahLst/>
            <a:cxnLst/>
            <a:rect l="l" t="t" r="r" b="b"/>
            <a:pathLst>
              <a:path w="114300" h="152400">
                <a:moveTo>
                  <a:pt x="0" y="56138"/>
                </a:moveTo>
                <a:cubicBezTo>
                  <a:pt x="0" y="25122"/>
                  <a:pt x="25598" y="0"/>
                  <a:pt x="57150" y="0"/>
                </a:cubicBezTo>
                <a:cubicBezTo>
                  <a:pt x="88702" y="0"/>
                  <a:pt x="114300" y="25122"/>
                  <a:pt x="114300" y="56138"/>
                </a:cubicBezTo>
                <a:cubicBezTo>
                  <a:pt x="114300" y="91648"/>
                  <a:pt x="78522" y="134213"/>
                  <a:pt x="63579" y="150435"/>
                </a:cubicBezTo>
                <a:cubicBezTo>
                  <a:pt x="60067" y="154245"/>
                  <a:pt x="54203" y="154245"/>
                  <a:pt x="50691" y="150435"/>
                </a:cubicBezTo>
                <a:cubicBezTo>
                  <a:pt x="35749" y="134213"/>
                  <a:pt x="-30" y="91648"/>
                  <a:pt x="-30" y="56138"/>
                </a:cubicBezTo>
                <a:close/>
                <a:moveTo>
                  <a:pt x="57150" y="76200"/>
                </a:moveTo>
                <a:cubicBezTo>
                  <a:pt x="67664" y="76200"/>
                  <a:pt x="76200" y="67664"/>
                  <a:pt x="76200" y="57150"/>
                </a:cubicBezTo>
                <a:cubicBezTo>
                  <a:pt x="76200" y="46636"/>
                  <a:pt x="67664" y="38100"/>
                  <a:pt x="57150" y="38100"/>
                </a:cubicBezTo>
                <a:cubicBezTo>
                  <a:pt x="46636" y="38100"/>
                  <a:pt x="38100" y="46636"/>
                  <a:pt x="38100" y="57150"/>
                </a:cubicBezTo>
                <a:cubicBezTo>
                  <a:pt x="38100" y="67664"/>
                  <a:pt x="46636" y="76200"/>
                  <a:pt x="57150" y="76200"/>
                </a:cubicBezTo>
                <a:close/>
              </a:path>
            </a:pathLst>
          </a:custGeom>
          <a:solidFill>
            <a:srgbClr val="2E5A4C"/>
          </a:solidFill>
          <a:ln/>
        </p:spPr>
      </p:sp>
      <p:sp>
        <p:nvSpPr>
          <p:cNvPr id="18" name="Text 16"/>
          <p:cNvSpPr/>
          <p:nvPr/>
        </p:nvSpPr>
        <p:spPr>
          <a:xfrm>
            <a:off x="952500" y="3243263"/>
            <a:ext cx="981075" cy="228600"/>
          </a:xfrm>
          <a:prstGeom prst="rect">
            <a:avLst/>
          </a:prstGeom>
          <a:noFill/>
          <a:ln/>
        </p:spPr>
        <p:txBody>
          <a:bodyPr wrap="square" lIns="0" tIns="0" rIns="0" bIns="0" rtlCol="0" anchor="ctr"/>
          <a:lstStyle/>
          <a:p>
            <a:pP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Location</a:t>
            </a:r>
            <a:pPr>
              <a:lnSpc>
                <a:spcPct val="130000"/>
              </a:lnSpc>
            </a:pPr>
            <a:r>
              <a:rPr lang="en-US" sz="1200" dirty="0">
                <a:solidFill>
                  <a:srgbClr val="2C3E50"/>
                </a:solidFill>
                <a:latin typeface="Quattrocento Sans" pitchFamily="34" charset="0"/>
                <a:ea typeface="Quattrocento Sans" pitchFamily="34" charset="-122"/>
                <a:cs typeface="Quattrocento Sans" pitchFamily="34" charset="-120"/>
              </a:rPr>
              <a:t> Data</a:t>
            </a:r>
            <a:endParaRPr lang="en-US" sz="1600" dirty="0"/>
          </a:p>
        </p:txBody>
      </p:sp>
      <p:sp>
        <p:nvSpPr>
          <p:cNvPr id="19" name="Shape 17"/>
          <p:cNvSpPr/>
          <p:nvPr/>
        </p:nvSpPr>
        <p:spPr>
          <a:xfrm>
            <a:off x="3238500" y="3000375"/>
            <a:ext cx="2552700" cy="714375"/>
          </a:xfrm>
          <a:custGeom>
            <a:avLst/>
            <a:gdLst/>
            <a:ahLst/>
            <a:cxnLst/>
            <a:rect l="l" t="t" r="r" b="b"/>
            <a:pathLst>
              <a:path w="2552700" h="714375">
                <a:moveTo>
                  <a:pt x="76202" y="0"/>
                </a:moveTo>
                <a:lnTo>
                  <a:pt x="2476498" y="0"/>
                </a:lnTo>
                <a:cubicBezTo>
                  <a:pt x="2518583" y="0"/>
                  <a:pt x="2552700" y="34117"/>
                  <a:pt x="2552700" y="76202"/>
                </a:cubicBezTo>
                <a:lnTo>
                  <a:pt x="2552700" y="638173"/>
                </a:lnTo>
                <a:cubicBezTo>
                  <a:pt x="2552700" y="680258"/>
                  <a:pt x="2518583" y="714375"/>
                  <a:pt x="2476498" y="714375"/>
                </a:cubicBezTo>
                <a:lnTo>
                  <a:pt x="76202" y="714375"/>
                </a:lnTo>
                <a:cubicBezTo>
                  <a:pt x="34117" y="714375"/>
                  <a:pt x="0" y="680258"/>
                  <a:pt x="0" y="638173"/>
                </a:cubicBezTo>
                <a:lnTo>
                  <a:pt x="0" y="76202"/>
                </a:lnTo>
                <a:cubicBezTo>
                  <a:pt x="0" y="34145"/>
                  <a:pt x="34145" y="0"/>
                  <a:pt x="76202" y="0"/>
                </a:cubicBezTo>
                <a:close/>
              </a:path>
            </a:pathLst>
          </a:custGeom>
          <a:solidFill>
            <a:srgbClr val="2E5A4C">
              <a:alpha val="5098"/>
            </a:srgbClr>
          </a:solidFill>
          <a:ln/>
        </p:spPr>
      </p:sp>
      <p:sp>
        <p:nvSpPr>
          <p:cNvPr id="20" name="Shape 18"/>
          <p:cNvSpPr/>
          <p:nvPr/>
        </p:nvSpPr>
        <p:spPr>
          <a:xfrm>
            <a:off x="3362325" y="3281363"/>
            <a:ext cx="171450" cy="152400"/>
          </a:xfrm>
          <a:custGeom>
            <a:avLst/>
            <a:gdLst/>
            <a:ahLst/>
            <a:cxnLst/>
            <a:rect l="l" t="t" r="r" b="b"/>
            <a:pathLst>
              <a:path w="171450" h="152400">
                <a:moveTo>
                  <a:pt x="93166" y="25956"/>
                </a:moveTo>
                <a:cubicBezTo>
                  <a:pt x="95905" y="23783"/>
                  <a:pt x="97631" y="20419"/>
                  <a:pt x="97631" y="16669"/>
                </a:cubicBezTo>
                <a:cubicBezTo>
                  <a:pt x="97631" y="10091"/>
                  <a:pt x="92303" y="4763"/>
                  <a:pt x="85725" y="4763"/>
                </a:cubicBezTo>
                <a:cubicBezTo>
                  <a:pt x="79147" y="4763"/>
                  <a:pt x="73819" y="10091"/>
                  <a:pt x="73819" y="16669"/>
                </a:cubicBezTo>
                <a:cubicBezTo>
                  <a:pt x="73819" y="20419"/>
                  <a:pt x="75575" y="23783"/>
                  <a:pt x="78284" y="25956"/>
                </a:cubicBezTo>
                <a:lnTo>
                  <a:pt x="57924" y="57983"/>
                </a:lnTo>
                <a:cubicBezTo>
                  <a:pt x="54947" y="62657"/>
                  <a:pt x="48607" y="63818"/>
                  <a:pt x="44172" y="60484"/>
                </a:cubicBezTo>
                <a:lnTo>
                  <a:pt x="26462" y="47238"/>
                </a:lnTo>
                <a:cubicBezTo>
                  <a:pt x="27801" y="45333"/>
                  <a:pt x="28575" y="42982"/>
                  <a:pt x="28575" y="40481"/>
                </a:cubicBezTo>
                <a:cubicBezTo>
                  <a:pt x="28575" y="33903"/>
                  <a:pt x="23247" y="28575"/>
                  <a:pt x="16669" y="28575"/>
                </a:cubicBezTo>
                <a:cubicBezTo>
                  <a:pt x="10091" y="28575"/>
                  <a:pt x="4763" y="33903"/>
                  <a:pt x="4763" y="40481"/>
                </a:cubicBezTo>
                <a:cubicBezTo>
                  <a:pt x="4763" y="46970"/>
                  <a:pt x="9971" y="52268"/>
                  <a:pt x="16431" y="52388"/>
                </a:cubicBezTo>
                <a:lnTo>
                  <a:pt x="26134" y="117128"/>
                </a:lnTo>
                <a:cubicBezTo>
                  <a:pt x="27533" y="126444"/>
                  <a:pt x="35540" y="133350"/>
                  <a:pt x="44976" y="133350"/>
                </a:cubicBezTo>
                <a:lnTo>
                  <a:pt x="126474" y="133350"/>
                </a:lnTo>
                <a:cubicBezTo>
                  <a:pt x="135910" y="133350"/>
                  <a:pt x="143917" y="126444"/>
                  <a:pt x="145316" y="117128"/>
                </a:cubicBezTo>
                <a:lnTo>
                  <a:pt x="155019" y="52388"/>
                </a:lnTo>
                <a:cubicBezTo>
                  <a:pt x="161479" y="52268"/>
                  <a:pt x="166688" y="46970"/>
                  <a:pt x="166688" y="40481"/>
                </a:cubicBezTo>
                <a:cubicBezTo>
                  <a:pt x="166688" y="33903"/>
                  <a:pt x="161359" y="28575"/>
                  <a:pt x="154781" y="28575"/>
                </a:cubicBezTo>
                <a:cubicBezTo>
                  <a:pt x="148203" y="28575"/>
                  <a:pt x="142875" y="33903"/>
                  <a:pt x="142875" y="40481"/>
                </a:cubicBezTo>
                <a:cubicBezTo>
                  <a:pt x="142875" y="42982"/>
                  <a:pt x="143649" y="45333"/>
                  <a:pt x="144988" y="47238"/>
                </a:cubicBezTo>
                <a:lnTo>
                  <a:pt x="127308" y="60514"/>
                </a:lnTo>
                <a:cubicBezTo>
                  <a:pt x="122873" y="63847"/>
                  <a:pt x="116532" y="62686"/>
                  <a:pt x="113556" y="58013"/>
                </a:cubicBezTo>
                <a:lnTo>
                  <a:pt x="93166" y="25956"/>
                </a:lnTo>
                <a:close/>
              </a:path>
            </a:pathLst>
          </a:custGeom>
          <a:solidFill>
            <a:srgbClr val="2E5A4C"/>
          </a:solidFill>
          <a:ln/>
        </p:spPr>
      </p:sp>
      <p:sp>
        <p:nvSpPr>
          <p:cNvPr id="21" name="Text 19"/>
          <p:cNvSpPr/>
          <p:nvPr/>
        </p:nvSpPr>
        <p:spPr>
          <a:xfrm>
            <a:off x="3619500" y="3243263"/>
            <a:ext cx="1343025" cy="228600"/>
          </a:xfrm>
          <a:prstGeom prst="rect">
            <a:avLst/>
          </a:prstGeom>
          <a:noFill/>
          <a:ln/>
        </p:spPr>
        <p:txBody>
          <a:bodyPr wrap="square" lIns="0" tIns="0" rIns="0" bIns="0" rtlCol="0" anchor="ctr"/>
          <a:lstStyle/>
          <a:p>
            <a:pP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Subscription</a:t>
            </a:r>
            <a:pPr>
              <a:lnSpc>
                <a:spcPct val="130000"/>
              </a:lnSpc>
            </a:pPr>
            <a:r>
              <a:rPr lang="en-US" sz="1200" dirty="0">
                <a:solidFill>
                  <a:srgbClr val="2C3E50"/>
                </a:solidFill>
                <a:latin typeface="Quattrocento Sans" pitchFamily="34" charset="0"/>
                <a:ea typeface="Quattrocento Sans" pitchFamily="34" charset="-122"/>
                <a:cs typeface="Quattrocento Sans" pitchFamily="34" charset="-120"/>
              </a:rPr>
              <a:t> Status</a:t>
            </a:r>
            <a:endParaRPr lang="en-US" sz="1600" dirty="0"/>
          </a:p>
        </p:txBody>
      </p:sp>
      <p:sp>
        <p:nvSpPr>
          <p:cNvPr id="22" name="Shape 20"/>
          <p:cNvSpPr/>
          <p:nvPr/>
        </p:nvSpPr>
        <p:spPr>
          <a:xfrm>
            <a:off x="381000" y="4057650"/>
            <a:ext cx="5600700" cy="2419350"/>
          </a:xfrm>
          <a:custGeom>
            <a:avLst/>
            <a:gdLst/>
            <a:ahLst/>
            <a:cxnLst/>
            <a:rect l="l" t="t" r="r" b="b"/>
            <a:pathLst>
              <a:path w="5600700" h="2419350">
                <a:moveTo>
                  <a:pt x="114290" y="0"/>
                </a:moveTo>
                <a:lnTo>
                  <a:pt x="5486410" y="0"/>
                </a:lnTo>
                <a:cubicBezTo>
                  <a:pt x="5549531" y="0"/>
                  <a:pt x="5600700" y="51169"/>
                  <a:pt x="5600700" y="114290"/>
                </a:cubicBezTo>
                <a:lnTo>
                  <a:pt x="5600700" y="2305060"/>
                </a:lnTo>
                <a:cubicBezTo>
                  <a:pt x="5600700" y="2368181"/>
                  <a:pt x="5549531" y="2419350"/>
                  <a:pt x="5486410" y="2419350"/>
                </a:cubicBezTo>
                <a:lnTo>
                  <a:pt x="114290" y="2419350"/>
                </a:lnTo>
                <a:cubicBezTo>
                  <a:pt x="51169" y="2419350"/>
                  <a:pt x="0" y="2368181"/>
                  <a:pt x="0" y="2305060"/>
                </a:cubicBezTo>
                <a:lnTo>
                  <a:pt x="0" y="114290"/>
                </a:lnTo>
                <a:cubicBezTo>
                  <a:pt x="0" y="51212"/>
                  <a:pt x="51212" y="0"/>
                  <a:pt x="114290"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23" name="Shape 21"/>
          <p:cNvSpPr/>
          <p:nvPr/>
        </p:nvSpPr>
        <p:spPr>
          <a:xfrm>
            <a:off x="571500" y="42481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D4A574"/>
          </a:solidFill>
          <a:ln/>
        </p:spPr>
      </p:sp>
      <p:sp>
        <p:nvSpPr>
          <p:cNvPr id="24" name="Shape 22"/>
          <p:cNvSpPr/>
          <p:nvPr/>
        </p:nvSpPr>
        <p:spPr>
          <a:xfrm>
            <a:off x="666750" y="4362450"/>
            <a:ext cx="190500" cy="152400"/>
          </a:xfrm>
          <a:custGeom>
            <a:avLst/>
            <a:gdLst/>
            <a:ahLst/>
            <a:cxnLst/>
            <a:rect l="l" t="t" r="r" b="b"/>
            <a:pathLst>
              <a:path w="190500" h="152400">
                <a:moveTo>
                  <a:pt x="7144" y="-4762"/>
                </a:moveTo>
                <a:cubicBezTo>
                  <a:pt x="3185" y="-4762"/>
                  <a:pt x="0" y="-1578"/>
                  <a:pt x="0" y="2381"/>
                </a:cubicBezTo>
                <a:cubicBezTo>
                  <a:pt x="0" y="6340"/>
                  <a:pt x="3185" y="9525"/>
                  <a:pt x="7144" y="9525"/>
                </a:cubicBezTo>
                <a:lnTo>
                  <a:pt x="20628" y="9525"/>
                </a:lnTo>
                <a:cubicBezTo>
                  <a:pt x="21788" y="9525"/>
                  <a:pt x="22771" y="10358"/>
                  <a:pt x="22979" y="11490"/>
                </a:cubicBezTo>
                <a:lnTo>
                  <a:pt x="38487" y="96709"/>
                </a:lnTo>
                <a:cubicBezTo>
                  <a:pt x="40332" y="106888"/>
                  <a:pt x="49203" y="114300"/>
                  <a:pt x="59561" y="114300"/>
                </a:cubicBezTo>
                <a:lnTo>
                  <a:pt x="135731" y="114300"/>
                </a:lnTo>
                <a:cubicBezTo>
                  <a:pt x="139690" y="114300"/>
                  <a:pt x="142875" y="111115"/>
                  <a:pt x="142875" y="107156"/>
                </a:cubicBezTo>
                <a:cubicBezTo>
                  <a:pt x="142875" y="103197"/>
                  <a:pt x="139690" y="100013"/>
                  <a:pt x="135731" y="100013"/>
                </a:cubicBezTo>
                <a:lnTo>
                  <a:pt x="59561" y="100013"/>
                </a:lnTo>
                <a:cubicBezTo>
                  <a:pt x="56108" y="100013"/>
                  <a:pt x="53161" y="97542"/>
                  <a:pt x="52536" y="94149"/>
                </a:cubicBezTo>
                <a:lnTo>
                  <a:pt x="51018" y="85725"/>
                </a:lnTo>
                <a:lnTo>
                  <a:pt x="141387" y="85725"/>
                </a:lnTo>
                <a:cubicBezTo>
                  <a:pt x="150555" y="85725"/>
                  <a:pt x="158413" y="79206"/>
                  <a:pt x="160109" y="70187"/>
                </a:cubicBezTo>
                <a:lnTo>
                  <a:pt x="169337" y="20806"/>
                </a:lnTo>
                <a:cubicBezTo>
                  <a:pt x="170438" y="14942"/>
                  <a:pt x="165943" y="9525"/>
                  <a:pt x="159960" y="9525"/>
                </a:cubicBezTo>
                <a:lnTo>
                  <a:pt x="37118" y="9525"/>
                </a:lnTo>
                <a:lnTo>
                  <a:pt x="36999" y="8930"/>
                </a:lnTo>
                <a:cubicBezTo>
                  <a:pt x="35570" y="1012"/>
                  <a:pt x="28664" y="-4762"/>
                  <a:pt x="20598" y="-4762"/>
                </a:cubicBezTo>
                <a:lnTo>
                  <a:pt x="7144" y="-4762"/>
                </a:lnTo>
                <a:close/>
                <a:moveTo>
                  <a:pt x="61912" y="152400"/>
                </a:moveTo>
                <a:cubicBezTo>
                  <a:pt x="69798" y="152400"/>
                  <a:pt x="76200" y="145998"/>
                  <a:pt x="76200" y="138113"/>
                </a:cubicBezTo>
                <a:cubicBezTo>
                  <a:pt x="76200" y="130227"/>
                  <a:pt x="69798" y="123825"/>
                  <a:pt x="61912" y="123825"/>
                </a:cubicBezTo>
                <a:cubicBezTo>
                  <a:pt x="54027" y="123825"/>
                  <a:pt x="47625" y="130227"/>
                  <a:pt x="47625" y="138113"/>
                </a:cubicBezTo>
                <a:cubicBezTo>
                  <a:pt x="47625" y="145998"/>
                  <a:pt x="54027" y="152400"/>
                  <a:pt x="61912" y="152400"/>
                </a:cubicBezTo>
                <a:close/>
                <a:moveTo>
                  <a:pt x="128588" y="152400"/>
                </a:moveTo>
                <a:cubicBezTo>
                  <a:pt x="136473" y="152400"/>
                  <a:pt x="142875" y="145998"/>
                  <a:pt x="142875" y="138113"/>
                </a:cubicBezTo>
                <a:cubicBezTo>
                  <a:pt x="142875" y="130227"/>
                  <a:pt x="136473" y="123825"/>
                  <a:pt x="128588" y="123825"/>
                </a:cubicBezTo>
                <a:cubicBezTo>
                  <a:pt x="120702" y="123825"/>
                  <a:pt x="114300" y="130227"/>
                  <a:pt x="114300" y="138113"/>
                </a:cubicBezTo>
                <a:cubicBezTo>
                  <a:pt x="114300" y="145998"/>
                  <a:pt x="120702" y="152400"/>
                  <a:pt x="128588" y="152400"/>
                </a:cubicBezTo>
                <a:close/>
              </a:path>
            </a:pathLst>
          </a:custGeom>
          <a:solidFill>
            <a:srgbClr val="FFFFFF"/>
          </a:solidFill>
          <a:ln/>
        </p:spPr>
      </p:sp>
      <p:sp>
        <p:nvSpPr>
          <p:cNvPr id="25" name="Text 23"/>
          <p:cNvSpPr/>
          <p:nvPr/>
        </p:nvSpPr>
        <p:spPr>
          <a:xfrm>
            <a:off x="1066800" y="4305300"/>
            <a:ext cx="1495425" cy="266700"/>
          </a:xfrm>
          <a:prstGeom prst="rect">
            <a:avLst/>
          </a:prstGeom>
          <a:noFill/>
          <a:ln/>
        </p:spPr>
        <p:txBody>
          <a:bodyPr wrap="square" lIns="0" tIns="0" rIns="0" bIns="0" rtlCol="0" anchor="ctr"/>
          <a:lstStyle/>
          <a:p>
            <a:pPr>
              <a:lnSpc>
                <a:spcPct val="120000"/>
              </a:lnSpc>
            </a:pPr>
            <a:r>
              <a:rPr lang="en-US" sz="1500" b="1" dirty="0">
                <a:solidFill>
                  <a:srgbClr val="2E5A4C"/>
                </a:solidFill>
                <a:latin typeface="Liter" pitchFamily="34" charset="0"/>
                <a:ea typeface="Liter" pitchFamily="34" charset="-122"/>
                <a:cs typeface="Liter" pitchFamily="34" charset="-120"/>
              </a:rPr>
              <a:t>Purchase Details</a:t>
            </a:r>
            <a:endParaRPr lang="en-US" sz="1600" dirty="0"/>
          </a:p>
        </p:txBody>
      </p:sp>
      <p:sp>
        <p:nvSpPr>
          <p:cNvPr id="26" name="Shape 24"/>
          <p:cNvSpPr/>
          <p:nvPr/>
        </p:nvSpPr>
        <p:spPr>
          <a:xfrm>
            <a:off x="571500" y="4757738"/>
            <a:ext cx="1666875" cy="685800"/>
          </a:xfrm>
          <a:custGeom>
            <a:avLst/>
            <a:gdLst/>
            <a:ahLst/>
            <a:cxnLst/>
            <a:rect l="l" t="t" r="r" b="b"/>
            <a:pathLst>
              <a:path w="1666875" h="685800">
                <a:moveTo>
                  <a:pt x="76199" y="0"/>
                </a:moveTo>
                <a:lnTo>
                  <a:pt x="1590676" y="0"/>
                </a:lnTo>
                <a:cubicBezTo>
                  <a:pt x="1632759" y="0"/>
                  <a:pt x="1666875" y="34116"/>
                  <a:pt x="1666875" y="76199"/>
                </a:cubicBezTo>
                <a:lnTo>
                  <a:pt x="1666875" y="609601"/>
                </a:lnTo>
                <a:cubicBezTo>
                  <a:pt x="1666875" y="651656"/>
                  <a:pt x="1632731" y="685800"/>
                  <a:pt x="1590676" y="685800"/>
                </a:cubicBezTo>
                <a:lnTo>
                  <a:pt x="76199" y="685800"/>
                </a:lnTo>
                <a:cubicBezTo>
                  <a:pt x="34116" y="685800"/>
                  <a:pt x="0" y="651684"/>
                  <a:pt x="0" y="609601"/>
                </a:cubicBezTo>
                <a:lnTo>
                  <a:pt x="0" y="76199"/>
                </a:lnTo>
                <a:cubicBezTo>
                  <a:pt x="0" y="34144"/>
                  <a:pt x="34144" y="0"/>
                  <a:pt x="76199" y="0"/>
                </a:cubicBezTo>
                <a:close/>
              </a:path>
            </a:pathLst>
          </a:custGeom>
          <a:solidFill>
            <a:srgbClr val="D4A574">
              <a:alpha val="10196"/>
            </a:srgbClr>
          </a:solidFill>
          <a:ln/>
        </p:spPr>
      </p:sp>
      <p:sp>
        <p:nvSpPr>
          <p:cNvPr id="27" name="Shape 25"/>
          <p:cNvSpPr/>
          <p:nvPr/>
        </p:nvSpPr>
        <p:spPr>
          <a:xfrm>
            <a:off x="709613" y="4872038"/>
            <a:ext cx="190500" cy="190500"/>
          </a:xfrm>
          <a:custGeom>
            <a:avLst/>
            <a:gdLst/>
            <a:ahLst/>
            <a:cxnLst/>
            <a:rect l="l" t="t" r="r" b="b"/>
            <a:pathLst>
              <a:path w="190500" h="190500">
                <a:moveTo>
                  <a:pt x="12092" y="35719"/>
                </a:moveTo>
                <a:lnTo>
                  <a:pt x="12092" y="91343"/>
                </a:lnTo>
                <a:cubicBezTo>
                  <a:pt x="12092" y="97668"/>
                  <a:pt x="14585" y="103733"/>
                  <a:pt x="19050" y="108198"/>
                </a:cubicBezTo>
                <a:lnTo>
                  <a:pt x="90488" y="179636"/>
                </a:lnTo>
                <a:cubicBezTo>
                  <a:pt x="99789" y="188937"/>
                  <a:pt x="114858" y="188937"/>
                  <a:pt x="124160" y="179636"/>
                </a:cubicBezTo>
                <a:lnTo>
                  <a:pt x="179784" y="124011"/>
                </a:lnTo>
                <a:cubicBezTo>
                  <a:pt x="189086" y="114709"/>
                  <a:pt x="189086" y="99640"/>
                  <a:pt x="179784" y="90339"/>
                </a:cubicBezTo>
                <a:lnTo>
                  <a:pt x="108347" y="18901"/>
                </a:lnTo>
                <a:cubicBezTo>
                  <a:pt x="103882" y="14399"/>
                  <a:pt x="97854" y="11906"/>
                  <a:pt x="91529" y="11906"/>
                </a:cubicBezTo>
                <a:lnTo>
                  <a:pt x="35905" y="11906"/>
                </a:lnTo>
                <a:cubicBezTo>
                  <a:pt x="22771" y="11906"/>
                  <a:pt x="12092" y="22585"/>
                  <a:pt x="12092" y="35719"/>
                </a:cubicBezTo>
                <a:close/>
                <a:moveTo>
                  <a:pt x="53764" y="41672"/>
                </a:moveTo>
                <a:cubicBezTo>
                  <a:pt x="60335" y="41672"/>
                  <a:pt x="65670" y="47007"/>
                  <a:pt x="65670" y="53578"/>
                </a:cubicBezTo>
                <a:cubicBezTo>
                  <a:pt x="65670" y="60149"/>
                  <a:pt x="60335" y="65484"/>
                  <a:pt x="53764" y="65484"/>
                </a:cubicBezTo>
                <a:cubicBezTo>
                  <a:pt x="47193" y="65484"/>
                  <a:pt x="41858" y="60149"/>
                  <a:pt x="41858" y="53578"/>
                </a:cubicBezTo>
                <a:cubicBezTo>
                  <a:pt x="41858" y="47007"/>
                  <a:pt x="47193" y="41672"/>
                  <a:pt x="53764" y="41672"/>
                </a:cubicBezTo>
                <a:close/>
              </a:path>
            </a:pathLst>
          </a:custGeom>
          <a:solidFill>
            <a:srgbClr val="D4A574"/>
          </a:solidFill>
          <a:ln/>
        </p:spPr>
      </p:sp>
      <p:sp>
        <p:nvSpPr>
          <p:cNvPr id="28" name="Text 26"/>
          <p:cNvSpPr/>
          <p:nvPr/>
        </p:nvSpPr>
        <p:spPr>
          <a:xfrm>
            <a:off x="1215628" y="5131117"/>
            <a:ext cx="375285" cy="167640"/>
          </a:xfrm>
          <a:prstGeom prst="rect">
            <a:avLst/>
          </a:prstGeom>
          <a:noFill/>
          <a:ln/>
        </p:spPr>
        <p:txBody>
          <a:bodyPr wrap="square" lIns="0" tIns="0" rIns="0" bIns="0" rtlCol="0" anchor="ctr"/>
          <a:lstStyle/>
          <a:p>
            <a:pPr algn="ct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Item</a:t>
            </a:r>
            <a:endParaRPr lang="en-US" sz="1600" dirty="0"/>
          </a:p>
        </p:txBody>
      </p:sp>
      <p:sp>
        <p:nvSpPr>
          <p:cNvPr id="29" name="Shape 27"/>
          <p:cNvSpPr/>
          <p:nvPr/>
        </p:nvSpPr>
        <p:spPr>
          <a:xfrm>
            <a:off x="2349460" y="4757738"/>
            <a:ext cx="1666875" cy="685800"/>
          </a:xfrm>
          <a:custGeom>
            <a:avLst/>
            <a:gdLst/>
            <a:ahLst/>
            <a:cxnLst/>
            <a:rect l="l" t="t" r="r" b="b"/>
            <a:pathLst>
              <a:path w="1666875" h="685800">
                <a:moveTo>
                  <a:pt x="76199" y="0"/>
                </a:moveTo>
                <a:lnTo>
                  <a:pt x="1590676" y="0"/>
                </a:lnTo>
                <a:cubicBezTo>
                  <a:pt x="1632759" y="0"/>
                  <a:pt x="1666875" y="34116"/>
                  <a:pt x="1666875" y="76199"/>
                </a:cubicBezTo>
                <a:lnTo>
                  <a:pt x="1666875" y="609601"/>
                </a:lnTo>
                <a:cubicBezTo>
                  <a:pt x="1666875" y="651656"/>
                  <a:pt x="1632731" y="685800"/>
                  <a:pt x="1590676" y="685800"/>
                </a:cubicBezTo>
                <a:lnTo>
                  <a:pt x="76199" y="685800"/>
                </a:lnTo>
                <a:cubicBezTo>
                  <a:pt x="34116" y="685800"/>
                  <a:pt x="0" y="651684"/>
                  <a:pt x="0" y="609601"/>
                </a:cubicBezTo>
                <a:lnTo>
                  <a:pt x="0" y="76199"/>
                </a:lnTo>
                <a:cubicBezTo>
                  <a:pt x="0" y="34144"/>
                  <a:pt x="34144" y="0"/>
                  <a:pt x="76199" y="0"/>
                </a:cubicBezTo>
                <a:close/>
              </a:path>
            </a:pathLst>
          </a:custGeom>
          <a:solidFill>
            <a:srgbClr val="D4A574">
              <a:alpha val="10196"/>
            </a:srgbClr>
          </a:solidFill>
          <a:ln/>
        </p:spPr>
      </p:sp>
      <p:sp>
        <p:nvSpPr>
          <p:cNvPr id="30" name="Shape 28"/>
          <p:cNvSpPr/>
          <p:nvPr/>
        </p:nvSpPr>
        <p:spPr>
          <a:xfrm>
            <a:off x="2499479" y="4872038"/>
            <a:ext cx="166688" cy="190500"/>
          </a:xfrm>
          <a:custGeom>
            <a:avLst/>
            <a:gdLst/>
            <a:ahLst/>
            <a:cxnLst/>
            <a:rect l="l" t="t" r="r" b="b"/>
            <a:pathLst>
              <a:path w="166688" h="190500">
                <a:moveTo>
                  <a:pt x="142875" y="35719"/>
                </a:moveTo>
                <a:lnTo>
                  <a:pt x="95250" y="35719"/>
                </a:lnTo>
                <a:lnTo>
                  <a:pt x="95250" y="83344"/>
                </a:lnTo>
                <a:lnTo>
                  <a:pt x="142875" y="83344"/>
                </a:lnTo>
                <a:lnTo>
                  <a:pt x="142875" y="35719"/>
                </a:lnTo>
                <a:close/>
                <a:moveTo>
                  <a:pt x="166688" y="83344"/>
                </a:moveTo>
                <a:lnTo>
                  <a:pt x="166688" y="154781"/>
                </a:lnTo>
                <a:cubicBezTo>
                  <a:pt x="166688" y="167915"/>
                  <a:pt x="156009" y="178594"/>
                  <a:pt x="142875" y="178594"/>
                </a:cubicBezTo>
                <a:lnTo>
                  <a:pt x="23812" y="178594"/>
                </a:lnTo>
                <a:cubicBezTo>
                  <a:pt x="10678" y="178594"/>
                  <a:pt x="0" y="167915"/>
                  <a:pt x="0" y="154781"/>
                </a:cubicBezTo>
                <a:lnTo>
                  <a:pt x="0" y="35719"/>
                </a:lnTo>
                <a:cubicBezTo>
                  <a:pt x="0" y="22585"/>
                  <a:pt x="10678" y="11906"/>
                  <a:pt x="23812" y="11906"/>
                </a:cubicBezTo>
                <a:lnTo>
                  <a:pt x="142875" y="11906"/>
                </a:lnTo>
                <a:cubicBezTo>
                  <a:pt x="156009" y="11906"/>
                  <a:pt x="166688" y="22585"/>
                  <a:pt x="166688" y="35719"/>
                </a:cubicBezTo>
                <a:lnTo>
                  <a:pt x="166688" y="83344"/>
                </a:lnTo>
                <a:close/>
                <a:moveTo>
                  <a:pt x="23812" y="107156"/>
                </a:moveTo>
                <a:lnTo>
                  <a:pt x="23812" y="154781"/>
                </a:lnTo>
                <a:lnTo>
                  <a:pt x="71438" y="154781"/>
                </a:lnTo>
                <a:lnTo>
                  <a:pt x="71438" y="107156"/>
                </a:lnTo>
                <a:lnTo>
                  <a:pt x="23812" y="107156"/>
                </a:lnTo>
                <a:close/>
                <a:moveTo>
                  <a:pt x="71438" y="83344"/>
                </a:moveTo>
                <a:lnTo>
                  <a:pt x="71438" y="35719"/>
                </a:lnTo>
                <a:lnTo>
                  <a:pt x="23812" y="35719"/>
                </a:lnTo>
                <a:lnTo>
                  <a:pt x="23812" y="83344"/>
                </a:lnTo>
                <a:lnTo>
                  <a:pt x="71438" y="83344"/>
                </a:lnTo>
                <a:close/>
                <a:moveTo>
                  <a:pt x="95250" y="107156"/>
                </a:moveTo>
                <a:lnTo>
                  <a:pt x="95250" y="154781"/>
                </a:lnTo>
                <a:lnTo>
                  <a:pt x="142875" y="154781"/>
                </a:lnTo>
                <a:lnTo>
                  <a:pt x="142875" y="107156"/>
                </a:lnTo>
                <a:lnTo>
                  <a:pt x="95250" y="107156"/>
                </a:lnTo>
                <a:close/>
              </a:path>
            </a:pathLst>
          </a:custGeom>
          <a:solidFill>
            <a:srgbClr val="D4A574"/>
          </a:solidFill>
          <a:ln/>
        </p:spPr>
      </p:sp>
      <p:sp>
        <p:nvSpPr>
          <p:cNvPr id="31" name="Text 29"/>
          <p:cNvSpPr/>
          <p:nvPr/>
        </p:nvSpPr>
        <p:spPr>
          <a:xfrm>
            <a:off x="2844760" y="5131117"/>
            <a:ext cx="672941" cy="167640"/>
          </a:xfrm>
          <a:prstGeom prst="rect">
            <a:avLst/>
          </a:prstGeom>
          <a:noFill/>
          <a:ln/>
        </p:spPr>
        <p:txBody>
          <a:bodyPr wrap="square" lIns="0" tIns="0" rIns="0" bIns="0" rtlCol="0" anchor="ctr"/>
          <a:lstStyle/>
          <a:p>
            <a:pPr algn="ct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Category</a:t>
            </a:r>
            <a:endParaRPr lang="en-US" sz="1600" dirty="0"/>
          </a:p>
        </p:txBody>
      </p:sp>
      <p:sp>
        <p:nvSpPr>
          <p:cNvPr id="32" name="Shape 30"/>
          <p:cNvSpPr/>
          <p:nvPr/>
        </p:nvSpPr>
        <p:spPr>
          <a:xfrm>
            <a:off x="4127421" y="4757738"/>
            <a:ext cx="1666875" cy="685800"/>
          </a:xfrm>
          <a:custGeom>
            <a:avLst/>
            <a:gdLst/>
            <a:ahLst/>
            <a:cxnLst/>
            <a:rect l="l" t="t" r="r" b="b"/>
            <a:pathLst>
              <a:path w="1666875" h="685800">
                <a:moveTo>
                  <a:pt x="76199" y="0"/>
                </a:moveTo>
                <a:lnTo>
                  <a:pt x="1590676" y="0"/>
                </a:lnTo>
                <a:cubicBezTo>
                  <a:pt x="1632759" y="0"/>
                  <a:pt x="1666875" y="34116"/>
                  <a:pt x="1666875" y="76199"/>
                </a:cubicBezTo>
                <a:lnTo>
                  <a:pt x="1666875" y="609601"/>
                </a:lnTo>
                <a:cubicBezTo>
                  <a:pt x="1666875" y="651656"/>
                  <a:pt x="1632731" y="685800"/>
                  <a:pt x="1590676" y="685800"/>
                </a:cubicBezTo>
                <a:lnTo>
                  <a:pt x="76199" y="685800"/>
                </a:lnTo>
                <a:cubicBezTo>
                  <a:pt x="34116" y="685800"/>
                  <a:pt x="0" y="651684"/>
                  <a:pt x="0" y="609601"/>
                </a:cubicBezTo>
                <a:lnTo>
                  <a:pt x="0" y="76199"/>
                </a:lnTo>
                <a:cubicBezTo>
                  <a:pt x="0" y="34144"/>
                  <a:pt x="34144" y="0"/>
                  <a:pt x="76199" y="0"/>
                </a:cubicBezTo>
                <a:close/>
              </a:path>
            </a:pathLst>
          </a:custGeom>
          <a:solidFill>
            <a:srgbClr val="D4A574">
              <a:alpha val="10196"/>
            </a:srgbClr>
          </a:solidFill>
          <a:ln/>
        </p:spPr>
      </p:sp>
      <p:sp>
        <p:nvSpPr>
          <p:cNvPr id="33" name="Shape 31"/>
          <p:cNvSpPr/>
          <p:nvPr/>
        </p:nvSpPr>
        <p:spPr>
          <a:xfrm>
            <a:off x="4301252" y="4872038"/>
            <a:ext cx="119063" cy="190500"/>
          </a:xfrm>
          <a:custGeom>
            <a:avLst/>
            <a:gdLst/>
            <a:ahLst/>
            <a:cxnLst/>
            <a:rect l="l" t="t" r="r" b="b"/>
            <a:pathLst>
              <a:path w="119063" h="190500">
                <a:moveTo>
                  <a:pt x="50602" y="8930"/>
                </a:moveTo>
                <a:cubicBezTo>
                  <a:pt x="50602" y="3981"/>
                  <a:pt x="54583" y="0"/>
                  <a:pt x="59531" y="0"/>
                </a:cubicBezTo>
                <a:cubicBezTo>
                  <a:pt x="64480" y="0"/>
                  <a:pt x="68461" y="3981"/>
                  <a:pt x="68461" y="8930"/>
                </a:cubicBezTo>
                <a:lnTo>
                  <a:pt x="68461" y="23812"/>
                </a:lnTo>
                <a:lnTo>
                  <a:pt x="89297" y="23812"/>
                </a:lnTo>
                <a:cubicBezTo>
                  <a:pt x="95883" y="23812"/>
                  <a:pt x="101203" y="29133"/>
                  <a:pt x="101203" y="35719"/>
                </a:cubicBezTo>
                <a:cubicBezTo>
                  <a:pt x="101203" y="42304"/>
                  <a:pt x="95883" y="47625"/>
                  <a:pt x="89297" y="47625"/>
                </a:cubicBezTo>
                <a:lnTo>
                  <a:pt x="46546" y="47625"/>
                </a:lnTo>
                <a:cubicBezTo>
                  <a:pt x="37281" y="47625"/>
                  <a:pt x="29766" y="55141"/>
                  <a:pt x="29766" y="64405"/>
                </a:cubicBezTo>
                <a:cubicBezTo>
                  <a:pt x="29766" y="72777"/>
                  <a:pt x="35905" y="79846"/>
                  <a:pt x="44165" y="81037"/>
                </a:cubicBezTo>
                <a:lnTo>
                  <a:pt x="78246" y="85911"/>
                </a:lnTo>
                <a:cubicBezTo>
                  <a:pt x="98264" y="88776"/>
                  <a:pt x="113109" y="105891"/>
                  <a:pt x="113109" y="126095"/>
                </a:cubicBezTo>
                <a:cubicBezTo>
                  <a:pt x="113109" y="148530"/>
                  <a:pt x="94915" y="166688"/>
                  <a:pt x="72517" y="166688"/>
                </a:cubicBezTo>
                <a:lnTo>
                  <a:pt x="68461" y="166688"/>
                </a:lnTo>
                <a:lnTo>
                  <a:pt x="68461" y="181570"/>
                </a:lnTo>
                <a:cubicBezTo>
                  <a:pt x="68461" y="186519"/>
                  <a:pt x="64480" y="190500"/>
                  <a:pt x="59531" y="190500"/>
                </a:cubicBezTo>
                <a:cubicBezTo>
                  <a:pt x="54583" y="190500"/>
                  <a:pt x="50602" y="186519"/>
                  <a:pt x="50602" y="181570"/>
                </a:cubicBezTo>
                <a:lnTo>
                  <a:pt x="50602" y="166688"/>
                </a:lnTo>
                <a:lnTo>
                  <a:pt x="23812" y="166688"/>
                </a:lnTo>
                <a:cubicBezTo>
                  <a:pt x="17227" y="166688"/>
                  <a:pt x="11906" y="161367"/>
                  <a:pt x="11906" y="154781"/>
                </a:cubicBezTo>
                <a:cubicBezTo>
                  <a:pt x="11906" y="148196"/>
                  <a:pt x="17227" y="142875"/>
                  <a:pt x="23812" y="142875"/>
                </a:cubicBezTo>
                <a:lnTo>
                  <a:pt x="72517" y="142875"/>
                </a:lnTo>
                <a:cubicBezTo>
                  <a:pt x="81781" y="142875"/>
                  <a:pt x="89297" y="135359"/>
                  <a:pt x="89297" y="126095"/>
                </a:cubicBezTo>
                <a:cubicBezTo>
                  <a:pt x="89297" y="117723"/>
                  <a:pt x="83158" y="110654"/>
                  <a:pt x="74898" y="109463"/>
                </a:cubicBezTo>
                <a:lnTo>
                  <a:pt x="40816" y="104589"/>
                </a:lnTo>
                <a:cubicBezTo>
                  <a:pt x="20799" y="101761"/>
                  <a:pt x="5953" y="84609"/>
                  <a:pt x="5953" y="64405"/>
                </a:cubicBezTo>
                <a:cubicBezTo>
                  <a:pt x="5953" y="42007"/>
                  <a:pt x="24147" y="23812"/>
                  <a:pt x="46546" y="23812"/>
                </a:cubicBezTo>
                <a:lnTo>
                  <a:pt x="50602" y="23812"/>
                </a:lnTo>
                <a:lnTo>
                  <a:pt x="50602" y="8930"/>
                </a:lnTo>
                <a:close/>
              </a:path>
            </a:pathLst>
          </a:custGeom>
          <a:solidFill>
            <a:srgbClr val="D4A574"/>
          </a:solidFill>
          <a:ln/>
        </p:spPr>
      </p:sp>
      <p:sp>
        <p:nvSpPr>
          <p:cNvPr id="34" name="Text 32"/>
          <p:cNvSpPr/>
          <p:nvPr/>
        </p:nvSpPr>
        <p:spPr>
          <a:xfrm>
            <a:off x="4657130" y="5131117"/>
            <a:ext cx="604123" cy="167640"/>
          </a:xfrm>
          <a:prstGeom prst="rect">
            <a:avLst/>
          </a:prstGeom>
          <a:noFill/>
          <a:ln/>
        </p:spPr>
        <p:txBody>
          <a:bodyPr wrap="square" lIns="0" tIns="0" rIns="0" bIns="0" rtlCol="0" anchor="ctr"/>
          <a:lstStyle/>
          <a:p>
            <a:pPr algn="ct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Amount</a:t>
            </a:r>
            <a:endParaRPr lang="en-US" sz="1600" dirty="0"/>
          </a:p>
        </p:txBody>
      </p:sp>
      <p:sp>
        <p:nvSpPr>
          <p:cNvPr id="35" name="Shape 33"/>
          <p:cNvSpPr/>
          <p:nvPr/>
        </p:nvSpPr>
        <p:spPr>
          <a:xfrm>
            <a:off x="571500" y="5586413"/>
            <a:ext cx="1666875" cy="685800"/>
          </a:xfrm>
          <a:custGeom>
            <a:avLst/>
            <a:gdLst/>
            <a:ahLst/>
            <a:cxnLst/>
            <a:rect l="l" t="t" r="r" b="b"/>
            <a:pathLst>
              <a:path w="1666875" h="685800">
                <a:moveTo>
                  <a:pt x="76199" y="0"/>
                </a:moveTo>
                <a:lnTo>
                  <a:pt x="1590676" y="0"/>
                </a:lnTo>
                <a:cubicBezTo>
                  <a:pt x="1632759" y="0"/>
                  <a:pt x="1666875" y="34116"/>
                  <a:pt x="1666875" y="76199"/>
                </a:cubicBezTo>
                <a:lnTo>
                  <a:pt x="1666875" y="609601"/>
                </a:lnTo>
                <a:cubicBezTo>
                  <a:pt x="1666875" y="651656"/>
                  <a:pt x="1632731" y="685800"/>
                  <a:pt x="1590676" y="685800"/>
                </a:cubicBezTo>
                <a:lnTo>
                  <a:pt x="76199" y="685800"/>
                </a:lnTo>
                <a:cubicBezTo>
                  <a:pt x="34116" y="685800"/>
                  <a:pt x="0" y="651684"/>
                  <a:pt x="0" y="609601"/>
                </a:cubicBezTo>
                <a:lnTo>
                  <a:pt x="0" y="76199"/>
                </a:lnTo>
                <a:cubicBezTo>
                  <a:pt x="0" y="34144"/>
                  <a:pt x="34144" y="0"/>
                  <a:pt x="76199" y="0"/>
                </a:cubicBezTo>
                <a:close/>
              </a:path>
            </a:pathLst>
          </a:custGeom>
          <a:solidFill>
            <a:srgbClr val="D4A574">
              <a:alpha val="10196"/>
            </a:srgbClr>
          </a:solidFill>
          <a:ln/>
        </p:spPr>
      </p:sp>
      <p:sp>
        <p:nvSpPr>
          <p:cNvPr id="36" name="Shape 34"/>
          <p:cNvSpPr/>
          <p:nvPr/>
        </p:nvSpPr>
        <p:spPr>
          <a:xfrm>
            <a:off x="697706" y="5700713"/>
            <a:ext cx="214313" cy="190500"/>
          </a:xfrm>
          <a:custGeom>
            <a:avLst/>
            <a:gdLst/>
            <a:ahLst/>
            <a:cxnLst/>
            <a:rect l="l" t="t" r="r" b="b"/>
            <a:pathLst>
              <a:path w="214313" h="190500">
                <a:moveTo>
                  <a:pt x="168771" y="-5507"/>
                </a:moveTo>
                <a:cubicBezTo>
                  <a:pt x="170594" y="-4763"/>
                  <a:pt x="171934" y="-3125"/>
                  <a:pt x="172306" y="-1191"/>
                </a:cubicBezTo>
                <a:lnTo>
                  <a:pt x="178594" y="29766"/>
                </a:lnTo>
                <a:lnTo>
                  <a:pt x="209550" y="36016"/>
                </a:lnTo>
                <a:cubicBezTo>
                  <a:pt x="211485" y="36426"/>
                  <a:pt x="213085" y="37728"/>
                  <a:pt x="213866" y="39551"/>
                </a:cubicBezTo>
                <a:cubicBezTo>
                  <a:pt x="214647" y="41374"/>
                  <a:pt x="214424" y="43458"/>
                  <a:pt x="213345" y="45095"/>
                </a:cubicBezTo>
                <a:lnTo>
                  <a:pt x="195895" y="71400"/>
                </a:lnTo>
                <a:lnTo>
                  <a:pt x="213345" y="97706"/>
                </a:lnTo>
                <a:cubicBezTo>
                  <a:pt x="214424" y="99343"/>
                  <a:pt x="214647" y="101426"/>
                  <a:pt x="213866" y="103250"/>
                </a:cubicBezTo>
                <a:cubicBezTo>
                  <a:pt x="213085" y="105073"/>
                  <a:pt x="211485" y="106412"/>
                  <a:pt x="209550" y="106784"/>
                </a:cubicBezTo>
                <a:lnTo>
                  <a:pt x="186407" y="111509"/>
                </a:lnTo>
                <a:cubicBezTo>
                  <a:pt x="181980" y="108272"/>
                  <a:pt x="177068" y="105705"/>
                  <a:pt x="171748" y="103919"/>
                </a:cubicBezTo>
                <a:cubicBezTo>
                  <a:pt x="170817" y="99194"/>
                  <a:pt x="169218" y="94729"/>
                  <a:pt x="167022" y="90636"/>
                </a:cubicBezTo>
                <a:cubicBezTo>
                  <a:pt x="170557" y="85092"/>
                  <a:pt x="172641" y="78507"/>
                  <a:pt x="172641" y="71400"/>
                </a:cubicBezTo>
                <a:cubicBezTo>
                  <a:pt x="172641" y="51681"/>
                  <a:pt x="156642" y="35682"/>
                  <a:pt x="136922" y="35682"/>
                </a:cubicBezTo>
                <a:cubicBezTo>
                  <a:pt x="119100" y="35682"/>
                  <a:pt x="104329" y="48741"/>
                  <a:pt x="101650" y="65782"/>
                </a:cubicBezTo>
                <a:cubicBezTo>
                  <a:pt x="91790" y="58229"/>
                  <a:pt x="79511" y="53690"/>
                  <a:pt x="66154" y="53541"/>
                </a:cubicBezTo>
                <a:lnTo>
                  <a:pt x="60536" y="45095"/>
                </a:lnTo>
                <a:cubicBezTo>
                  <a:pt x="59457" y="43458"/>
                  <a:pt x="59234" y="41374"/>
                  <a:pt x="60015" y="39551"/>
                </a:cubicBezTo>
                <a:cubicBezTo>
                  <a:pt x="60796" y="37728"/>
                  <a:pt x="62396" y="36388"/>
                  <a:pt x="64331" y="36016"/>
                </a:cubicBezTo>
                <a:lnTo>
                  <a:pt x="95250" y="29766"/>
                </a:lnTo>
                <a:lnTo>
                  <a:pt x="101501" y="-1191"/>
                </a:lnTo>
                <a:cubicBezTo>
                  <a:pt x="101910" y="-3125"/>
                  <a:pt x="103212" y="-4725"/>
                  <a:pt x="105035" y="-5507"/>
                </a:cubicBezTo>
                <a:cubicBezTo>
                  <a:pt x="106859" y="-6288"/>
                  <a:pt x="108942" y="-6065"/>
                  <a:pt x="110579" y="-4986"/>
                </a:cubicBezTo>
                <a:lnTo>
                  <a:pt x="136922" y="12502"/>
                </a:lnTo>
                <a:lnTo>
                  <a:pt x="163227" y="-4949"/>
                </a:lnTo>
                <a:cubicBezTo>
                  <a:pt x="164864" y="-6028"/>
                  <a:pt x="166948" y="-6251"/>
                  <a:pt x="168771" y="-5469"/>
                </a:cubicBezTo>
                <a:close/>
                <a:moveTo>
                  <a:pt x="154781" y="71438"/>
                </a:moveTo>
                <a:cubicBezTo>
                  <a:pt x="154781" y="72851"/>
                  <a:pt x="154632" y="74228"/>
                  <a:pt x="154298" y="75567"/>
                </a:cubicBezTo>
                <a:cubicBezTo>
                  <a:pt x="146224" y="69242"/>
                  <a:pt x="136066" y="65484"/>
                  <a:pt x="125016" y="65484"/>
                </a:cubicBezTo>
                <a:cubicBezTo>
                  <a:pt x="123304" y="65484"/>
                  <a:pt x="121630" y="65559"/>
                  <a:pt x="119993" y="65745"/>
                </a:cubicBezTo>
                <a:cubicBezTo>
                  <a:pt x="122374" y="58675"/>
                  <a:pt x="129071" y="53578"/>
                  <a:pt x="136922" y="53578"/>
                </a:cubicBezTo>
                <a:cubicBezTo>
                  <a:pt x="146782" y="53578"/>
                  <a:pt x="154781" y="61578"/>
                  <a:pt x="154781" y="71438"/>
                </a:cubicBezTo>
                <a:close/>
                <a:moveTo>
                  <a:pt x="35719" y="190500"/>
                </a:moveTo>
                <a:cubicBezTo>
                  <a:pt x="15999" y="190500"/>
                  <a:pt x="0" y="174501"/>
                  <a:pt x="0" y="154781"/>
                </a:cubicBezTo>
                <a:cubicBezTo>
                  <a:pt x="0" y="138968"/>
                  <a:pt x="10269" y="125537"/>
                  <a:pt x="24519" y="120848"/>
                </a:cubicBezTo>
                <a:cubicBezTo>
                  <a:pt x="24036" y="118356"/>
                  <a:pt x="23812" y="115751"/>
                  <a:pt x="23812" y="113109"/>
                </a:cubicBezTo>
                <a:cubicBezTo>
                  <a:pt x="23812" y="90078"/>
                  <a:pt x="42453" y="71438"/>
                  <a:pt x="65484" y="71438"/>
                </a:cubicBezTo>
                <a:cubicBezTo>
                  <a:pt x="81521" y="71438"/>
                  <a:pt x="95436" y="80479"/>
                  <a:pt x="102394" y="93762"/>
                </a:cubicBezTo>
                <a:cubicBezTo>
                  <a:pt x="107863" y="87399"/>
                  <a:pt x="115974" y="83344"/>
                  <a:pt x="125016" y="83344"/>
                </a:cubicBezTo>
                <a:cubicBezTo>
                  <a:pt x="141461" y="83344"/>
                  <a:pt x="154781" y="96664"/>
                  <a:pt x="154781" y="113109"/>
                </a:cubicBezTo>
                <a:cubicBezTo>
                  <a:pt x="154781" y="115156"/>
                  <a:pt x="154558" y="117128"/>
                  <a:pt x="154186" y="119063"/>
                </a:cubicBezTo>
                <a:cubicBezTo>
                  <a:pt x="154372" y="119063"/>
                  <a:pt x="154595" y="119063"/>
                  <a:pt x="154781" y="119063"/>
                </a:cubicBezTo>
                <a:cubicBezTo>
                  <a:pt x="174501" y="119063"/>
                  <a:pt x="190500" y="135062"/>
                  <a:pt x="190500" y="154781"/>
                </a:cubicBezTo>
                <a:cubicBezTo>
                  <a:pt x="190500" y="174501"/>
                  <a:pt x="174501" y="190500"/>
                  <a:pt x="154781" y="190500"/>
                </a:cubicBezTo>
                <a:lnTo>
                  <a:pt x="35719" y="190500"/>
                </a:lnTo>
                <a:close/>
              </a:path>
            </a:pathLst>
          </a:custGeom>
          <a:solidFill>
            <a:srgbClr val="D4A574"/>
          </a:solidFill>
          <a:ln/>
        </p:spPr>
      </p:sp>
      <p:sp>
        <p:nvSpPr>
          <p:cNvPr id="37" name="Text 35"/>
          <p:cNvSpPr/>
          <p:nvPr/>
        </p:nvSpPr>
        <p:spPr>
          <a:xfrm>
            <a:off x="1127998" y="5959792"/>
            <a:ext cx="550664" cy="167640"/>
          </a:xfrm>
          <a:prstGeom prst="rect">
            <a:avLst/>
          </a:prstGeom>
          <a:noFill/>
          <a:ln/>
        </p:spPr>
        <p:txBody>
          <a:bodyPr wrap="square" lIns="0" tIns="0" rIns="0" bIns="0" rtlCol="0" anchor="ctr"/>
          <a:lstStyle/>
          <a:p>
            <a:pPr algn="ct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Season</a:t>
            </a:r>
            <a:endParaRPr lang="en-US" sz="1600" dirty="0"/>
          </a:p>
        </p:txBody>
      </p:sp>
      <p:sp>
        <p:nvSpPr>
          <p:cNvPr id="38" name="Shape 36"/>
          <p:cNvSpPr/>
          <p:nvPr/>
        </p:nvSpPr>
        <p:spPr>
          <a:xfrm>
            <a:off x="2349460" y="5586413"/>
            <a:ext cx="1666875" cy="685800"/>
          </a:xfrm>
          <a:custGeom>
            <a:avLst/>
            <a:gdLst/>
            <a:ahLst/>
            <a:cxnLst/>
            <a:rect l="l" t="t" r="r" b="b"/>
            <a:pathLst>
              <a:path w="1666875" h="685800">
                <a:moveTo>
                  <a:pt x="76199" y="0"/>
                </a:moveTo>
                <a:lnTo>
                  <a:pt x="1590676" y="0"/>
                </a:lnTo>
                <a:cubicBezTo>
                  <a:pt x="1632759" y="0"/>
                  <a:pt x="1666875" y="34116"/>
                  <a:pt x="1666875" y="76199"/>
                </a:cubicBezTo>
                <a:lnTo>
                  <a:pt x="1666875" y="609601"/>
                </a:lnTo>
                <a:cubicBezTo>
                  <a:pt x="1666875" y="651656"/>
                  <a:pt x="1632731" y="685800"/>
                  <a:pt x="1590676" y="685800"/>
                </a:cubicBezTo>
                <a:lnTo>
                  <a:pt x="76199" y="685800"/>
                </a:lnTo>
                <a:cubicBezTo>
                  <a:pt x="34116" y="685800"/>
                  <a:pt x="0" y="651684"/>
                  <a:pt x="0" y="609601"/>
                </a:cubicBezTo>
                <a:lnTo>
                  <a:pt x="0" y="76199"/>
                </a:lnTo>
                <a:cubicBezTo>
                  <a:pt x="0" y="34144"/>
                  <a:pt x="34144" y="0"/>
                  <a:pt x="76199" y="0"/>
                </a:cubicBezTo>
                <a:close/>
              </a:path>
            </a:pathLst>
          </a:custGeom>
          <a:solidFill>
            <a:srgbClr val="D4A574">
              <a:alpha val="10196"/>
            </a:srgbClr>
          </a:solidFill>
          <a:ln/>
        </p:spPr>
      </p:sp>
      <p:sp>
        <p:nvSpPr>
          <p:cNvPr id="39" name="Shape 37"/>
          <p:cNvSpPr/>
          <p:nvPr/>
        </p:nvSpPr>
        <p:spPr>
          <a:xfrm>
            <a:off x="2475667" y="5700713"/>
            <a:ext cx="214313" cy="190500"/>
          </a:xfrm>
          <a:custGeom>
            <a:avLst/>
            <a:gdLst/>
            <a:ahLst/>
            <a:cxnLst/>
            <a:rect l="l" t="t" r="r" b="b"/>
            <a:pathLst>
              <a:path w="214313" h="190500">
                <a:moveTo>
                  <a:pt x="77800" y="192063"/>
                </a:moveTo>
                <a:cubicBezTo>
                  <a:pt x="70842" y="199020"/>
                  <a:pt x="59531" y="199020"/>
                  <a:pt x="52536" y="192063"/>
                </a:cubicBezTo>
                <a:lnTo>
                  <a:pt x="10455" y="149982"/>
                </a:lnTo>
                <a:cubicBezTo>
                  <a:pt x="3497" y="143024"/>
                  <a:pt x="3497" y="131713"/>
                  <a:pt x="10455" y="124718"/>
                </a:cubicBezTo>
                <a:lnTo>
                  <a:pt x="16780" y="118393"/>
                </a:lnTo>
                <a:lnTo>
                  <a:pt x="44128" y="145740"/>
                </a:lnTo>
                <a:cubicBezTo>
                  <a:pt x="47625" y="149237"/>
                  <a:pt x="53280" y="149237"/>
                  <a:pt x="56741" y="145740"/>
                </a:cubicBezTo>
                <a:cubicBezTo>
                  <a:pt x="60201" y="142242"/>
                  <a:pt x="60238" y="136587"/>
                  <a:pt x="56741" y="133127"/>
                </a:cubicBezTo>
                <a:lnTo>
                  <a:pt x="29394" y="105780"/>
                </a:lnTo>
                <a:lnTo>
                  <a:pt x="42007" y="93166"/>
                </a:lnTo>
                <a:lnTo>
                  <a:pt x="60945" y="112105"/>
                </a:lnTo>
                <a:cubicBezTo>
                  <a:pt x="64443" y="115602"/>
                  <a:pt x="70098" y="115602"/>
                  <a:pt x="73558" y="112105"/>
                </a:cubicBezTo>
                <a:cubicBezTo>
                  <a:pt x="77019" y="108607"/>
                  <a:pt x="77056" y="102952"/>
                  <a:pt x="73558" y="99492"/>
                </a:cubicBezTo>
                <a:lnTo>
                  <a:pt x="54620" y="80553"/>
                </a:lnTo>
                <a:lnTo>
                  <a:pt x="67233" y="67940"/>
                </a:lnTo>
                <a:lnTo>
                  <a:pt x="94580" y="95287"/>
                </a:lnTo>
                <a:cubicBezTo>
                  <a:pt x="98078" y="98785"/>
                  <a:pt x="103733" y="98785"/>
                  <a:pt x="107193" y="95287"/>
                </a:cubicBezTo>
                <a:cubicBezTo>
                  <a:pt x="110654" y="91790"/>
                  <a:pt x="110691" y="86134"/>
                  <a:pt x="107193" y="82674"/>
                </a:cubicBezTo>
                <a:lnTo>
                  <a:pt x="79846" y="55327"/>
                </a:lnTo>
                <a:lnTo>
                  <a:pt x="92459" y="42714"/>
                </a:lnTo>
                <a:lnTo>
                  <a:pt x="111398" y="61652"/>
                </a:lnTo>
                <a:cubicBezTo>
                  <a:pt x="114895" y="65150"/>
                  <a:pt x="120551" y="65150"/>
                  <a:pt x="124011" y="61652"/>
                </a:cubicBezTo>
                <a:cubicBezTo>
                  <a:pt x="127471" y="58155"/>
                  <a:pt x="127508" y="52499"/>
                  <a:pt x="124011" y="49039"/>
                </a:cubicBezTo>
                <a:lnTo>
                  <a:pt x="105073" y="30100"/>
                </a:lnTo>
                <a:lnTo>
                  <a:pt x="117686" y="17487"/>
                </a:lnTo>
                <a:lnTo>
                  <a:pt x="145033" y="44834"/>
                </a:lnTo>
                <a:cubicBezTo>
                  <a:pt x="148530" y="48332"/>
                  <a:pt x="154186" y="48332"/>
                  <a:pt x="157646" y="44834"/>
                </a:cubicBezTo>
                <a:cubicBezTo>
                  <a:pt x="161106" y="41337"/>
                  <a:pt x="161144" y="35682"/>
                  <a:pt x="157646" y="32221"/>
                </a:cubicBezTo>
                <a:lnTo>
                  <a:pt x="130299" y="4874"/>
                </a:lnTo>
                <a:lnTo>
                  <a:pt x="136624" y="-1451"/>
                </a:lnTo>
                <a:cubicBezTo>
                  <a:pt x="143582" y="-8409"/>
                  <a:pt x="154893" y="-8409"/>
                  <a:pt x="161888" y="-1451"/>
                </a:cubicBezTo>
                <a:lnTo>
                  <a:pt x="204081" y="40518"/>
                </a:lnTo>
                <a:cubicBezTo>
                  <a:pt x="211038" y="47476"/>
                  <a:pt x="211038" y="58787"/>
                  <a:pt x="204081" y="65782"/>
                </a:cubicBezTo>
                <a:lnTo>
                  <a:pt x="77800" y="192063"/>
                </a:lnTo>
                <a:close/>
              </a:path>
            </a:pathLst>
          </a:custGeom>
          <a:solidFill>
            <a:srgbClr val="D4A574"/>
          </a:solidFill>
          <a:ln/>
        </p:spPr>
      </p:sp>
      <p:sp>
        <p:nvSpPr>
          <p:cNvPr id="40" name="Text 38"/>
          <p:cNvSpPr/>
          <p:nvPr/>
        </p:nvSpPr>
        <p:spPr>
          <a:xfrm>
            <a:off x="3012758" y="5959792"/>
            <a:ext cx="337066" cy="167640"/>
          </a:xfrm>
          <a:prstGeom prst="rect">
            <a:avLst/>
          </a:prstGeom>
          <a:noFill/>
          <a:ln/>
        </p:spPr>
        <p:txBody>
          <a:bodyPr wrap="square" lIns="0" tIns="0" rIns="0" bIns="0" rtlCol="0" anchor="ctr"/>
          <a:lstStyle/>
          <a:p>
            <a:pPr algn="ct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Size</a:t>
            </a:r>
            <a:endParaRPr lang="en-US" sz="1600" dirty="0"/>
          </a:p>
        </p:txBody>
      </p:sp>
      <p:sp>
        <p:nvSpPr>
          <p:cNvPr id="41" name="Shape 39"/>
          <p:cNvSpPr/>
          <p:nvPr/>
        </p:nvSpPr>
        <p:spPr>
          <a:xfrm>
            <a:off x="4127421" y="5586413"/>
            <a:ext cx="1666875" cy="685800"/>
          </a:xfrm>
          <a:custGeom>
            <a:avLst/>
            <a:gdLst/>
            <a:ahLst/>
            <a:cxnLst/>
            <a:rect l="l" t="t" r="r" b="b"/>
            <a:pathLst>
              <a:path w="1666875" h="685800">
                <a:moveTo>
                  <a:pt x="76199" y="0"/>
                </a:moveTo>
                <a:lnTo>
                  <a:pt x="1590676" y="0"/>
                </a:lnTo>
                <a:cubicBezTo>
                  <a:pt x="1632759" y="0"/>
                  <a:pt x="1666875" y="34116"/>
                  <a:pt x="1666875" y="76199"/>
                </a:cubicBezTo>
                <a:lnTo>
                  <a:pt x="1666875" y="609601"/>
                </a:lnTo>
                <a:cubicBezTo>
                  <a:pt x="1666875" y="651656"/>
                  <a:pt x="1632731" y="685800"/>
                  <a:pt x="1590676" y="685800"/>
                </a:cubicBezTo>
                <a:lnTo>
                  <a:pt x="76199" y="685800"/>
                </a:lnTo>
                <a:cubicBezTo>
                  <a:pt x="34116" y="685800"/>
                  <a:pt x="0" y="651684"/>
                  <a:pt x="0" y="609601"/>
                </a:cubicBezTo>
                <a:lnTo>
                  <a:pt x="0" y="76199"/>
                </a:lnTo>
                <a:cubicBezTo>
                  <a:pt x="0" y="34144"/>
                  <a:pt x="34144" y="0"/>
                  <a:pt x="76199" y="0"/>
                </a:cubicBezTo>
                <a:close/>
              </a:path>
            </a:pathLst>
          </a:custGeom>
          <a:solidFill>
            <a:srgbClr val="D4A574">
              <a:alpha val="10196"/>
            </a:srgbClr>
          </a:solidFill>
          <a:ln/>
        </p:spPr>
      </p:sp>
      <p:sp>
        <p:nvSpPr>
          <p:cNvPr id="42" name="Shape 40"/>
          <p:cNvSpPr/>
          <p:nvPr/>
        </p:nvSpPr>
        <p:spPr>
          <a:xfrm>
            <a:off x="4265533" y="5700713"/>
            <a:ext cx="190500" cy="190500"/>
          </a:xfrm>
          <a:custGeom>
            <a:avLst/>
            <a:gdLst/>
            <a:ahLst/>
            <a:cxn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D4A574"/>
          </a:solidFill>
          <a:ln/>
        </p:spPr>
      </p:sp>
      <p:sp>
        <p:nvSpPr>
          <p:cNvPr id="43" name="Text 41"/>
          <p:cNvSpPr/>
          <p:nvPr/>
        </p:nvSpPr>
        <p:spPr>
          <a:xfrm>
            <a:off x="4741307" y="5959792"/>
            <a:ext cx="435769" cy="167640"/>
          </a:xfrm>
          <a:prstGeom prst="rect">
            <a:avLst/>
          </a:prstGeom>
          <a:noFill/>
          <a:ln/>
        </p:spPr>
        <p:txBody>
          <a:bodyPr wrap="square" lIns="0" tIns="0" rIns="0" bIns="0" rtlCol="0" anchor="ctr"/>
          <a:lstStyle/>
          <a:p>
            <a:pPr algn="ctr">
              <a:lnSpc>
                <a:spcPct val="130000"/>
              </a:lnSpc>
            </a:pPr>
            <a:r>
              <a:rPr lang="en-US" sz="1200" b="1" dirty="0">
                <a:solidFill>
                  <a:srgbClr val="2C3E50"/>
                </a:solidFill>
                <a:latin typeface="Quattrocento Sans" pitchFamily="34" charset="0"/>
                <a:ea typeface="Quattrocento Sans" pitchFamily="34" charset="-122"/>
                <a:cs typeface="Quattrocento Sans" pitchFamily="34" charset="-120"/>
              </a:rPr>
              <a:t>Color</a:t>
            </a:r>
            <a:endParaRPr lang="en-US" sz="1600" dirty="0"/>
          </a:p>
        </p:txBody>
      </p:sp>
      <p:sp>
        <p:nvSpPr>
          <p:cNvPr id="44" name="Shape 42"/>
          <p:cNvSpPr/>
          <p:nvPr/>
        </p:nvSpPr>
        <p:spPr>
          <a:xfrm>
            <a:off x="6210300" y="1485900"/>
            <a:ext cx="5600700" cy="4419600"/>
          </a:xfrm>
          <a:custGeom>
            <a:avLst/>
            <a:gdLst/>
            <a:ahLst/>
            <a:cxnLst/>
            <a:rect l="l" t="t" r="r" b="b"/>
            <a:pathLst>
              <a:path w="5600700" h="4419600">
                <a:moveTo>
                  <a:pt x="114291" y="0"/>
                </a:moveTo>
                <a:lnTo>
                  <a:pt x="5486409" y="0"/>
                </a:lnTo>
                <a:cubicBezTo>
                  <a:pt x="5549488" y="0"/>
                  <a:pt x="5600700" y="51212"/>
                  <a:pt x="5600700" y="114291"/>
                </a:cubicBezTo>
                <a:lnTo>
                  <a:pt x="5600700" y="4305309"/>
                </a:lnTo>
                <a:cubicBezTo>
                  <a:pt x="5600700" y="4368430"/>
                  <a:pt x="5549530" y="4419600"/>
                  <a:pt x="5486409" y="4419600"/>
                </a:cubicBezTo>
                <a:lnTo>
                  <a:pt x="114291" y="4419600"/>
                </a:lnTo>
                <a:cubicBezTo>
                  <a:pt x="51170" y="4419600"/>
                  <a:pt x="0" y="4368430"/>
                  <a:pt x="0" y="4305309"/>
                </a:cubicBezTo>
                <a:lnTo>
                  <a:pt x="0" y="114291"/>
                </a:lnTo>
                <a:cubicBezTo>
                  <a:pt x="0" y="51170"/>
                  <a:pt x="51170" y="0"/>
                  <a:pt x="114291" y="0"/>
                </a:cubicBezTo>
                <a:close/>
              </a:path>
            </a:pathLst>
          </a:custGeom>
          <a:gradFill rotWithShape="1" flip="none">
            <a:gsLst>
              <a:gs pos="0">
                <a:srgbClr val="C75B39"/>
              </a:gs>
              <a:gs pos="100000">
                <a:srgbClr val="C75B39">
                  <a:alpha val="80000"/>
                </a:srgbClr>
              </a:gs>
            </a:gsLst>
            <a:lin ang="2700000" scaled="1"/>
          </a:gradFill>
          <a:ln/>
          <a:effectLst>
            <a:outerShdw sx="100000" sy="100000" kx="0" ky="0" algn="bl" rotWithShape="0" blurRad="142875" dist="95250" dir="5400000">
              <a:srgbClr val="000000">
                <a:alpha val="10196"/>
              </a:srgbClr>
            </a:outerShdw>
          </a:effectLst>
        </p:spPr>
      </p:sp>
      <p:sp>
        <p:nvSpPr>
          <p:cNvPr id="45" name="Shape 43"/>
          <p:cNvSpPr/>
          <p:nvPr/>
        </p:nvSpPr>
        <p:spPr>
          <a:xfrm>
            <a:off x="6400800" y="16764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FFFF">
              <a:alpha val="20000"/>
            </a:srgbClr>
          </a:solidFill>
          <a:ln/>
        </p:spPr>
      </p:sp>
      <p:sp>
        <p:nvSpPr>
          <p:cNvPr id="46" name="Shape 44"/>
          <p:cNvSpPr/>
          <p:nvPr/>
        </p:nvSpPr>
        <p:spPr>
          <a:xfrm>
            <a:off x="6515100" y="1790700"/>
            <a:ext cx="152400" cy="152400"/>
          </a:xfrm>
          <a:custGeom>
            <a:avLst/>
            <a:gdLst/>
            <a:ahLst/>
            <a:cxnLst/>
            <a:rect l="l" t="t" r="r" b="b"/>
            <a:pathLst>
              <a:path w="152400" h="152400">
                <a:moveTo>
                  <a:pt x="9525" y="9525"/>
                </a:moveTo>
                <a:cubicBezTo>
                  <a:pt x="14794" y="9525"/>
                  <a:pt x="19050" y="13781"/>
                  <a:pt x="19050" y="19050"/>
                </a:cubicBezTo>
                <a:lnTo>
                  <a:pt x="19050" y="119062"/>
                </a:lnTo>
                <a:cubicBezTo>
                  <a:pt x="19050" y="121682"/>
                  <a:pt x="21193" y="123825"/>
                  <a:pt x="23813" y="123825"/>
                </a:cubicBezTo>
                <a:lnTo>
                  <a:pt x="142875" y="123825"/>
                </a:lnTo>
                <a:cubicBezTo>
                  <a:pt x="148144" y="123825"/>
                  <a:pt x="152400" y="128081"/>
                  <a:pt x="152400" y="133350"/>
                </a:cubicBezTo>
                <a:cubicBezTo>
                  <a:pt x="152400" y="138619"/>
                  <a:pt x="148144" y="142875"/>
                  <a:pt x="142875" y="142875"/>
                </a:cubicBezTo>
                <a:lnTo>
                  <a:pt x="23813" y="142875"/>
                </a:lnTo>
                <a:cubicBezTo>
                  <a:pt x="10656" y="142875"/>
                  <a:pt x="0" y="132219"/>
                  <a:pt x="0" y="119062"/>
                </a:cubicBezTo>
                <a:lnTo>
                  <a:pt x="0" y="19050"/>
                </a:lnTo>
                <a:cubicBezTo>
                  <a:pt x="0" y="13781"/>
                  <a:pt x="4256" y="9525"/>
                  <a:pt x="9525" y="9525"/>
                </a:cubicBezTo>
                <a:close/>
                <a:moveTo>
                  <a:pt x="38100" y="28575"/>
                </a:moveTo>
                <a:cubicBezTo>
                  <a:pt x="38100" y="23306"/>
                  <a:pt x="42356" y="19050"/>
                  <a:pt x="47625" y="19050"/>
                </a:cubicBezTo>
                <a:lnTo>
                  <a:pt x="104775" y="19050"/>
                </a:lnTo>
                <a:cubicBezTo>
                  <a:pt x="110044" y="19050"/>
                  <a:pt x="114300" y="23306"/>
                  <a:pt x="114300" y="28575"/>
                </a:cubicBezTo>
                <a:cubicBezTo>
                  <a:pt x="114300" y="33844"/>
                  <a:pt x="110044" y="38100"/>
                  <a:pt x="104775" y="38100"/>
                </a:cubicBezTo>
                <a:lnTo>
                  <a:pt x="47625" y="38100"/>
                </a:lnTo>
                <a:cubicBezTo>
                  <a:pt x="42356" y="38100"/>
                  <a:pt x="38100" y="33844"/>
                  <a:pt x="38100" y="28575"/>
                </a:cubicBezTo>
                <a:close/>
                <a:moveTo>
                  <a:pt x="47625" y="52388"/>
                </a:moveTo>
                <a:lnTo>
                  <a:pt x="85725" y="52388"/>
                </a:lnTo>
                <a:cubicBezTo>
                  <a:pt x="90994" y="52388"/>
                  <a:pt x="95250" y="56644"/>
                  <a:pt x="95250" y="61912"/>
                </a:cubicBezTo>
                <a:cubicBezTo>
                  <a:pt x="95250" y="67181"/>
                  <a:pt x="90994" y="71438"/>
                  <a:pt x="85725" y="71438"/>
                </a:cubicBezTo>
                <a:lnTo>
                  <a:pt x="47625" y="71438"/>
                </a:lnTo>
                <a:cubicBezTo>
                  <a:pt x="42356" y="71438"/>
                  <a:pt x="38100" y="67181"/>
                  <a:pt x="38100" y="61912"/>
                </a:cubicBezTo>
                <a:cubicBezTo>
                  <a:pt x="38100" y="56644"/>
                  <a:pt x="42356" y="52388"/>
                  <a:pt x="47625" y="52388"/>
                </a:cubicBezTo>
                <a:close/>
                <a:moveTo>
                  <a:pt x="47625" y="85725"/>
                </a:moveTo>
                <a:lnTo>
                  <a:pt x="123825" y="85725"/>
                </a:lnTo>
                <a:cubicBezTo>
                  <a:pt x="129094" y="85725"/>
                  <a:pt x="133350" y="89981"/>
                  <a:pt x="133350" y="95250"/>
                </a:cubicBezTo>
                <a:cubicBezTo>
                  <a:pt x="133350" y="100519"/>
                  <a:pt x="129094" y="104775"/>
                  <a:pt x="123825" y="104775"/>
                </a:cubicBezTo>
                <a:lnTo>
                  <a:pt x="47625" y="104775"/>
                </a:lnTo>
                <a:cubicBezTo>
                  <a:pt x="42356" y="104775"/>
                  <a:pt x="38100" y="100519"/>
                  <a:pt x="38100" y="95250"/>
                </a:cubicBezTo>
                <a:cubicBezTo>
                  <a:pt x="38100" y="89981"/>
                  <a:pt x="42356" y="85725"/>
                  <a:pt x="47625" y="85725"/>
                </a:cubicBezTo>
                <a:close/>
              </a:path>
            </a:pathLst>
          </a:custGeom>
          <a:solidFill>
            <a:srgbClr val="FFFFFF"/>
          </a:solidFill>
          <a:ln/>
        </p:spPr>
      </p:sp>
      <p:sp>
        <p:nvSpPr>
          <p:cNvPr id="47" name="Text 45"/>
          <p:cNvSpPr/>
          <p:nvPr/>
        </p:nvSpPr>
        <p:spPr>
          <a:xfrm>
            <a:off x="6896100" y="1733550"/>
            <a:ext cx="167640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Liter" pitchFamily="34" charset="0"/>
                <a:ea typeface="Liter" pitchFamily="34" charset="-122"/>
                <a:cs typeface="Liter" pitchFamily="34" charset="-120"/>
              </a:rPr>
              <a:t>Shopping Behavior</a:t>
            </a:r>
            <a:endParaRPr lang="en-US" sz="1600" dirty="0"/>
          </a:p>
        </p:txBody>
      </p:sp>
      <p:sp>
        <p:nvSpPr>
          <p:cNvPr id="48" name="Shape 46"/>
          <p:cNvSpPr/>
          <p:nvPr/>
        </p:nvSpPr>
        <p:spPr>
          <a:xfrm>
            <a:off x="6400800" y="2171700"/>
            <a:ext cx="5219700" cy="647700"/>
          </a:xfrm>
          <a:custGeom>
            <a:avLst/>
            <a:gdLst/>
            <a:ahLst/>
            <a:cxnLst/>
            <a:rect l="l" t="t" r="r" b="b"/>
            <a:pathLst>
              <a:path w="5219700" h="647700">
                <a:moveTo>
                  <a:pt x="76202" y="0"/>
                </a:moveTo>
                <a:lnTo>
                  <a:pt x="5143498" y="0"/>
                </a:lnTo>
                <a:cubicBezTo>
                  <a:pt x="5185583" y="0"/>
                  <a:pt x="5219700" y="34117"/>
                  <a:pt x="5219700" y="76202"/>
                </a:cubicBezTo>
                <a:lnTo>
                  <a:pt x="5219700" y="571498"/>
                </a:lnTo>
                <a:cubicBezTo>
                  <a:pt x="5219700" y="613583"/>
                  <a:pt x="5185583" y="647700"/>
                  <a:pt x="5143498" y="647700"/>
                </a:cubicBezTo>
                <a:lnTo>
                  <a:pt x="76202" y="647700"/>
                </a:lnTo>
                <a:cubicBezTo>
                  <a:pt x="34117" y="647700"/>
                  <a:pt x="0" y="613583"/>
                  <a:pt x="0" y="571498"/>
                </a:cubicBezTo>
                <a:lnTo>
                  <a:pt x="0" y="76202"/>
                </a:lnTo>
                <a:cubicBezTo>
                  <a:pt x="0" y="34117"/>
                  <a:pt x="34117" y="0"/>
                  <a:pt x="76202" y="0"/>
                </a:cubicBezTo>
                <a:close/>
              </a:path>
            </a:pathLst>
          </a:custGeom>
          <a:solidFill>
            <a:srgbClr val="FFFFFF">
              <a:alpha val="10196"/>
            </a:srgbClr>
          </a:solidFill>
          <a:ln/>
        </p:spPr>
      </p:sp>
      <p:sp>
        <p:nvSpPr>
          <p:cNvPr id="49" name="Shape 47"/>
          <p:cNvSpPr/>
          <p:nvPr/>
        </p:nvSpPr>
        <p:spPr>
          <a:xfrm>
            <a:off x="6550819" y="2400300"/>
            <a:ext cx="166688" cy="190500"/>
          </a:xfrm>
          <a:custGeom>
            <a:avLst/>
            <a:gdLst/>
            <a:ahLst/>
            <a:cxnLst/>
            <a:rect l="l" t="t" r="r" b="b"/>
            <a:pathLst>
              <a:path w="166688" h="190500">
                <a:moveTo>
                  <a:pt x="71438" y="47625"/>
                </a:moveTo>
                <a:cubicBezTo>
                  <a:pt x="71438" y="27911"/>
                  <a:pt x="55432" y="11906"/>
                  <a:pt x="35719" y="11906"/>
                </a:cubicBezTo>
                <a:cubicBezTo>
                  <a:pt x="16005" y="11906"/>
                  <a:pt x="0" y="27911"/>
                  <a:pt x="0" y="47625"/>
                </a:cubicBezTo>
                <a:cubicBezTo>
                  <a:pt x="0" y="67339"/>
                  <a:pt x="16005" y="83344"/>
                  <a:pt x="35719" y="83344"/>
                </a:cubicBezTo>
                <a:cubicBezTo>
                  <a:pt x="55432" y="83344"/>
                  <a:pt x="71438" y="67339"/>
                  <a:pt x="71438" y="47625"/>
                </a:cubicBezTo>
                <a:close/>
                <a:moveTo>
                  <a:pt x="166688" y="142875"/>
                </a:moveTo>
                <a:cubicBezTo>
                  <a:pt x="166688" y="123161"/>
                  <a:pt x="150682" y="107156"/>
                  <a:pt x="130969" y="107156"/>
                </a:cubicBezTo>
                <a:cubicBezTo>
                  <a:pt x="111255" y="107156"/>
                  <a:pt x="95250" y="123161"/>
                  <a:pt x="95250" y="142875"/>
                </a:cubicBezTo>
                <a:cubicBezTo>
                  <a:pt x="95250" y="162589"/>
                  <a:pt x="111255" y="178594"/>
                  <a:pt x="130969" y="178594"/>
                </a:cubicBezTo>
                <a:cubicBezTo>
                  <a:pt x="150682" y="178594"/>
                  <a:pt x="166688" y="162589"/>
                  <a:pt x="166688" y="142875"/>
                </a:cubicBezTo>
                <a:close/>
                <a:moveTo>
                  <a:pt x="163190" y="32221"/>
                </a:moveTo>
                <a:cubicBezTo>
                  <a:pt x="167841" y="27570"/>
                  <a:pt x="167841" y="20017"/>
                  <a:pt x="163190" y="15367"/>
                </a:cubicBezTo>
                <a:cubicBezTo>
                  <a:pt x="158539" y="10716"/>
                  <a:pt x="150986" y="10716"/>
                  <a:pt x="146335" y="15367"/>
                </a:cubicBezTo>
                <a:lnTo>
                  <a:pt x="3460" y="158242"/>
                </a:lnTo>
                <a:cubicBezTo>
                  <a:pt x="-1191" y="162892"/>
                  <a:pt x="-1191" y="170445"/>
                  <a:pt x="3460" y="175096"/>
                </a:cubicBezTo>
                <a:cubicBezTo>
                  <a:pt x="8111" y="179747"/>
                  <a:pt x="15664" y="179747"/>
                  <a:pt x="20315" y="175096"/>
                </a:cubicBezTo>
                <a:lnTo>
                  <a:pt x="163190" y="32221"/>
                </a:lnTo>
                <a:close/>
              </a:path>
            </a:pathLst>
          </a:custGeom>
          <a:solidFill>
            <a:srgbClr val="D4A574"/>
          </a:solidFill>
          <a:ln/>
        </p:spPr>
      </p:sp>
      <p:sp>
        <p:nvSpPr>
          <p:cNvPr id="50" name="Text 48"/>
          <p:cNvSpPr/>
          <p:nvPr/>
        </p:nvSpPr>
        <p:spPr>
          <a:xfrm>
            <a:off x="6867525" y="2286000"/>
            <a:ext cx="21336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Discount Applied</a:t>
            </a:r>
            <a:endParaRPr lang="en-US" sz="1600" dirty="0"/>
          </a:p>
        </p:txBody>
      </p:sp>
      <p:sp>
        <p:nvSpPr>
          <p:cNvPr id="51" name="Text 49"/>
          <p:cNvSpPr/>
          <p:nvPr/>
        </p:nvSpPr>
        <p:spPr>
          <a:xfrm>
            <a:off x="6867525" y="2514600"/>
            <a:ext cx="2124075"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Boolean flag for promotional pricing</a:t>
            </a:r>
            <a:endParaRPr lang="en-US" sz="1600" dirty="0"/>
          </a:p>
        </p:txBody>
      </p:sp>
      <p:sp>
        <p:nvSpPr>
          <p:cNvPr id="52" name="Shape 50"/>
          <p:cNvSpPr/>
          <p:nvPr/>
        </p:nvSpPr>
        <p:spPr>
          <a:xfrm>
            <a:off x="6400800" y="2895600"/>
            <a:ext cx="5219700" cy="647700"/>
          </a:xfrm>
          <a:custGeom>
            <a:avLst/>
            <a:gdLst/>
            <a:ahLst/>
            <a:cxnLst/>
            <a:rect l="l" t="t" r="r" b="b"/>
            <a:pathLst>
              <a:path w="5219700" h="647700">
                <a:moveTo>
                  <a:pt x="76202" y="0"/>
                </a:moveTo>
                <a:lnTo>
                  <a:pt x="5143498" y="0"/>
                </a:lnTo>
                <a:cubicBezTo>
                  <a:pt x="5185583" y="0"/>
                  <a:pt x="5219700" y="34117"/>
                  <a:pt x="5219700" y="76202"/>
                </a:cubicBezTo>
                <a:lnTo>
                  <a:pt x="5219700" y="571498"/>
                </a:lnTo>
                <a:cubicBezTo>
                  <a:pt x="5219700" y="613583"/>
                  <a:pt x="5185583" y="647700"/>
                  <a:pt x="5143498" y="647700"/>
                </a:cubicBezTo>
                <a:lnTo>
                  <a:pt x="76202" y="647700"/>
                </a:lnTo>
                <a:cubicBezTo>
                  <a:pt x="34117" y="647700"/>
                  <a:pt x="0" y="613583"/>
                  <a:pt x="0" y="571498"/>
                </a:cubicBezTo>
                <a:lnTo>
                  <a:pt x="0" y="76202"/>
                </a:lnTo>
                <a:cubicBezTo>
                  <a:pt x="0" y="34117"/>
                  <a:pt x="34117" y="0"/>
                  <a:pt x="76202" y="0"/>
                </a:cubicBezTo>
                <a:close/>
              </a:path>
            </a:pathLst>
          </a:custGeom>
          <a:solidFill>
            <a:srgbClr val="FFFFFF">
              <a:alpha val="10196"/>
            </a:srgbClr>
          </a:solidFill>
          <a:ln/>
        </p:spPr>
      </p:sp>
      <p:sp>
        <p:nvSpPr>
          <p:cNvPr id="53" name="Shape 51"/>
          <p:cNvSpPr/>
          <p:nvPr/>
        </p:nvSpPr>
        <p:spPr>
          <a:xfrm>
            <a:off x="6527006" y="3124200"/>
            <a:ext cx="214313" cy="190500"/>
          </a:xfrm>
          <a:custGeom>
            <a:avLst/>
            <a:gdLst/>
            <a:ahLst/>
            <a:cxnLst/>
            <a:rect l="l" t="t" r="r" b="b"/>
            <a:pathLst>
              <a:path w="214313" h="190500">
                <a:moveTo>
                  <a:pt x="107156" y="23812"/>
                </a:moveTo>
                <a:cubicBezTo>
                  <a:pt x="146596" y="23812"/>
                  <a:pt x="178594" y="55811"/>
                  <a:pt x="178594" y="95250"/>
                </a:cubicBezTo>
                <a:cubicBezTo>
                  <a:pt x="178594" y="134689"/>
                  <a:pt x="146596" y="166688"/>
                  <a:pt x="107156" y="166688"/>
                </a:cubicBezTo>
                <a:cubicBezTo>
                  <a:pt x="82897" y="166688"/>
                  <a:pt x="61429" y="154595"/>
                  <a:pt x="48518" y="136066"/>
                </a:cubicBezTo>
                <a:cubicBezTo>
                  <a:pt x="44760" y="130671"/>
                  <a:pt x="37319" y="129369"/>
                  <a:pt x="31924" y="133127"/>
                </a:cubicBezTo>
                <a:cubicBezTo>
                  <a:pt x="26529" y="136885"/>
                  <a:pt x="25226" y="144326"/>
                  <a:pt x="28984" y="149721"/>
                </a:cubicBezTo>
                <a:cubicBezTo>
                  <a:pt x="46174" y="174352"/>
                  <a:pt x="74786" y="190500"/>
                  <a:pt x="107156" y="190500"/>
                </a:cubicBezTo>
                <a:cubicBezTo>
                  <a:pt x="159767" y="190500"/>
                  <a:pt x="202406" y="147861"/>
                  <a:pt x="202406" y="95250"/>
                </a:cubicBezTo>
                <a:cubicBezTo>
                  <a:pt x="202406" y="42639"/>
                  <a:pt x="159767" y="0"/>
                  <a:pt x="107156" y="0"/>
                </a:cubicBezTo>
                <a:cubicBezTo>
                  <a:pt x="75270" y="0"/>
                  <a:pt x="47067" y="15664"/>
                  <a:pt x="29766" y="39700"/>
                </a:cubicBezTo>
                <a:lnTo>
                  <a:pt x="29766" y="29766"/>
                </a:lnTo>
                <a:cubicBezTo>
                  <a:pt x="29766" y="23180"/>
                  <a:pt x="24445" y="17859"/>
                  <a:pt x="17859" y="17859"/>
                </a:cubicBezTo>
                <a:cubicBezTo>
                  <a:pt x="11274" y="17859"/>
                  <a:pt x="5953" y="23180"/>
                  <a:pt x="5953" y="29766"/>
                </a:cubicBezTo>
                <a:lnTo>
                  <a:pt x="5953" y="71438"/>
                </a:lnTo>
                <a:cubicBezTo>
                  <a:pt x="5953" y="78023"/>
                  <a:pt x="11274" y="83344"/>
                  <a:pt x="17859" y="83344"/>
                </a:cubicBezTo>
                <a:lnTo>
                  <a:pt x="27012" y="83344"/>
                </a:lnTo>
                <a:cubicBezTo>
                  <a:pt x="27198" y="83344"/>
                  <a:pt x="27384" y="83344"/>
                  <a:pt x="27570" y="83344"/>
                </a:cubicBezTo>
                <a:lnTo>
                  <a:pt x="59568" y="83344"/>
                </a:lnTo>
                <a:cubicBezTo>
                  <a:pt x="66154" y="83344"/>
                  <a:pt x="71475" y="78023"/>
                  <a:pt x="71475" y="71438"/>
                </a:cubicBezTo>
                <a:cubicBezTo>
                  <a:pt x="71475" y="64852"/>
                  <a:pt x="66154" y="59531"/>
                  <a:pt x="59568" y="59531"/>
                </a:cubicBezTo>
                <a:lnTo>
                  <a:pt x="45318" y="59531"/>
                </a:lnTo>
                <a:cubicBezTo>
                  <a:pt x="57634" y="38174"/>
                  <a:pt x="80739" y="23812"/>
                  <a:pt x="107156" y="23812"/>
                </a:cubicBezTo>
                <a:close/>
                <a:moveTo>
                  <a:pt x="116086" y="56555"/>
                </a:moveTo>
                <a:cubicBezTo>
                  <a:pt x="116086" y="51606"/>
                  <a:pt x="112105" y="47625"/>
                  <a:pt x="107156" y="47625"/>
                </a:cubicBezTo>
                <a:cubicBezTo>
                  <a:pt x="102208" y="47625"/>
                  <a:pt x="98227" y="51606"/>
                  <a:pt x="98227" y="56555"/>
                </a:cubicBezTo>
                <a:lnTo>
                  <a:pt x="98227" y="95250"/>
                </a:lnTo>
                <a:cubicBezTo>
                  <a:pt x="98227" y="97631"/>
                  <a:pt x="99157" y="99901"/>
                  <a:pt x="100831" y="101575"/>
                </a:cubicBezTo>
                <a:lnTo>
                  <a:pt x="127620" y="128364"/>
                </a:lnTo>
                <a:cubicBezTo>
                  <a:pt x="131118" y="131862"/>
                  <a:pt x="136773" y="131862"/>
                  <a:pt x="140233" y="128364"/>
                </a:cubicBezTo>
                <a:cubicBezTo>
                  <a:pt x="143694" y="124867"/>
                  <a:pt x="143731" y="119211"/>
                  <a:pt x="140233" y="115751"/>
                </a:cubicBezTo>
                <a:lnTo>
                  <a:pt x="116049" y="91567"/>
                </a:lnTo>
                <a:lnTo>
                  <a:pt x="116049" y="56555"/>
                </a:lnTo>
                <a:close/>
              </a:path>
            </a:pathLst>
          </a:custGeom>
          <a:solidFill>
            <a:srgbClr val="D4A574"/>
          </a:solidFill>
          <a:ln/>
        </p:spPr>
      </p:sp>
      <p:sp>
        <p:nvSpPr>
          <p:cNvPr id="54" name="Text 52"/>
          <p:cNvSpPr/>
          <p:nvPr/>
        </p:nvSpPr>
        <p:spPr>
          <a:xfrm>
            <a:off x="6867525" y="3009900"/>
            <a:ext cx="16478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Previous Purchases</a:t>
            </a:r>
            <a:endParaRPr lang="en-US" sz="1600" dirty="0"/>
          </a:p>
        </p:txBody>
      </p:sp>
      <p:sp>
        <p:nvSpPr>
          <p:cNvPr id="55" name="Text 53"/>
          <p:cNvSpPr/>
          <p:nvPr/>
        </p:nvSpPr>
        <p:spPr>
          <a:xfrm>
            <a:off x="6867525" y="3238500"/>
            <a:ext cx="1638300"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Historical transaction count</a:t>
            </a:r>
            <a:endParaRPr lang="en-US" sz="1600" dirty="0"/>
          </a:p>
        </p:txBody>
      </p:sp>
      <p:sp>
        <p:nvSpPr>
          <p:cNvPr id="56" name="Shape 54"/>
          <p:cNvSpPr/>
          <p:nvPr/>
        </p:nvSpPr>
        <p:spPr>
          <a:xfrm>
            <a:off x="6400800" y="3619500"/>
            <a:ext cx="5219700" cy="647700"/>
          </a:xfrm>
          <a:custGeom>
            <a:avLst/>
            <a:gdLst/>
            <a:ahLst/>
            <a:cxnLst/>
            <a:rect l="l" t="t" r="r" b="b"/>
            <a:pathLst>
              <a:path w="5219700" h="647700">
                <a:moveTo>
                  <a:pt x="76202" y="0"/>
                </a:moveTo>
                <a:lnTo>
                  <a:pt x="5143498" y="0"/>
                </a:lnTo>
                <a:cubicBezTo>
                  <a:pt x="5185583" y="0"/>
                  <a:pt x="5219700" y="34117"/>
                  <a:pt x="5219700" y="76202"/>
                </a:cubicBezTo>
                <a:lnTo>
                  <a:pt x="5219700" y="571498"/>
                </a:lnTo>
                <a:cubicBezTo>
                  <a:pt x="5219700" y="613583"/>
                  <a:pt x="5185583" y="647700"/>
                  <a:pt x="5143498" y="647700"/>
                </a:cubicBezTo>
                <a:lnTo>
                  <a:pt x="76202" y="647700"/>
                </a:lnTo>
                <a:cubicBezTo>
                  <a:pt x="34117" y="647700"/>
                  <a:pt x="0" y="613583"/>
                  <a:pt x="0" y="571498"/>
                </a:cubicBezTo>
                <a:lnTo>
                  <a:pt x="0" y="76202"/>
                </a:lnTo>
                <a:cubicBezTo>
                  <a:pt x="0" y="34117"/>
                  <a:pt x="34117" y="0"/>
                  <a:pt x="76202" y="0"/>
                </a:cubicBezTo>
                <a:close/>
              </a:path>
            </a:pathLst>
          </a:custGeom>
          <a:solidFill>
            <a:srgbClr val="FFFFFF">
              <a:alpha val="10196"/>
            </a:srgbClr>
          </a:solidFill>
          <a:ln/>
        </p:spPr>
      </p:sp>
      <p:sp>
        <p:nvSpPr>
          <p:cNvPr id="57" name="Shape 55"/>
          <p:cNvSpPr/>
          <p:nvPr/>
        </p:nvSpPr>
        <p:spPr>
          <a:xfrm>
            <a:off x="6538913" y="3848100"/>
            <a:ext cx="190500" cy="190500"/>
          </a:xfrm>
          <a:custGeom>
            <a:avLst/>
            <a:gdLst/>
            <a:ahLst/>
            <a:cxnLst/>
            <a:rect l="l" t="t" r="r" b="b"/>
            <a:pathLst>
              <a:path w="190500" h="190500">
                <a:moveTo>
                  <a:pt x="178631" y="71438"/>
                </a:moveTo>
                <a:lnTo>
                  <a:pt x="181570" y="71438"/>
                </a:lnTo>
                <a:cubicBezTo>
                  <a:pt x="186519" y="71438"/>
                  <a:pt x="190500" y="67456"/>
                  <a:pt x="190500" y="62508"/>
                </a:cubicBezTo>
                <a:lnTo>
                  <a:pt x="190500" y="8930"/>
                </a:lnTo>
                <a:cubicBezTo>
                  <a:pt x="190500" y="5321"/>
                  <a:pt x="188342" y="2046"/>
                  <a:pt x="184993" y="670"/>
                </a:cubicBezTo>
                <a:cubicBezTo>
                  <a:pt x="181645" y="-707"/>
                  <a:pt x="177812" y="74"/>
                  <a:pt x="175245" y="2604"/>
                </a:cubicBezTo>
                <a:lnTo>
                  <a:pt x="156009" y="21878"/>
                </a:lnTo>
                <a:cubicBezTo>
                  <a:pt x="139526" y="8223"/>
                  <a:pt x="118318" y="0"/>
                  <a:pt x="95250" y="0"/>
                </a:cubicBezTo>
                <a:cubicBezTo>
                  <a:pt x="47253" y="0"/>
                  <a:pt x="7553" y="35496"/>
                  <a:pt x="967" y="81669"/>
                </a:cubicBezTo>
                <a:cubicBezTo>
                  <a:pt x="37" y="88181"/>
                  <a:pt x="4539" y="94208"/>
                  <a:pt x="11050" y="95138"/>
                </a:cubicBezTo>
                <a:cubicBezTo>
                  <a:pt x="17562" y="96069"/>
                  <a:pt x="23589" y="91529"/>
                  <a:pt x="24519" y="85055"/>
                </a:cubicBezTo>
                <a:cubicBezTo>
                  <a:pt x="29468" y="50416"/>
                  <a:pt x="59271" y="23812"/>
                  <a:pt x="95250" y="23812"/>
                </a:cubicBezTo>
                <a:cubicBezTo>
                  <a:pt x="111770" y="23812"/>
                  <a:pt x="126950" y="29394"/>
                  <a:pt x="139043" y="38807"/>
                </a:cubicBezTo>
                <a:lnTo>
                  <a:pt x="121667" y="56183"/>
                </a:lnTo>
                <a:cubicBezTo>
                  <a:pt x="119100" y="58750"/>
                  <a:pt x="118356" y="62582"/>
                  <a:pt x="119732" y="65931"/>
                </a:cubicBezTo>
                <a:cubicBezTo>
                  <a:pt x="121109" y="69279"/>
                  <a:pt x="124383" y="71438"/>
                  <a:pt x="127992" y="71438"/>
                </a:cubicBezTo>
                <a:lnTo>
                  <a:pt x="178631" y="71438"/>
                </a:lnTo>
                <a:close/>
                <a:moveTo>
                  <a:pt x="189570" y="108831"/>
                </a:moveTo>
                <a:cubicBezTo>
                  <a:pt x="190500" y="102319"/>
                  <a:pt x="185961" y="96292"/>
                  <a:pt x="179487" y="95362"/>
                </a:cubicBezTo>
                <a:cubicBezTo>
                  <a:pt x="173013" y="94431"/>
                  <a:pt x="166948" y="98971"/>
                  <a:pt x="166018" y="105445"/>
                </a:cubicBezTo>
                <a:cubicBezTo>
                  <a:pt x="161069" y="140047"/>
                  <a:pt x="131266" y="166650"/>
                  <a:pt x="95287" y="166650"/>
                </a:cubicBezTo>
                <a:cubicBezTo>
                  <a:pt x="78767" y="166650"/>
                  <a:pt x="63587" y="161069"/>
                  <a:pt x="51495" y="151656"/>
                </a:cubicBezTo>
                <a:lnTo>
                  <a:pt x="68833" y="134317"/>
                </a:lnTo>
                <a:cubicBezTo>
                  <a:pt x="71400" y="131750"/>
                  <a:pt x="72144" y="127918"/>
                  <a:pt x="70768" y="124569"/>
                </a:cubicBezTo>
                <a:cubicBezTo>
                  <a:pt x="69391" y="121221"/>
                  <a:pt x="66117" y="119063"/>
                  <a:pt x="62508" y="119063"/>
                </a:cubicBezTo>
                <a:lnTo>
                  <a:pt x="8930" y="119063"/>
                </a:lnTo>
                <a:cubicBezTo>
                  <a:pt x="3981" y="119063"/>
                  <a:pt x="0" y="123044"/>
                  <a:pt x="0" y="127992"/>
                </a:cubicBezTo>
                <a:lnTo>
                  <a:pt x="0" y="181570"/>
                </a:lnTo>
                <a:cubicBezTo>
                  <a:pt x="0" y="185179"/>
                  <a:pt x="2158" y="188454"/>
                  <a:pt x="5507" y="189830"/>
                </a:cubicBezTo>
                <a:cubicBezTo>
                  <a:pt x="8855" y="191207"/>
                  <a:pt x="12688" y="190426"/>
                  <a:pt x="15255" y="187896"/>
                </a:cubicBezTo>
                <a:lnTo>
                  <a:pt x="34528" y="168622"/>
                </a:lnTo>
                <a:cubicBezTo>
                  <a:pt x="50974" y="182277"/>
                  <a:pt x="72182" y="190500"/>
                  <a:pt x="95250" y="190500"/>
                </a:cubicBezTo>
                <a:cubicBezTo>
                  <a:pt x="143247" y="190500"/>
                  <a:pt x="182947" y="155004"/>
                  <a:pt x="189533" y="108831"/>
                </a:cubicBezTo>
                <a:close/>
              </a:path>
            </a:pathLst>
          </a:custGeom>
          <a:solidFill>
            <a:srgbClr val="D4A574"/>
          </a:solidFill>
          <a:ln/>
        </p:spPr>
      </p:sp>
      <p:sp>
        <p:nvSpPr>
          <p:cNvPr id="58" name="Text 56"/>
          <p:cNvSpPr/>
          <p:nvPr/>
        </p:nvSpPr>
        <p:spPr>
          <a:xfrm>
            <a:off x="6867525" y="3733800"/>
            <a:ext cx="159067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Purchase Frequency</a:t>
            </a:r>
            <a:endParaRPr lang="en-US" sz="1600" dirty="0"/>
          </a:p>
        </p:txBody>
      </p:sp>
      <p:sp>
        <p:nvSpPr>
          <p:cNvPr id="59" name="Text 57"/>
          <p:cNvSpPr/>
          <p:nvPr/>
        </p:nvSpPr>
        <p:spPr>
          <a:xfrm>
            <a:off x="6867525" y="3962400"/>
            <a:ext cx="1581150"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Shopping interval patterns</a:t>
            </a:r>
            <a:endParaRPr lang="en-US" sz="1600" dirty="0"/>
          </a:p>
        </p:txBody>
      </p:sp>
      <p:sp>
        <p:nvSpPr>
          <p:cNvPr id="60" name="Shape 58"/>
          <p:cNvSpPr/>
          <p:nvPr/>
        </p:nvSpPr>
        <p:spPr>
          <a:xfrm>
            <a:off x="6400800" y="4343400"/>
            <a:ext cx="5219700" cy="647700"/>
          </a:xfrm>
          <a:custGeom>
            <a:avLst/>
            <a:gdLst/>
            <a:ahLst/>
            <a:cxnLst/>
            <a:rect l="l" t="t" r="r" b="b"/>
            <a:pathLst>
              <a:path w="5219700" h="647700">
                <a:moveTo>
                  <a:pt x="76202" y="0"/>
                </a:moveTo>
                <a:lnTo>
                  <a:pt x="5143498" y="0"/>
                </a:lnTo>
                <a:cubicBezTo>
                  <a:pt x="5185583" y="0"/>
                  <a:pt x="5219700" y="34117"/>
                  <a:pt x="5219700" y="76202"/>
                </a:cubicBezTo>
                <a:lnTo>
                  <a:pt x="5219700" y="571498"/>
                </a:lnTo>
                <a:cubicBezTo>
                  <a:pt x="5219700" y="613583"/>
                  <a:pt x="5185583" y="647700"/>
                  <a:pt x="5143498" y="647700"/>
                </a:cubicBezTo>
                <a:lnTo>
                  <a:pt x="76202" y="647700"/>
                </a:lnTo>
                <a:cubicBezTo>
                  <a:pt x="34117" y="647700"/>
                  <a:pt x="0" y="613583"/>
                  <a:pt x="0" y="571498"/>
                </a:cubicBezTo>
                <a:lnTo>
                  <a:pt x="0" y="76202"/>
                </a:lnTo>
                <a:cubicBezTo>
                  <a:pt x="0" y="34117"/>
                  <a:pt x="34117" y="0"/>
                  <a:pt x="76202" y="0"/>
                </a:cubicBezTo>
                <a:close/>
              </a:path>
            </a:pathLst>
          </a:custGeom>
          <a:solidFill>
            <a:srgbClr val="FFFFFF">
              <a:alpha val="10196"/>
            </a:srgbClr>
          </a:solidFill>
          <a:ln/>
        </p:spPr>
      </p:sp>
      <p:sp>
        <p:nvSpPr>
          <p:cNvPr id="61" name="Shape 59"/>
          <p:cNvSpPr/>
          <p:nvPr/>
        </p:nvSpPr>
        <p:spPr>
          <a:xfrm>
            <a:off x="6527006" y="4572000"/>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D4A574"/>
          </a:solidFill>
          <a:ln/>
        </p:spPr>
      </p:sp>
      <p:sp>
        <p:nvSpPr>
          <p:cNvPr id="62" name="Text 60"/>
          <p:cNvSpPr/>
          <p:nvPr/>
        </p:nvSpPr>
        <p:spPr>
          <a:xfrm>
            <a:off x="6867525" y="4457700"/>
            <a:ext cx="17335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Review Rating</a:t>
            </a:r>
            <a:endParaRPr lang="en-US" sz="1600" dirty="0"/>
          </a:p>
        </p:txBody>
      </p:sp>
      <p:sp>
        <p:nvSpPr>
          <p:cNvPr id="63" name="Text 61"/>
          <p:cNvSpPr/>
          <p:nvPr/>
        </p:nvSpPr>
        <p:spPr>
          <a:xfrm>
            <a:off x="6867525" y="4686300"/>
            <a:ext cx="1724025"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Customer satisfaction scores</a:t>
            </a:r>
            <a:endParaRPr lang="en-US" sz="1600" dirty="0"/>
          </a:p>
        </p:txBody>
      </p:sp>
      <p:sp>
        <p:nvSpPr>
          <p:cNvPr id="64" name="Shape 62"/>
          <p:cNvSpPr/>
          <p:nvPr/>
        </p:nvSpPr>
        <p:spPr>
          <a:xfrm>
            <a:off x="6400800" y="5067300"/>
            <a:ext cx="5219700" cy="647700"/>
          </a:xfrm>
          <a:custGeom>
            <a:avLst/>
            <a:gdLst/>
            <a:ahLst/>
            <a:cxnLst/>
            <a:rect l="l" t="t" r="r" b="b"/>
            <a:pathLst>
              <a:path w="5219700" h="647700">
                <a:moveTo>
                  <a:pt x="76202" y="0"/>
                </a:moveTo>
                <a:lnTo>
                  <a:pt x="5143498" y="0"/>
                </a:lnTo>
                <a:cubicBezTo>
                  <a:pt x="5185583" y="0"/>
                  <a:pt x="5219700" y="34117"/>
                  <a:pt x="5219700" y="76202"/>
                </a:cubicBezTo>
                <a:lnTo>
                  <a:pt x="5219700" y="571498"/>
                </a:lnTo>
                <a:cubicBezTo>
                  <a:pt x="5219700" y="613583"/>
                  <a:pt x="5185583" y="647700"/>
                  <a:pt x="5143498" y="647700"/>
                </a:cubicBezTo>
                <a:lnTo>
                  <a:pt x="76202" y="647700"/>
                </a:lnTo>
                <a:cubicBezTo>
                  <a:pt x="34117" y="647700"/>
                  <a:pt x="0" y="613583"/>
                  <a:pt x="0" y="571498"/>
                </a:cubicBezTo>
                <a:lnTo>
                  <a:pt x="0" y="76202"/>
                </a:lnTo>
                <a:cubicBezTo>
                  <a:pt x="0" y="34117"/>
                  <a:pt x="34117" y="0"/>
                  <a:pt x="76202" y="0"/>
                </a:cubicBezTo>
                <a:close/>
              </a:path>
            </a:pathLst>
          </a:custGeom>
          <a:solidFill>
            <a:srgbClr val="FFFFFF">
              <a:alpha val="10196"/>
            </a:srgbClr>
          </a:solidFill>
          <a:ln/>
        </p:spPr>
      </p:sp>
      <p:sp>
        <p:nvSpPr>
          <p:cNvPr id="65" name="Shape 63"/>
          <p:cNvSpPr/>
          <p:nvPr/>
        </p:nvSpPr>
        <p:spPr>
          <a:xfrm>
            <a:off x="6515100" y="5295900"/>
            <a:ext cx="238125" cy="190500"/>
          </a:xfrm>
          <a:custGeom>
            <a:avLst/>
            <a:gdLst/>
            <a:ahLst/>
            <a:cxnLst/>
            <a:rect l="l" t="t" r="r" b="b"/>
            <a:pathLst>
              <a:path w="238125" h="190500">
                <a:moveTo>
                  <a:pt x="23812" y="35719"/>
                </a:moveTo>
                <a:cubicBezTo>
                  <a:pt x="23812" y="22585"/>
                  <a:pt x="34491" y="11906"/>
                  <a:pt x="47625" y="11906"/>
                </a:cubicBezTo>
                <a:lnTo>
                  <a:pt x="154781" y="11906"/>
                </a:lnTo>
                <a:cubicBezTo>
                  <a:pt x="167915" y="11906"/>
                  <a:pt x="178594" y="22585"/>
                  <a:pt x="178594" y="35719"/>
                </a:cubicBezTo>
                <a:lnTo>
                  <a:pt x="178594" y="47625"/>
                </a:lnTo>
                <a:lnTo>
                  <a:pt x="197458" y="47625"/>
                </a:lnTo>
                <a:cubicBezTo>
                  <a:pt x="203783" y="47625"/>
                  <a:pt x="209848" y="50118"/>
                  <a:pt x="214313" y="54583"/>
                </a:cubicBezTo>
                <a:lnTo>
                  <a:pt x="231167" y="71438"/>
                </a:lnTo>
                <a:cubicBezTo>
                  <a:pt x="235632" y="75902"/>
                  <a:pt x="238125" y="81967"/>
                  <a:pt x="238125" y="88292"/>
                </a:cubicBezTo>
                <a:lnTo>
                  <a:pt x="238125" y="142875"/>
                </a:lnTo>
                <a:cubicBezTo>
                  <a:pt x="238125" y="156009"/>
                  <a:pt x="227447" y="166688"/>
                  <a:pt x="214313" y="166688"/>
                </a:cubicBezTo>
                <a:lnTo>
                  <a:pt x="213085" y="166688"/>
                </a:lnTo>
                <a:cubicBezTo>
                  <a:pt x="209215" y="180417"/>
                  <a:pt x="196565" y="190500"/>
                  <a:pt x="181570" y="190500"/>
                </a:cubicBezTo>
                <a:cubicBezTo>
                  <a:pt x="166576" y="190500"/>
                  <a:pt x="153963" y="180417"/>
                  <a:pt x="150056" y="166688"/>
                </a:cubicBezTo>
                <a:lnTo>
                  <a:pt x="111882" y="166688"/>
                </a:lnTo>
                <a:cubicBezTo>
                  <a:pt x="108012" y="180417"/>
                  <a:pt x="95362" y="190500"/>
                  <a:pt x="80367" y="190500"/>
                </a:cubicBezTo>
                <a:cubicBezTo>
                  <a:pt x="65373" y="190500"/>
                  <a:pt x="52760" y="180417"/>
                  <a:pt x="48853" y="166688"/>
                </a:cubicBezTo>
                <a:lnTo>
                  <a:pt x="47625" y="166688"/>
                </a:lnTo>
                <a:cubicBezTo>
                  <a:pt x="34491" y="166688"/>
                  <a:pt x="23813" y="156009"/>
                  <a:pt x="23813" y="142875"/>
                </a:cubicBezTo>
                <a:lnTo>
                  <a:pt x="23813" y="125016"/>
                </a:lnTo>
                <a:lnTo>
                  <a:pt x="8930" y="125016"/>
                </a:lnTo>
                <a:cubicBezTo>
                  <a:pt x="3981" y="125016"/>
                  <a:pt x="0" y="121034"/>
                  <a:pt x="0" y="116086"/>
                </a:cubicBezTo>
                <a:cubicBezTo>
                  <a:pt x="0" y="111137"/>
                  <a:pt x="3981" y="107156"/>
                  <a:pt x="8930" y="107156"/>
                </a:cubicBezTo>
                <a:lnTo>
                  <a:pt x="50602" y="107156"/>
                </a:lnTo>
                <a:cubicBezTo>
                  <a:pt x="55550" y="107156"/>
                  <a:pt x="59531" y="103175"/>
                  <a:pt x="59531" y="98227"/>
                </a:cubicBezTo>
                <a:cubicBezTo>
                  <a:pt x="59531" y="93278"/>
                  <a:pt x="55550" y="89297"/>
                  <a:pt x="50602" y="89297"/>
                </a:cubicBezTo>
                <a:lnTo>
                  <a:pt x="8930" y="89297"/>
                </a:lnTo>
                <a:cubicBezTo>
                  <a:pt x="3981" y="89297"/>
                  <a:pt x="0" y="85316"/>
                  <a:pt x="0" y="80367"/>
                </a:cubicBezTo>
                <a:cubicBezTo>
                  <a:pt x="0" y="75419"/>
                  <a:pt x="3981" y="71438"/>
                  <a:pt x="8930" y="71438"/>
                </a:cubicBezTo>
                <a:lnTo>
                  <a:pt x="74414" y="71438"/>
                </a:lnTo>
                <a:cubicBezTo>
                  <a:pt x="79363" y="71438"/>
                  <a:pt x="83344" y="67456"/>
                  <a:pt x="83344" y="62508"/>
                </a:cubicBezTo>
                <a:cubicBezTo>
                  <a:pt x="83344" y="57559"/>
                  <a:pt x="79363" y="53578"/>
                  <a:pt x="74414" y="53578"/>
                </a:cubicBezTo>
                <a:lnTo>
                  <a:pt x="8930" y="53578"/>
                </a:lnTo>
                <a:cubicBezTo>
                  <a:pt x="3981" y="53578"/>
                  <a:pt x="0" y="49597"/>
                  <a:pt x="0" y="44648"/>
                </a:cubicBezTo>
                <a:cubicBezTo>
                  <a:pt x="0" y="39700"/>
                  <a:pt x="3981" y="35719"/>
                  <a:pt x="8930" y="35719"/>
                </a:cubicBezTo>
                <a:lnTo>
                  <a:pt x="23812" y="35719"/>
                </a:lnTo>
                <a:close/>
                <a:moveTo>
                  <a:pt x="214313" y="107156"/>
                </a:moveTo>
                <a:lnTo>
                  <a:pt x="214313" y="88292"/>
                </a:lnTo>
                <a:lnTo>
                  <a:pt x="197458" y="71438"/>
                </a:lnTo>
                <a:lnTo>
                  <a:pt x="178594" y="71438"/>
                </a:lnTo>
                <a:lnTo>
                  <a:pt x="178594" y="107156"/>
                </a:lnTo>
                <a:lnTo>
                  <a:pt x="214313" y="107156"/>
                </a:lnTo>
                <a:close/>
                <a:moveTo>
                  <a:pt x="95250" y="157758"/>
                </a:moveTo>
                <a:cubicBezTo>
                  <a:pt x="95250" y="149544"/>
                  <a:pt x="88581" y="142875"/>
                  <a:pt x="80367" y="142875"/>
                </a:cubicBezTo>
                <a:cubicBezTo>
                  <a:pt x="72153" y="142875"/>
                  <a:pt x="65484" y="149544"/>
                  <a:pt x="65484" y="157758"/>
                </a:cubicBezTo>
                <a:cubicBezTo>
                  <a:pt x="65484" y="165972"/>
                  <a:pt x="72153" y="172641"/>
                  <a:pt x="80367" y="172641"/>
                </a:cubicBezTo>
                <a:cubicBezTo>
                  <a:pt x="88581" y="172641"/>
                  <a:pt x="95250" y="165972"/>
                  <a:pt x="95250" y="157758"/>
                </a:cubicBezTo>
                <a:close/>
                <a:moveTo>
                  <a:pt x="181570" y="172641"/>
                </a:moveTo>
                <a:cubicBezTo>
                  <a:pt x="189784" y="172641"/>
                  <a:pt x="196453" y="165972"/>
                  <a:pt x="196453" y="157758"/>
                </a:cubicBezTo>
                <a:cubicBezTo>
                  <a:pt x="196453" y="149544"/>
                  <a:pt x="189784" y="142875"/>
                  <a:pt x="181570" y="142875"/>
                </a:cubicBezTo>
                <a:cubicBezTo>
                  <a:pt x="173356" y="142875"/>
                  <a:pt x="166688" y="149544"/>
                  <a:pt x="166688" y="157758"/>
                </a:cubicBezTo>
                <a:cubicBezTo>
                  <a:pt x="166688" y="165972"/>
                  <a:pt x="173356" y="172641"/>
                  <a:pt x="181570" y="172641"/>
                </a:cubicBezTo>
                <a:close/>
              </a:path>
            </a:pathLst>
          </a:custGeom>
          <a:solidFill>
            <a:srgbClr val="D4A574"/>
          </a:solidFill>
          <a:ln/>
        </p:spPr>
      </p:sp>
      <p:sp>
        <p:nvSpPr>
          <p:cNvPr id="66" name="Text 64"/>
          <p:cNvSpPr/>
          <p:nvPr/>
        </p:nvSpPr>
        <p:spPr>
          <a:xfrm>
            <a:off x="6867525" y="5181600"/>
            <a:ext cx="177165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Liter" pitchFamily="34" charset="0"/>
                <a:ea typeface="Liter" pitchFamily="34" charset="-122"/>
                <a:cs typeface="Liter" pitchFamily="34" charset="-120"/>
              </a:rPr>
              <a:t>Shipping Type</a:t>
            </a:r>
            <a:endParaRPr lang="en-US" sz="1600" dirty="0"/>
          </a:p>
        </p:txBody>
      </p:sp>
      <p:sp>
        <p:nvSpPr>
          <p:cNvPr id="67" name="Text 65"/>
          <p:cNvSpPr/>
          <p:nvPr/>
        </p:nvSpPr>
        <p:spPr>
          <a:xfrm>
            <a:off x="6867525" y="5410200"/>
            <a:ext cx="1762125" cy="190500"/>
          </a:xfrm>
          <a:prstGeom prst="rect">
            <a:avLst/>
          </a:prstGeom>
          <a:noFill/>
          <a:ln/>
        </p:spPr>
        <p:txBody>
          <a:bodyPr wrap="square" lIns="0" tIns="0" rIns="0" bIns="0" rtlCol="0" anchor="ctr"/>
          <a:lstStyle/>
          <a:p>
            <a:pP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Standard vs. Express delivery</a:t>
            </a:r>
            <a:endParaRPr lang="en-US" sz="1600" dirty="0"/>
          </a:p>
        </p:txBody>
      </p:sp>
      <p:sp>
        <p:nvSpPr>
          <p:cNvPr id="68" name="Shape 66"/>
          <p:cNvSpPr/>
          <p:nvPr/>
        </p:nvSpPr>
        <p:spPr>
          <a:xfrm>
            <a:off x="6210300" y="6057900"/>
            <a:ext cx="5600700" cy="1714500"/>
          </a:xfrm>
          <a:custGeom>
            <a:avLst/>
            <a:gdLst/>
            <a:ahLst/>
            <a:cxnLst/>
            <a:rect l="l" t="t" r="r" b="b"/>
            <a:pathLst>
              <a:path w="5600700" h="1714500">
                <a:moveTo>
                  <a:pt x="114306" y="0"/>
                </a:moveTo>
                <a:lnTo>
                  <a:pt x="5486394" y="0"/>
                </a:lnTo>
                <a:cubicBezTo>
                  <a:pt x="5549524" y="0"/>
                  <a:pt x="5600700" y="51176"/>
                  <a:pt x="5600700" y="114306"/>
                </a:cubicBezTo>
                <a:lnTo>
                  <a:pt x="5600700" y="1600194"/>
                </a:lnTo>
                <a:cubicBezTo>
                  <a:pt x="5600700" y="1663324"/>
                  <a:pt x="5549524" y="1714500"/>
                  <a:pt x="5486394" y="1714500"/>
                </a:cubicBezTo>
                <a:lnTo>
                  <a:pt x="114306" y="1714500"/>
                </a:lnTo>
                <a:cubicBezTo>
                  <a:pt x="51176" y="1714500"/>
                  <a:pt x="0" y="1663324"/>
                  <a:pt x="0" y="1600194"/>
                </a:cubicBezTo>
                <a:lnTo>
                  <a:pt x="0" y="114306"/>
                </a:lnTo>
                <a:cubicBezTo>
                  <a:pt x="0" y="51176"/>
                  <a:pt x="51176" y="0"/>
                  <a:pt x="114306" y="0"/>
                </a:cubicBezTo>
                <a:close/>
              </a:path>
            </a:pathLst>
          </a:custGeom>
          <a:solidFill>
            <a:srgbClr val="FFFFFF"/>
          </a:solidFill>
          <a:ln/>
          <a:effectLst>
            <a:outerShdw sx="100000" sy="100000" kx="0" ky="0" algn="bl" rotWithShape="0" blurRad="57150" dist="38100" dir="5400000">
              <a:srgbClr val="000000">
                <a:alpha val="10196"/>
              </a:srgbClr>
            </a:outerShdw>
          </a:effectLst>
        </p:spPr>
      </p:sp>
      <p:sp>
        <p:nvSpPr>
          <p:cNvPr id="69" name="Shape 67"/>
          <p:cNvSpPr/>
          <p:nvPr/>
        </p:nvSpPr>
        <p:spPr>
          <a:xfrm>
            <a:off x="6429375" y="6267450"/>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2E5A4C"/>
          </a:solidFill>
          <a:ln/>
        </p:spPr>
      </p:sp>
      <p:sp>
        <p:nvSpPr>
          <p:cNvPr id="70" name="Text 68"/>
          <p:cNvSpPr/>
          <p:nvPr/>
        </p:nvSpPr>
        <p:spPr>
          <a:xfrm>
            <a:off x="6800850" y="6248400"/>
            <a:ext cx="1009650" cy="266700"/>
          </a:xfrm>
          <a:prstGeom prst="rect">
            <a:avLst/>
          </a:prstGeom>
          <a:noFill/>
          <a:ln/>
        </p:spPr>
        <p:txBody>
          <a:bodyPr wrap="square" lIns="0" tIns="0" rIns="0" bIns="0" rtlCol="0" anchor="ctr"/>
          <a:lstStyle/>
          <a:p>
            <a:pPr>
              <a:lnSpc>
                <a:spcPct val="130000"/>
              </a:lnSpc>
            </a:pPr>
            <a:r>
              <a:rPr lang="en-US" sz="1350" b="1" dirty="0">
                <a:solidFill>
                  <a:srgbClr val="2E5A4C"/>
                </a:solidFill>
                <a:latin typeface="Liter" pitchFamily="34" charset="0"/>
                <a:ea typeface="Liter" pitchFamily="34" charset="-122"/>
                <a:cs typeface="Liter" pitchFamily="34" charset="-120"/>
              </a:rPr>
              <a:t>Data Quality</a:t>
            </a:r>
            <a:endParaRPr lang="en-US" sz="1600" dirty="0"/>
          </a:p>
        </p:txBody>
      </p:sp>
      <p:sp>
        <p:nvSpPr>
          <p:cNvPr id="71" name="Text 69"/>
          <p:cNvSpPr/>
          <p:nvPr/>
        </p:nvSpPr>
        <p:spPr>
          <a:xfrm>
            <a:off x="6400800" y="6629400"/>
            <a:ext cx="1047750" cy="228600"/>
          </a:xfrm>
          <a:prstGeom prst="rect">
            <a:avLst/>
          </a:prstGeom>
          <a:noFill/>
          <a:ln/>
        </p:spPr>
        <p:txBody>
          <a:bodyPr wrap="square" lIns="0" tIns="0" rIns="0" bIns="0" rtlCol="0" anchor="ctr"/>
          <a:lstStyle/>
          <a:p>
            <a:pPr>
              <a:lnSpc>
                <a:spcPct val="130000"/>
              </a:lnSpc>
            </a:pPr>
            <a:r>
              <a:rPr lang="en-US" sz="1200" dirty="0">
                <a:solidFill>
                  <a:srgbClr val="2C3E50"/>
                </a:solidFill>
                <a:latin typeface="Quattrocento Sans" pitchFamily="34" charset="0"/>
                <a:ea typeface="Quattrocento Sans" pitchFamily="34" charset="-122"/>
                <a:cs typeface="Quattrocento Sans" pitchFamily="34" charset="-120"/>
              </a:rPr>
              <a:t>Missing Values</a:t>
            </a:r>
            <a:endParaRPr lang="en-US" sz="1600" dirty="0"/>
          </a:p>
        </p:txBody>
      </p:sp>
      <p:sp>
        <p:nvSpPr>
          <p:cNvPr id="72" name="Text 70"/>
          <p:cNvSpPr/>
          <p:nvPr/>
        </p:nvSpPr>
        <p:spPr>
          <a:xfrm>
            <a:off x="10911603" y="6629400"/>
            <a:ext cx="781050" cy="228600"/>
          </a:xfrm>
          <a:prstGeom prst="rect">
            <a:avLst/>
          </a:prstGeom>
          <a:noFill/>
          <a:ln/>
        </p:spPr>
        <p:txBody>
          <a:bodyPr wrap="square" lIns="0" tIns="0" rIns="0" bIns="0" rtlCol="0" anchor="ctr"/>
          <a:lstStyle/>
          <a:p>
            <a:pPr>
              <a:lnSpc>
                <a:spcPct val="130000"/>
              </a:lnSpc>
            </a:pPr>
            <a:r>
              <a:rPr lang="en-US" sz="1200" b="1" dirty="0">
                <a:solidFill>
                  <a:srgbClr val="C75B39"/>
                </a:solidFill>
                <a:latin typeface="Quattrocento Sans" pitchFamily="34" charset="0"/>
                <a:ea typeface="Quattrocento Sans" pitchFamily="34" charset="-122"/>
                <a:cs typeface="Quattrocento Sans" pitchFamily="34" charset="-120"/>
              </a:rPr>
              <a:t>37 (0.95%)</a:t>
            </a:r>
            <a:endParaRPr lang="en-US" sz="1600" dirty="0"/>
          </a:p>
        </p:txBody>
      </p:sp>
      <p:sp>
        <p:nvSpPr>
          <p:cNvPr id="73" name="Text 71"/>
          <p:cNvSpPr/>
          <p:nvPr/>
        </p:nvSpPr>
        <p:spPr>
          <a:xfrm>
            <a:off x="6400800" y="6934200"/>
            <a:ext cx="1343025" cy="228600"/>
          </a:xfrm>
          <a:prstGeom prst="rect">
            <a:avLst/>
          </a:prstGeom>
          <a:noFill/>
          <a:ln/>
        </p:spPr>
        <p:txBody>
          <a:bodyPr wrap="square" lIns="0" tIns="0" rIns="0" bIns="0" rtlCol="0" anchor="ctr"/>
          <a:lstStyle/>
          <a:p>
            <a:pPr>
              <a:lnSpc>
                <a:spcPct val="130000"/>
              </a:lnSpc>
            </a:pPr>
            <a:r>
              <a:rPr lang="en-US" sz="1200" dirty="0">
                <a:solidFill>
                  <a:srgbClr val="2C3E50"/>
                </a:solidFill>
                <a:latin typeface="Quattrocento Sans" pitchFamily="34" charset="0"/>
                <a:ea typeface="Quattrocento Sans" pitchFamily="34" charset="-122"/>
                <a:cs typeface="Quattrocento Sans" pitchFamily="34" charset="-120"/>
              </a:rPr>
              <a:t>Imputation Method</a:t>
            </a:r>
            <a:endParaRPr lang="en-US" sz="1600" dirty="0"/>
          </a:p>
        </p:txBody>
      </p:sp>
      <p:sp>
        <p:nvSpPr>
          <p:cNvPr id="74" name="Text 72"/>
          <p:cNvSpPr/>
          <p:nvPr/>
        </p:nvSpPr>
        <p:spPr>
          <a:xfrm>
            <a:off x="10294144" y="6934200"/>
            <a:ext cx="1400175" cy="228600"/>
          </a:xfrm>
          <a:prstGeom prst="rect">
            <a:avLst/>
          </a:prstGeom>
          <a:noFill/>
          <a:ln/>
        </p:spPr>
        <p:txBody>
          <a:bodyPr wrap="square" lIns="0" tIns="0" rIns="0" bIns="0" rtlCol="0" anchor="ctr"/>
          <a:lstStyle/>
          <a:p>
            <a:pPr>
              <a:lnSpc>
                <a:spcPct val="130000"/>
              </a:lnSpc>
            </a:pPr>
            <a:r>
              <a:rPr lang="en-US" sz="1200" b="1" dirty="0">
                <a:solidFill>
                  <a:srgbClr val="2E5A4C"/>
                </a:solidFill>
                <a:latin typeface="Quattrocento Sans" pitchFamily="34" charset="0"/>
                <a:ea typeface="Quattrocento Sans" pitchFamily="34" charset="-122"/>
                <a:cs typeface="Quattrocento Sans" pitchFamily="34" charset="-120"/>
              </a:rPr>
              <a:t>Median by Category</a:t>
            </a:r>
            <a:endParaRPr lang="en-US" sz="1600" dirty="0"/>
          </a:p>
        </p:txBody>
      </p:sp>
      <p:sp>
        <p:nvSpPr>
          <p:cNvPr id="75" name="Shape 73"/>
          <p:cNvSpPr/>
          <p:nvPr/>
        </p:nvSpPr>
        <p:spPr>
          <a:xfrm>
            <a:off x="6400800" y="7239000"/>
            <a:ext cx="5219700" cy="76200"/>
          </a:xfrm>
          <a:custGeom>
            <a:avLst/>
            <a:gdLst/>
            <a:ahLst/>
            <a:cxnLst/>
            <a:rect l="l" t="t" r="r" b="b"/>
            <a:pathLst>
              <a:path w="5219700" h="76200">
                <a:moveTo>
                  <a:pt x="38100" y="0"/>
                </a:moveTo>
                <a:lnTo>
                  <a:pt x="5181600" y="0"/>
                </a:lnTo>
                <a:cubicBezTo>
                  <a:pt x="5202628" y="0"/>
                  <a:pt x="5219700" y="17072"/>
                  <a:pt x="5219700" y="38100"/>
                </a:cubicBezTo>
                <a:lnTo>
                  <a:pt x="5219700" y="38100"/>
                </a:lnTo>
                <a:cubicBezTo>
                  <a:pt x="5219700" y="59128"/>
                  <a:pt x="5202628" y="76200"/>
                  <a:pt x="5181600" y="76200"/>
                </a:cubicBezTo>
                <a:lnTo>
                  <a:pt x="38100" y="76200"/>
                </a:lnTo>
                <a:cubicBezTo>
                  <a:pt x="17072" y="76200"/>
                  <a:pt x="0" y="59128"/>
                  <a:pt x="0" y="38100"/>
                </a:cubicBezTo>
                <a:lnTo>
                  <a:pt x="0" y="38100"/>
                </a:lnTo>
                <a:cubicBezTo>
                  <a:pt x="0" y="17072"/>
                  <a:pt x="17072" y="0"/>
                  <a:pt x="38100" y="0"/>
                </a:cubicBezTo>
                <a:close/>
              </a:path>
            </a:pathLst>
          </a:custGeom>
          <a:solidFill>
            <a:srgbClr val="E5E7EB"/>
          </a:solidFill>
          <a:ln/>
        </p:spPr>
      </p:sp>
      <p:sp>
        <p:nvSpPr>
          <p:cNvPr id="76" name="Shape 74"/>
          <p:cNvSpPr/>
          <p:nvPr/>
        </p:nvSpPr>
        <p:spPr>
          <a:xfrm>
            <a:off x="6400800" y="7239000"/>
            <a:ext cx="5172075" cy="76200"/>
          </a:xfrm>
          <a:custGeom>
            <a:avLst/>
            <a:gdLst/>
            <a:ahLst/>
            <a:cxnLst/>
            <a:rect l="l" t="t" r="r" b="b"/>
            <a:pathLst>
              <a:path w="5172075" h="76200">
                <a:moveTo>
                  <a:pt x="38100" y="0"/>
                </a:moveTo>
                <a:lnTo>
                  <a:pt x="5133975" y="0"/>
                </a:lnTo>
                <a:cubicBezTo>
                  <a:pt x="5155003" y="0"/>
                  <a:pt x="5172075" y="17072"/>
                  <a:pt x="5172075" y="38100"/>
                </a:cubicBezTo>
                <a:lnTo>
                  <a:pt x="5172075" y="38100"/>
                </a:lnTo>
                <a:cubicBezTo>
                  <a:pt x="5172075" y="59128"/>
                  <a:pt x="5155003" y="76200"/>
                  <a:pt x="5133975" y="76200"/>
                </a:cubicBezTo>
                <a:lnTo>
                  <a:pt x="38100" y="76200"/>
                </a:lnTo>
                <a:cubicBezTo>
                  <a:pt x="17072" y="76200"/>
                  <a:pt x="0" y="59128"/>
                  <a:pt x="0" y="38100"/>
                </a:cubicBezTo>
                <a:lnTo>
                  <a:pt x="0" y="38100"/>
                </a:lnTo>
                <a:cubicBezTo>
                  <a:pt x="0" y="17072"/>
                  <a:pt x="17072" y="0"/>
                  <a:pt x="38100" y="0"/>
                </a:cubicBezTo>
                <a:close/>
              </a:path>
            </a:pathLst>
          </a:custGeom>
          <a:solidFill>
            <a:srgbClr val="2E5A4C"/>
          </a:solidFill>
          <a:ln/>
        </p:spPr>
      </p:sp>
      <p:sp>
        <p:nvSpPr>
          <p:cNvPr id="77" name="Text 75"/>
          <p:cNvSpPr/>
          <p:nvPr/>
        </p:nvSpPr>
        <p:spPr>
          <a:xfrm>
            <a:off x="6334125" y="7391400"/>
            <a:ext cx="5286375" cy="190500"/>
          </a:xfrm>
          <a:prstGeom prst="rect">
            <a:avLst/>
          </a:prstGeom>
          <a:noFill/>
          <a:ln/>
        </p:spPr>
        <p:txBody>
          <a:bodyPr wrap="square" lIns="0" tIns="0" rIns="0" bIns="0" rtlCol="0" anchor="ctr"/>
          <a:lstStyle/>
          <a:p>
            <a:pPr algn="r">
              <a:lnSpc>
                <a:spcPct val="120000"/>
              </a:lnSpc>
            </a:pPr>
            <a:r>
              <a:rPr lang="en-US" sz="1050" dirty="0">
                <a:solidFill>
                  <a:srgbClr val="2C3E50">
                    <a:alpha val="70000"/>
                  </a:srgbClr>
                </a:solidFill>
                <a:latin typeface="Quattrocento Sans" pitchFamily="34" charset="0"/>
                <a:ea typeface="Quattrocento Sans" pitchFamily="34" charset="-122"/>
                <a:cs typeface="Quattrocento Sans" pitchFamily="34" charset="-120"/>
              </a:rPr>
              <a:t>99.05% Complete Data</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57275" y="428730"/>
            <a:ext cx="428730" cy="35727"/>
          </a:xfrm>
          <a:custGeom>
            <a:avLst/>
            <a:gdLst/>
            <a:ahLst/>
            <a:cxnLst/>
            <a:rect l="l" t="t" r="r" b="b"/>
            <a:pathLst>
              <a:path w="428730" h="35727">
                <a:moveTo>
                  <a:pt x="0" y="0"/>
                </a:moveTo>
                <a:lnTo>
                  <a:pt x="428730" y="0"/>
                </a:lnTo>
                <a:lnTo>
                  <a:pt x="428730" y="35727"/>
                </a:lnTo>
                <a:lnTo>
                  <a:pt x="0" y="35727"/>
                </a:lnTo>
                <a:lnTo>
                  <a:pt x="0" y="0"/>
                </a:lnTo>
                <a:close/>
              </a:path>
            </a:pathLst>
          </a:custGeom>
          <a:solidFill>
            <a:srgbClr val="D4A574"/>
          </a:solidFill>
          <a:ln/>
        </p:spPr>
      </p:sp>
      <p:sp>
        <p:nvSpPr>
          <p:cNvPr id="3" name="Text 1"/>
          <p:cNvSpPr/>
          <p:nvPr/>
        </p:nvSpPr>
        <p:spPr>
          <a:xfrm>
            <a:off x="893187" y="357275"/>
            <a:ext cx="893187" cy="178637"/>
          </a:xfrm>
          <a:prstGeom prst="rect">
            <a:avLst/>
          </a:prstGeom>
          <a:noFill/>
          <a:ln/>
        </p:spPr>
        <p:txBody>
          <a:bodyPr wrap="square" lIns="0" tIns="0" rIns="0" bIns="0" rtlCol="0" anchor="ctr"/>
          <a:lstStyle/>
          <a:p>
            <a:pPr>
              <a:lnSpc>
                <a:spcPct val="120000"/>
              </a:lnSpc>
            </a:pPr>
            <a:r>
              <a:rPr lang="en-US" sz="985" spc="98" kern="0" dirty="0">
                <a:solidFill>
                  <a:srgbClr val="D4A574"/>
                </a:solidFill>
                <a:latin typeface="Liter" pitchFamily="34" charset="0"/>
                <a:ea typeface="Liter" pitchFamily="34" charset="-122"/>
                <a:cs typeface="Liter" pitchFamily="34" charset="-120"/>
              </a:rPr>
              <a:t>Section 02</a:t>
            </a:r>
            <a:endParaRPr lang="en-US" sz="1600" dirty="0"/>
          </a:p>
        </p:txBody>
      </p:sp>
      <p:sp>
        <p:nvSpPr>
          <p:cNvPr id="4" name="Text 2"/>
          <p:cNvSpPr/>
          <p:nvPr/>
        </p:nvSpPr>
        <p:spPr>
          <a:xfrm>
            <a:off x="357275" y="643095"/>
            <a:ext cx="11638224" cy="357275"/>
          </a:xfrm>
          <a:prstGeom prst="rect">
            <a:avLst/>
          </a:prstGeom>
          <a:noFill/>
          <a:ln/>
        </p:spPr>
        <p:txBody>
          <a:bodyPr wrap="square" lIns="0" tIns="0" rIns="0" bIns="0" rtlCol="0" anchor="ctr"/>
          <a:lstStyle/>
          <a:p>
            <a:pPr>
              <a:lnSpc>
                <a:spcPct val="90000"/>
              </a:lnSpc>
            </a:pPr>
            <a:r>
              <a:rPr lang="en-US" sz="2532" b="1" dirty="0">
                <a:solidFill>
                  <a:srgbClr val="2E5A4C"/>
                </a:solidFill>
                <a:latin typeface="Oranienbaum" pitchFamily="34" charset="0"/>
                <a:ea typeface="Oranienbaum" pitchFamily="34" charset="-122"/>
                <a:cs typeface="Oranienbaum" pitchFamily="34" charset="-120"/>
              </a:rPr>
              <a:t>Methodology: Three-Layer Analytics Approach</a:t>
            </a:r>
            <a:endParaRPr lang="en-US" sz="1600" dirty="0"/>
          </a:p>
        </p:txBody>
      </p:sp>
      <p:sp>
        <p:nvSpPr>
          <p:cNvPr id="5" name="Shape 3"/>
          <p:cNvSpPr/>
          <p:nvPr/>
        </p:nvSpPr>
        <p:spPr>
          <a:xfrm>
            <a:off x="357275" y="1214734"/>
            <a:ext cx="3679930" cy="5359121"/>
          </a:xfrm>
          <a:custGeom>
            <a:avLst/>
            <a:gdLst/>
            <a:ahLst/>
            <a:cxnLst/>
            <a:rect l="l" t="t" r="r" b="b"/>
            <a:pathLst>
              <a:path w="3679930" h="5359121">
                <a:moveTo>
                  <a:pt x="107196" y="0"/>
                </a:moveTo>
                <a:lnTo>
                  <a:pt x="3572733" y="0"/>
                </a:lnTo>
                <a:cubicBezTo>
                  <a:pt x="3631936" y="0"/>
                  <a:pt x="3679930" y="47993"/>
                  <a:pt x="3679930" y="107196"/>
                </a:cubicBezTo>
                <a:lnTo>
                  <a:pt x="3679930" y="5251925"/>
                </a:lnTo>
                <a:cubicBezTo>
                  <a:pt x="3679930" y="5311127"/>
                  <a:pt x="3631936" y="5359121"/>
                  <a:pt x="3572733" y="5359121"/>
                </a:cubicBezTo>
                <a:lnTo>
                  <a:pt x="107196" y="5359121"/>
                </a:lnTo>
                <a:cubicBezTo>
                  <a:pt x="47993" y="5359121"/>
                  <a:pt x="0" y="5311127"/>
                  <a:pt x="0" y="5251925"/>
                </a:cubicBezTo>
                <a:lnTo>
                  <a:pt x="0" y="107196"/>
                </a:lnTo>
                <a:cubicBezTo>
                  <a:pt x="0" y="48033"/>
                  <a:pt x="48033" y="0"/>
                  <a:pt x="107196" y="0"/>
                </a:cubicBezTo>
                <a:close/>
              </a:path>
            </a:pathLst>
          </a:custGeom>
          <a:gradFill rotWithShape="1" flip="none">
            <a:gsLst>
              <a:gs pos="0">
                <a:srgbClr val="2E5A4C"/>
              </a:gs>
              <a:gs pos="100000">
                <a:srgbClr val="2E5A4C">
                  <a:alpha val="90000"/>
                </a:srgbClr>
              </a:gs>
            </a:gsLst>
            <a:lin ang="2700000" scaled="1"/>
          </a:gradFill>
          <a:ln/>
          <a:effectLst>
            <a:outerShdw sx="100000" sy="100000" kx="0" ky="0" algn="bl" rotWithShape="0" blurRad="133978" dist="89319" dir="5400000">
              <a:srgbClr val="000000">
                <a:alpha val="10196"/>
              </a:srgbClr>
            </a:outerShdw>
          </a:effectLst>
        </p:spPr>
      </p:sp>
      <p:sp>
        <p:nvSpPr>
          <p:cNvPr id="6" name="Shape 4"/>
          <p:cNvSpPr/>
          <p:nvPr/>
        </p:nvSpPr>
        <p:spPr>
          <a:xfrm>
            <a:off x="571640" y="1429099"/>
            <a:ext cx="571640" cy="571640"/>
          </a:xfrm>
          <a:custGeom>
            <a:avLst/>
            <a:gdLst/>
            <a:ahLst/>
            <a:cxnLst/>
            <a:rect l="l" t="t" r="r" b="b"/>
            <a:pathLst>
              <a:path w="571640" h="571640">
                <a:moveTo>
                  <a:pt x="285820" y="0"/>
                </a:moveTo>
                <a:lnTo>
                  <a:pt x="285820" y="0"/>
                </a:lnTo>
                <a:cubicBezTo>
                  <a:pt x="443674" y="0"/>
                  <a:pt x="571640" y="127966"/>
                  <a:pt x="571640" y="285820"/>
                </a:cubicBezTo>
                <a:lnTo>
                  <a:pt x="571640" y="285820"/>
                </a:lnTo>
                <a:cubicBezTo>
                  <a:pt x="571640" y="443674"/>
                  <a:pt x="443674" y="571640"/>
                  <a:pt x="285820" y="571640"/>
                </a:cubicBezTo>
                <a:lnTo>
                  <a:pt x="285820" y="571640"/>
                </a:lnTo>
                <a:cubicBezTo>
                  <a:pt x="127966" y="571640"/>
                  <a:pt x="0" y="443674"/>
                  <a:pt x="0" y="285820"/>
                </a:cubicBezTo>
                <a:lnTo>
                  <a:pt x="0" y="285820"/>
                </a:lnTo>
                <a:cubicBezTo>
                  <a:pt x="0" y="127966"/>
                  <a:pt x="127966" y="0"/>
                  <a:pt x="285820" y="0"/>
                </a:cubicBezTo>
                <a:close/>
              </a:path>
            </a:pathLst>
          </a:custGeom>
          <a:solidFill>
            <a:srgbClr val="FFFFFF">
              <a:alpha val="20000"/>
            </a:srgbClr>
          </a:solidFill>
          <a:ln/>
        </p:spPr>
      </p:sp>
      <p:sp>
        <p:nvSpPr>
          <p:cNvPr id="7" name="Text 5"/>
          <p:cNvSpPr/>
          <p:nvPr/>
        </p:nvSpPr>
        <p:spPr>
          <a:xfrm>
            <a:off x="748937" y="1554145"/>
            <a:ext cx="348343" cy="321547"/>
          </a:xfrm>
          <a:prstGeom prst="rect">
            <a:avLst/>
          </a:prstGeom>
          <a:noFill/>
          <a:ln/>
        </p:spPr>
        <p:txBody>
          <a:bodyPr wrap="square" lIns="0" tIns="0" rIns="0" bIns="0" rtlCol="0" anchor="ctr"/>
          <a:lstStyle/>
          <a:p>
            <a:pPr>
              <a:lnSpc>
                <a:spcPct val="100000"/>
              </a:lnSpc>
            </a:pPr>
            <a:r>
              <a:rPr lang="en-US" sz="2110" b="1" dirty="0">
                <a:solidFill>
                  <a:srgbClr val="FFFFFF"/>
                </a:solidFill>
                <a:latin typeface="Oranienbaum" pitchFamily="34" charset="0"/>
                <a:ea typeface="Oranienbaum" pitchFamily="34" charset="-122"/>
                <a:cs typeface="Oranienbaum" pitchFamily="34" charset="-120"/>
              </a:rPr>
              <a:t>01</a:t>
            </a:r>
            <a:endParaRPr lang="en-US" sz="1600" dirty="0"/>
          </a:p>
        </p:txBody>
      </p:sp>
      <p:sp>
        <p:nvSpPr>
          <p:cNvPr id="8" name="Text 6"/>
          <p:cNvSpPr/>
          <p:nvPr/>
        </p:nvSpPr>
        <p:spPr>
          <a:xfrm>
            <a:off x="1286189" y="1482690"/>
            <a:ext cx="2224035" cy="285820"/>
          </a:xfrm>
          <a:prstGeom prst="rect">
            <a:avLst/>
          </a:prstGeom>
          <a:noFill/>
          <a:ln/>
        </p:spPr>
        <p:txBody>
          <a:bodyPr wrap="square" lIns="0" tIns="0" rIns="0" bIns="0" rtlCol="0" anchor="ctr"/>
          <a:lstStyle/>
          <a:p>
            <a:pPr>
              <a:lnSpc>
                <a:spcPct val="110000"/>
              </a:lnSpc>
            </a:pPr>
            <a:r>
              <a:rPr lang="en-US" sz="1688" b="1" dirty="0">
                <a:solidFill>
                  <a:srgbClr val="FFFFFF"/>
                </a:solidFill>
                <a:latin typeface="Liter" pitchFamily="34" charset="0"/>
                <a:ea typeface="Liter" pitchFamily="34" charset="-122"/>
                <a:cs typeface="Liter" pitchFamily="34" charset="-120"/>
              </a:rPr>
              <a:t>Python EDA</a:t>
            </a:r>
            <a:endParaRPr lang="en-US" sz="1600" dirty="0"/>
          </a:p>
        </p:txBody>
      </p:sp>
      <p:sp>
        <p:nvSpPr>
          <p:cNvPr id="9" name="Text 7"/>
          <p:cNvSpPr/>
          <p:nvPr/>
        </p:nvSpPr>
        <p:spPr>
          <a:xfrm>
            <a:off x="1286189" y="1768399"/>
            <a:ext cx="2179376" cy="178637"/>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Data Preparation &amp; Feature Engineering</a:t>
            </a:r>
            <a:endParaRPr lang="en-US" sz="1600" dirty="0"/>
          </a:p>
        </p:txBody>
      </p:sp>
      <p:sp>
        <p:nvSpPr>
          <p:cNvPr id="10" name="Shape 8"/>
          <p:cNvSpPr/>
          <p:nvPr/>
        </p:nvSpPr>
        <p:spPr>
          <a:xfrm>
            <a:off x="571640" y="2143648"/>
            <a:ext cx="3251200" cy="786004"/>
          </a:xfrm>
          <a:custGeom>
            <a:avLst/>
            <a:gdLst/>
            <a:ahLst/>
            <a:cxnLst/>
            <a:rect l="l" t="t" r="r" b="b"/>
            <a:pathLst>
              <a:path w="3251200" h="786004">
                <a:moveTo>
                  <a:pt x="71456" y="0"/>
                </a:moveTo>
                <a:lnTo>
                  <a:pt x="3179744" y="0"/>
                </a:lnTo>
                <a:cubicBezTo>
                  <a:pt x="3219208" y="0"/>
                  <a:pt x="3251200" y="31992"/>
                  <a:pt x="3251200" y="71456"/>
                </a:cubicBezTo>
                <a:lnTo>
                  <a:pt x="3251200" y="714549"/>
                </a:lnTo>
                <a:cubicBezTo>
                  <a:pt x="3251200" y="754013"/>
                  <a:pt x="3219208" y="786004"/>
                  <a:pt x="3179744" y="786004"/>
                </a:cubicBezTo>
                <a:lnTo>
                  <a:pt x="71456" y="786004"/>
                </a:lnTo>
                <a:cubicBezTo>
                  <a:pt x="32018" y="786004"/>
                  <a:pt x="0" y="753986"/>
                  <a:pt x="0" y="714549"/>
                </a:cubicBezTo>
                <a:lnTo>
                  <a:pt x="0" y="71456"/>
                </a:lnTo>
                <a:cubicBezTo>
                  <a:pt x="0" y="32018"/>
                  <a:pt x="32018" y="0"/>
                  <a:pt x="71456" y="0"/>
                </a:cubicBezTo>
                <a:close/>
              </a:path>
            </a:pathLst>
          </a:custGeom>
          <a:solidFill>
            <a:srgbClr val="FFFFFF">
              <a:alpha val="10196"/>
            </a:srgbClr>
          </a:solidFill>
          <a:ln/>
        </p:spPr>
      </p:sp>
      <p:sp>
        <p:nvSpPr>
          <p:cNvPr id="11" name="Shape 9"/>
          <p:cNvSpPr/>
          <p:nvPr/>
        </p:nvSpPr>
        <p:spPr>
          <a:xfrm>
            <a:off x="683288" y="2286558"/>
            <a:ext cx="107182" cy="142910"/>
          </a:xfrm>
          <a:custGeom>
            <a:avLst/>
            <a:gdLst/>
            <a:ahLst/>
            <a:cxnLst/>
            <a:rect l="l" t="t" r="r" b="b"/>
            <a:pathLst>
              <a:path w="107182" h="142910">
                <a:moveTo>
                  <a:pt x="17864" y="0"/>
                </a:moveTo>
                <a:cubicBezTo>
                  <a:pt x="8011" y="0"/>
                  <a:pt x="0" y="8011"/>
                  <a:pt x="0" y="17864"/>
                </a:cubicBezTo>
                <a:lnTo>
                  <a:pt x="0" y="84853"/>
                </a:lnTo>
                <a:lnTo>
                  <a:pt x="50828" y="84853"/>
                </a:lnTo>
                <a:lnTo>
                  <a:pt x="42175" y="76200"/>
                </a:lnTo>
                <a:cubicBezTo>
                  <a:pt x="39551" y="73576"/>
                  <a:pt x="39551" y="69334"/>
                  <a:pt x="42175" y="66738"/>
                </a:cubicBezTo>
                <a:cubicBezTo>
                  <a:pt x="44799" y="64142"/>
                  <a:pt x="49042" y="64114"/>
                  <a:pt x="51637" y="66738"/>
                </a:cubicBezTo>
                <a:lnTo>
                  <a:pt x="71734" y="86835"/>
                </a:lnTo>
                <a:cubicBezTo>
                  <a:pt x="74358" y="89458"/>
                  <a:pt x="74358" y="93701"/>
                  <a:pt x="71734" y="96297"/>
                </a:cubicBezTo>
                <a:lnTo>
                  <a:pt x="51637" y="116393"/>
                </a:lnTo>
                <a:cubicBezTo>
                  <a:pt x="49014" y="119017"/>
                  <a:pt x="44771" y="119017"/>
                  <a:pt x="42175" y="116393"/>
                </a:cubicBezTo>
                <a:cubicBezTo>
                  <a:pt x="39579" y="113770"/>
                  <a:pt x="39551" y="109527"/>
                  <a:pt x="42175" y="106931"/>
                </a:cubicBezTo>
                <a:lnTo>
                  <a:pt x="50828" y="98278"/>
                </a:lnTo>
                <a:lnTo>
                  <a:pt x="0" y="98278"/>
                </a:lnTo>
                <a:lnTo>
                  <a:pt x="0" y="125074"/>
                </a:lnTo>
                <a:cubicBezTo>
                  <a:pt x="0" y="134927"/>
                  <a:pt x="8011" y="142938"/>
                  <a:pt x="17864" y="142938"/>
                </a:cubicBezTo>
                <a:lnTo>
                  <a:pt x="89319" y="142938"/>
                </a:lnTo>
                <a:cubicBezTo>
                  <a:pt x="99172" y="142938"/>
                  <a:pt x="107182" y="134927"/>
                  <a:pt x="107182" y="125074"/>
                </a:cubicBezTo>
                <a:lnTo>
                  <a:pt x="107182" y="47618"/>
                </a:lnTo>
                <a:cubicBezTo>
                  <a:pt x="107182" y="42873"/>
                  <a:pt x="105312" y="38323"/>
                  <a:pt x="101963" y="34974"/>
                </a:cubicBezTo>
                <a:lnTo>
                  <a:pt x="72209" y="5220"/>
                </a:lnTo>
                <a:cubicBezTo>
                  <a:pt x="68859" y="1870"/>
                  <a:pt x="64337" y="0"/>
                  <a:pt x="59592" y="0"/>
                </a:cubicBezTo>
                <a:lnTo>
                  <a:pt x="17864" y="0"/>
                </a:lnTo>
                <a:close/>
                <a:moveTo>
                  <a:pt x="90854" y="49125"/>
                </a:moveTo>
                <a:lnTo>
                  <a:pt x="64756" y="49125"/>
                </a:lnTo>
                <a:cubicBezTo>
                  <a:pt x="61044" y="49125"/>
                  <a:pt x="58057" y="46139"/>
                  <a:pt x="58057" y="42426"/>
                </a:cubicBezTo>
                <a:lnTo>
                  <a:pt x="58057" y="16329"/>
                </a:lnTo>
                <a:lnTo>
                  <a:pt x="90854" y="49125"/>
                </a:lnTo>
                <a:close/>
              </a:path>
            </a:pathLst>
          </a:custGeom>
          <a:solidFill>
            <a:srgbClr val="D4A574"/>
          </a:solidFill>
          <a:ln/>
        </p:spPr>
      </p:sp>
      <p:sp>
        <p:nvSpPr>
          <p:cNvPr id="12" name="Text 10"/>
          <p:cNvSpPr/>
          <p:nvPr/>
        </p:nvSpPr>
        <p:spPr>
          <a:xfrm>
            <a:off x="905468" y="2250831"/>
            <a:ext cx="2884993"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Data Loading</a:t>
            </a:r>
            <a:endParaRPr lang="en-US" sz="1600" dirty="0"/>
          </a:p>
        </p:txBody>
      </p:sp>
      <p:sp>
        <p:nvSpPr>
          <p:cNvPr id="13" name="Text 11"/>
          <p:cNvSpPr/>
          <p:nvPr/>
        </p:nvSpPr>
        <p:spPr>
          <a:xfrm>
            <a:off x="905468" y="2465196"/>
            <a:ext cx="2876062" cy="357275"/>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Imported dataset using pandas, initial exploration with df.info() and .describe()</a:t>
            </a:r>
            <a:endParaRPr lang="en-US" sz="1600" dirty="0"/>
          </a:p>
        </p:txBody>
      </p:sp>
      <p:sp>
        <p:nvSpPr>
          <p:cNvPr id="14" name="Shape 12"/>
          <p:cNvSpPr/>
          <p:nvPr/>
        </p:nvSpPr>
        <p:spPr>
          <a:xfrm>
            <a:off x="571640" y="3036835"/>
            <a:ext cx="3251200" cy="786004"/>
          </a:xfrm>
          <a:custGeom>
            <a:avLst/>
            <a:gdLst/>
            <a:ahLst/>
            <a:cxnLst/>
            <a:rect l="l" t="t" r="r" b="b"/>
            <a:pathLst>
              <a:path w="3251200" h="786004">
                <a:moveTo>
                  <a:pt x="71456" y="0"/>
                </a:moveTo>
                <a:lnTo>
                  <a:pt x="3179744" y="0"/>
                </a:lnTo>
                <a:cubicBezTo>
                  <a:pt x="3219208" y="0"/>
                  <a:pt x="3251200" y="31992"/>
                  <a:pt x="3251200" y="71456"/>
                </a:cubicBezTo>
                <a:lnTo>
                  <a:pt x="3251200" y="714549"/>
                </a:lnTo>
                <a:cubicBezTo>
                  <a:pt x="3251200" y="754013"/>
                  <a:pt x="3219208" y="786004"/>
                  <a:pt x="3179744" y="786004"/>
                </a:cubicBezTo>
                <a:lnTo>
                  <a:pt x="71456" y="786004"/>
                </a:lnTo>
                <a:cubicBezTo>
                  <a:pt x="32018" y="786004"/>
                  <a:pt x="0" y="753986"/>
                  <a:pt x="0" y="714549"/>
                </a:cubicBezTo>
                <a:lnTo>
                  <a:pt x="0" y="71456"/>
                </a:lnTo>
                <a:cubicBezTo>
                  <a:pt x="0" y="32018"/>
                  <a:pt x="32018" y="0"/>
                  <a:pt x="71456" y="0"/>
                </a:cubicBezTo>
                <a:close/>
              </a:path>
            </a:pathLst>
          </a:custGeom>
          <a:solidFill>
            <a:srgbClr val="FFFFFF">
              <a:alpha val="10196"/>
            </a:srgbClr>
          </a:solidFill>
          <a:ln/>
        </p:spPr>
      </p:sp>
      <p:sp>
        <p:nvSpPr>
          <p:cNvPr id="15" name="Shape 13"/>
          <p:cNvSpPr/>
          <p:nvPr/>
        </p:nvSpPr>
        <p:spPr>
          <a:xfrm>
            <a:off x="656492" y="3179745"/>
            <a:ext cx="160774" cy="142910"/>
          </a:xfrm>
          <a:custGeom>
            <a:avLst/>
            <a:gdLst/>
            <a:ahLst/>
            <a:cxnLst/>
            <a:rect l="l" t="t" r="r" b="b"/>
            <a:pathLst>
              <a:path w="160774" h="142910">
                <a:moveTo>
                  <a:pt x="158150" y="15240"/>
                </a:moveTo>
                <a:cubicBezTo>
                  <a:pt x="161639" y="11751"/>
                  <a:pt x="161639" y="6085"/>
                  <a:pt x="158150" y="2596"/>
                </a:cubicBezTo>
                <a:cubicBezTo>
                  <a:pt x="154661" y="-893"/>
                  <a:pt x="148995" y="-893"/>
                  <a:pt x="145506" y="2596"/>
                </a:cubicBezTo>
                <a:lnTo>
                  <a:pt x="91915" y="56187"/>
                </a:lnTo>
                <a:lnTo>
                  <a:pt x="82229" y="46502"/>
                </a:lnTo>
                <a:cubicBezTo>
                  <a:pt x="81057" y="45329"/>
                  <a:pt x="79438" y="44659"/>
                  <a:pt x="77763" y="44659"/>
                </a:cubicBezTo>
                <a:cubicBezTo>
                  <a:pt x="74274" y="44659"/>
                  <a:pt x="71455" y="47478"/>
                  <a:pt x="71455" y="50967"/>
                </a:cubicBezTo>
                <a:lnTo>
                  <a:pt x="71455" y="59090"/>
                </a:lnTo>
                <a:lnTo>
                  <a:pt x="101684" y="89319"/>
                </a:lnTo>
                <a:lnTo>
                  <a:pt x="109806" y="89319"/>
                </a:lnTo>
                <a:cubicBezTo>
                  <a:pt x="113295" y="89319"/>
                  <a:pt x="116114" y="86500"/>
                  <a:pt x="116114" y="83011"/>
                </a:cubicBezTo>
                <a:cubicBezTo>
                  <a:pt x="116114" y="81336"/>
                  <a:pt x="115444" y="79717"/>
                  <a:pt x="114272" y="78545"/>
                </a:cubicBezTo>
                <a:lnTo>
                  <a:pt x="104587" y="68859"/>
                </a:lnTo>
                <a:lnTo>
                  <a:pt x="158178" y="15268"/>
                </a:lnTo>
                <a:close/>
                <a:moveTo>
                  <a:pt x="95208" y="98641"/>
                </a:moveTo>
                <a:lnTo>
                  <a:pt x="62132" y="65565"/>
                </a:lnTo>
                <a:cubicBezTo>
                  <a:pt x="50214" y="64533"/>
                  <a:pt x="38351" y="68831"/>
                  <a:pt x="29810" y="77372"/>
                </a:cubicBezTo>
                <a:lnTo>
                  <a:pt x="27577" y="79605"/>
                </a:lnTo>
                <a:cubicBezTo>
                  <a:pt x="21353" y="85830"/>
                  <a:pt x="17864" y="94259"/>
                  <a:pt x="17864" y="103051"/>
                </a:cubicBezTo>
                <a:cubicBezTo>
                  <a:pt x="17864" y="104949"/>
                  <a:pt x="19845" y="106178"/>
                  <a:pt x="21548" y="105340"/>
                </a:cubicBezTo>
                <a:lnTo>
                  <a:pt x="35811" y="98223"/>
                </a:lnTo>
                <a:cubicBezTo>
                  <a:pt x="37207" y="97525"/>
                  <a:pt x="38463" y="99367"/>
                  <a:pt x="37318" y="100428"/>
                </a:cubicBezTo>
                <a:lnTo>
                  <a:pt x="2038" y="132136"/>
                </a:lnTo>
                <a:cubicBezTo>
                  <a:pt x="754" y="133308"/>
                  <a:pt x="0" y="134983"/>
                  <a:pt x="0" y="136741"/>
                </a:cubicBezTo>
                <a:cubicBezTo>
                  <a:pt x="0" y="140147"/>
                  <a:pt x="2763" y="142910"/>
                  <a:pt x="6169" y="142910"/>
                </a:cubicBezTo>
                <a:lnTo>
                  <a:pt x="54540" y="142910"/>
                </a:lnTo>
                <a:cubicBezTo>
                  <a:pt x="65370" y="142910"/>
                  <a:pt x="75725" y="138611"/>
                  <a:pt x="83401" y="130964"/>
                </a:cubicBezTo>
                <a:cubicBezTo>
                  <a:pt x="91942" y="122422"/>
                  <a:pt x="96213" y="110560"/>
                  <a:pt x="95208" y="98641"/>
                </a:cubicBezTo>
                <a:close/>
              </a:path>
            </a:pathLst>
          </a:custGeom>
          <a:solidFill>
            <a:srgbClr val="D4A574"/>
          </a:solidFill>
          <a:ln/>
        </p:spPr>
      </p:sp>
      <p:sp>
        <p:nvSpPr>
          <p:cNvPr id="16" name="Text 14"/>
          <p:cNvSpPr/>
          <p:nvPr/>
        </p:nvSpPr>
        <p:spPr>
          <a:xfrm>
            <a:off x="901002" y="3144018"/>
            <a:ext cx="2893925"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Data Cleaning</a:t>
            </a:r>
            <a:endParaRPr lang="en-US" sz="1600" dirty="0"/>
          </a:p>
        </p:txBody>
      </p:sp>
      <p:sp>
        <p:nvSpPr>
          <p:cNvPr id="17" name="Text 15"/>
          <p:cNvSpPr/>
          <p:nvPr/>
        </p:nvSpPr>
        <p:spPr>
          <a:xfrm>
            <a:off x="901002" y="3358382"/>
            <a:ext cx="2884993" cy="357275"/>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Handled 37 missing values in Review Rating using median imputation by category</a:t>
            </a:r>
            <a:endParaRPr lang="en-US" sz="1600" dirty="0"/>
          </a:p>
        </p:txBody>
      </p:sp>
      <p:sp>
        <p:nvSpPr>
          <p:cNvPr id="18" name="Shape 16"/>
          <p:cNvSpPr/>
          <p:nvPr/>
        </p:nvSpPr>
        <p:spPr>
          <a:xfrm>
            <a:off x="571640" y="3930022"/>
            <a:ext cx="3251200" cy="786004"/>
          </a:xfrm>
          <a:custGeom>
            <a:avLst/>
            <a:gdLst/>
            <a:ahLst/>
            <a:cxnLst/>
            <a:rect l="l" t="t" r="r" b="b"/>
            <a:pathLst>
              <a:path w="3251200" h="786004">
                <a:moveTo>
                  <a:pt x="71456" y="0"/>
                </a:moveTo>
                <a:lnTo>
                  <a:pt x="3179744" y="0"/>
                </a:lnTo>
                <a:cubicBezTo>
                  <a:pt x="3219208" y="0"/>
                  <a:pt x="3251200" y="31992"/>
                  <a:pt x="3251200" y="71456"/>
                </a:cubicBezTo>
                <a:lnTo>
                  <a:pt x="3251200" y="714549"/>
                </a:lnTo>
                <a:cubicBezTo>
                  <a:pt x="3251200" y="754013"/>
                  <a:pt x="3219208" y="786004"/>
                  <a:pt x="3179744" y="786004"/>
                </a:cubicBezTo>
                <a:lnTo>
                  <a:pt x="71456" y="786004"/>
                </a:lnTo>
                <a:cubicBezTo>
                  <a:pt x="32018" y="786004"/>
                  <a:pt x="0" y="753986"/>
                  <a:pt x="0" y="714549"/>
                </a:cubicBezTo>
                <a:lnTo>
                  <a:pt x="0" y="71456"/>
                </a:lnTo>
                <a:cubicBezTo>
                  <a:pt x="0" y="32018"/>
                  <a:pt x="32018" y="0"/>
                  <a:pt x="71456" y="0"/>
                </a:cubicBezTo>
                <a:close/>
              </a:path>
            </a:pathLst>
          </a:custGeom>
          <a:solidFill>
            <a:srgbClr val="FFFFFF">
              <a:alpha val="10196"/>
            </a:srgbClr>
          </a:solidFill>
          <a:ln/>
        </p:spPr>
      </p:sp>
      <p:sp>
        <p:nvSpPr>
          <p:cNvPr id="19" name="Shape 17"/>
          <p:cNvSpPr/>
          <p:nvPr/>
        </p:nvSpPr>
        <p:spPr>
          <a:xfrm>
            <a:off x="665424" y="4072932"/>
            <a:ext cx="142910" cy="142910"/>
          </a:xfrm>
          <a:custGeom>
            <a:avLst/>
            <a:gdLst/>
            <a:ahLst/>
            <a:cxnLst/>
            <a:rect l="l" t="t" r="r" b="b"/>
            <a:pathLst>
              <a:path w="142910" h="142910">
                <a:moveTo>
                  <a:pt x="111230" y="3405"/>
                </a:moveTo>
                <a:lnTo>
                  <a:pt x="86611" y="28024"/>
                </a:lnTo>
                <a:lnTo>
                  <a:pt x="114886" y="56299"/>
                </a:lnTo>
                <a:lnTo>
                  <a:pt x="139505" y="31680"/>
                </a:lnTo>
                <a:cubicBezTo>
                  <a:pt x="141682" y="29475"/>
                  <a:pt x="142910" y="26516"/>
                  <a:pt x="142910" y="23446"/>
                </a:cubicBezTo>
                <a:cubicBezTo>
                  <a:pt x="142910" y="20376"/>
                  <a:pt x="141682" y="17417"/>
                  <a:pt x="139505" y="15212"/>
                </a:cubicBezTo>
                <a:lnTo>
                  <a:pt x="127698" y="3405"/>
                </a:lnTo>
                <a:cubicBezTo>
                  <a:pt x="125493" y="1228"/>
                  <a:pt x="122534" y="0"/>
                  <a:pt x="119464" y="0"/>
                </a:cubicBezTo>
                <a:cubicBezTo>
                  <a:pt x="116393" y="0"/>
                  <a:pt x="113435" y="1228"/>
                  <a:pt x="111230" y="3405"/>
                </a:cubicBezTo>
                <a:close/>
                <a:moveTo>
                  <a:pt x="77149" y="37486"/>
                </a:moveTo>
                <a:lnTo>
                  <a:pt x="3405" y="111230"/>
                </a:lnTo>
                <a:cubicBezTo>
                  <a:pt x="1228" y="113435"/>
                  <a:pt x="0" y="116393"/>
                  <a:pt x="0" y="119464"/>
                </a:cubicBezTo>
                <a:cubicBezTo>
                  <a:pt x="0" y="122534"/>
                  <a:pt x="1228" y="125493"/>
                  <a:pt x="3405" y="127698"/>
                </a:cubicBezTo>
                <a:lnTo>
                  <a:pt x="15212" y="139505"/>
                </a:lnTo>
                <a:cubicBezTo>
                  <a:pt x="17417" y="141682"/>
                  <a:pt x="20376" y="142910"/>
                  <a:pt x="23446" y="142910"/>
                </a:cubicBezTo>
                <a:cubicBezTo>
                  <a:pt x="26516" y="142910"/>
                  <a:pt x="29475" y="141682"/>
                  <a:pt x="31680" y="139505"/>
                </a:cubicBezTo>
                <a:lnTo>
                  <a:pt x="105424" y="65761"/>
                </a:lnTo>
                <a:lnTo>
                  <a:pt x="77149" y="37486"/>
                </a:lnTo>
                <a:close/>
              </a:path>
            </a:pathLst>
          </a:custGeom>
          <a:solidFill>
            <a:srgbClr val="D4A574"/>
          </a:solidFill>
          <a:ln/>
        </p:spPr>
      </p:sp>
      <p:sp>
        <p:nvSpPr>
          <p:cNvPr id="20" name="Text 18"/>
          <p:cNvSpPr/>
          <p:nvPr/>
        </p:nvSpPr>
        <p:spPr>
          <a:xfrm>
            <a:off x="905691" y="4037204"/>
            <a:ext cx="2884993"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Feature Engineering</a:t>
            </a:r>
            <a:endParaRPr lang="en-US" sz="1600" dirty="0"/>
          </a:p>
        </p:txBody>
      </p:sp>
      <p:sp>
        <p:nvSpPr>
          <p:cNvPr id="21" name="Text 19"/>
          <p:cNvSpPr/>
          <p:nvPr/>
        </p:nvSpPr>
        <p:spPr>
          <a:xfrm>
            <a:off x="905691" y="4251569"/>
            <a:ext cx="2876062" cy="357275"/>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Created age_group column and purchase_frequency_days for deeper analysis</a:t>
            </a:r>
            <a:endParaRPr lang="en-US" sz="1600" dirty="0"/>
          </a:p>
        </p:txBody>
      </p:sp>
      <p:sp>
        <p:nvSpPr>
          <p:cNvPr id="22" name="Shape 20"/>
          <p:cNvSpPr/>
          <p:nvPr/>
        </p:nvSpPr>
        <p:spPr>
          <a:xfrm>
            <a:off x="571640" y="4823209"/>
            <a:ext cx="3251200" cy="786004"/>
          </a:xfrm>
          <a:custGeom>
            <a:avLst/>
            <a:gdLst/>
            <a:ahLst/>
            <a:cxnLst/>
            <a:rect l="l" t="t" r="r" b="b"/>
            <a:pathLst>
              <a:path w="3251200" h="786004">
                <a:moveTo>
                  <a:pt x="71456" y="0"/>
                </a:moveTo>
                <a:lnTo>
                  <a:pt x="3179744" y="0"/>
                </a:lnTo>
                <a:cubicBezTo>
                  <a:pt x="3219208" y="0"/>
                  <a:pt x="3251200" y="31992"/>
                  <a:pt x="3251200" y="71456"/>
                </a:cubicBezTo>
                <a:lnTo>
                  <a:pt x="3251200" y="714549"/>
                </a:lnTo>
                <a:cubicBezTo>
                  <a:pt x="3251200" y="754013"/>
                  <a:pt x="3219208" y="786004"/>
                  <a:pt x="3179744" y="786004"/>
                </a:cubicBezTo>
                <a:lnTo>
                  <a:pt x="71456" y="786004"/>
                </a:lnTo>
                <a:cubicBezTo>
                  <a:pt x="32018" y="786004"/>
                  <a:pt x="0" y="753986"/>
                  <a:pt x="0" y="714549"/>
                </a:cubicBezTo>
                <a:lnTo>
                  <a:pt x="0" y="71456"/>
                </a:lnTo>
                <a:cubicBezTo>
                  <a:pt x="0" y="32018"/>
                  <a:pt x="32018" y="0"/>
                  <a:pt x="71456" y="0"/>
                </a:cubicBezTo>
                <a:close/>
              </a:path>
            </a:pathLst>
          </a:custGeom>
          <a:solidFill>
            <a:srgbClr val="FFFFFF">
              <a:alpha val="10196"/>
            </a:srgbClr>
          </a:solidFill>
          <a:ln/>
        </p:spPr>
      </p:sp>
      <p:sp>
        <p:nvSpPr>
          <p:cNvPr id="23" name="Shape 21"/>
          <p:cNvSpPr/>
          <p:nvPr/>
        </p:nvSpPr>
        <p:spPr>
          <a:xfrm>
            <a:off x="683288" y="4966119"/>
            <a:ext cx="125046" cy="142910"/>
          </a:xfrm>
          <a:custGeom>
            <a:avLst/>
            <a:gdLst/>
            <a:ahLst/>
            <a:cxnLst/>
            <a:rect l="l" t="t" r="r" b="b"/>
            <a:pathLst>
              <a:path w="125046" h="142910">
                <a:moveTo>
                  <a:pt x="125046" y="57443"/>
                </a:moveTo>
                <a:cubicBezTo>
                  <a:pt x="120915" y="60178"/>
                  <a:pt x="116170" y="62384"/>
                  <a:pt x="111230" y="64142"/>
                </a:cubicBezTo>
                <a:cubicBezTo>
                  <a:pt x="98111" y="68831"/>
                  <a:pt x="80889" y="71455"/>
                  <a:pt x="62523" y="71455"/>
                </a:cubicBezTo>
                <a:cubicBezTo>
                  <a:pt x="44157" y="71455"/>
                  <a:pt x="26907" y="68803"/>
                  <a:pt x="13816" y="64142"/>
                </a:cubicBezTo>
                <a:cubicBezTo>
                  <a:pt x="8904" y="62384"/>
                  <a:pt x="4131" y="60178"/>
                  <a:pt x="0" y="57443"/>
                </a:cubicBezTo>
                <a:lnTo>
                  <a:pt x="0" y="80387"/>
                </a:lnTo>
                <a:cubicBezTo>
                  <a:pt x="0" y="92724"/>
                  <a:pt x="27996" y="102716"/>
                  <a:pt x="62523" y="102716"/>
                </a:cubicBezTo>
                <a:cubicBezTo>
                  <a:pt x="97050" y="102716"/>
                  <a:pt x="125046" y="92724"/>
                  <a:pt x="125046" y="80387"/>
                </a:cubicBezTo>
                <a:lnTo>
                  <a:pt x="125046" y="57443"/>
                </a:lnTo>
                <a:close/>
                <a:moveTo>
                  <a:pt x="125046" y="35727"/>
                </a:moveTo>
                <a:lnTo>
                  <a:pt x="125046" y="22330"/>
                </a:lnTo>
                <a:cubicBezTo>
                  <a:pt x="125046" y="9993"/>
                  <a:pt x="97050" y="0"/>
                  <a:pt x="62523" y="0"/>
                </a:cubicBezTo>
                <a:cubicBezTo>
                  <a:pt x="27996" y="0"/>
                  <a:pt x="0" y="9993"/>
                  <a:pt x="0" y="22330"/>
                </a:cubicBezTo>
                <a:lnTo>
                  <a:pt x="0" y="35727"/>
                </a:lnTo>
                <a:cubicBezTo>
                  <a:pt x="0" y="48065"/>
                  <a:pt x="27996" y="58057"/>
                  <a:pt x="62523" y="58057"/>
                </a:cubicBezTo>
                <a:cubicBezTo>
                  <a:pt x="97050" y="58057"/>
                  <a:pt x="125046" y="48065"/>
                  <a:pt x="125046" y="35727"/>
                </a:cubicBezTo>
                <a:close/>
                <a:moveTo>
                  <a:pt x="111230" y="108801"/>
                </a:moveTo>
                <a:cubicBezTo>
                  <a:pt x="98139" y="113463"/>
                  <a:pt x="80917" y="116114"/>
                  <a:pt x="62523" y="116114"/>
                </a:cubicBezTo>
                <a:cubicBezTo>
                  <a:pt x="44129" y="116114"/>
                  <a:pt x="26907" y="113463"/>
                  <a:pt x="13816" y="108801"/>
                </a:cubicBezTo>
                <a:cubicBezTo>
                  <a:pt x="8904" y="107043"/>
                  <a:pt x="4131" y="104838"/>
                  <a:pt x="0" y="102102"/>
                </a:cubicBezTo>
                <a:lnTo>
                  <a:pt x="0" y="120580"/>
                </a:lnTo>
                <a:cubicBezTo>
                  <a:pt x="0" y="132917"/>
                  <a:pt x="27996" y="142910"/>
                  <a:pt x="62523" y="142910"/>
                </a:cubicBezTo>
                <a:cubicBezTo>
                  <a:pt x="97050" y="142910"/>
                  <a:pt x="125046" y="132917"/>
                  <a:pt x="125046" y="120580"/>
                </a:cubicBezTo>
                <a:lnTo>
                  <a:pt x="125046" y="102102"/>
                </a:lnTo>
                <a:cubicBezTo>
                  <a:pt x="120915" y="104838"/>
                  <a:pt x="116170" y="107043"/>
                  <a:pt x="111230" y="108801"/>
                </a:cubicBezTo>
                <a:close/>
              </a:path>
            </a:pathLst>
          </a:custGeom>
          <a:solidFill>
            <a:srgbClr val="D4A574"/>
          </a:solidFill>
          <a:ln/>
        </p:spPr>
      </p:sp>
      <p:sp>
        <p:nvSpPr>
          <p:cNvPr id="24" name="Text 22"/>
          <p:cNvSpPr/>
          <p:nvPr/>
        </p:nvSpPr>
        <p:spPr>
          <a:xfrm>
            <a:off x="923332" y="4930391"/>
            <a:ext cx="2867130"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Database Integration</a:t>
            </a:r>
            <a:endParaRPr lang="en-US" sz="1600" dirty="0"/>
          </a:p>
        </p:txBody>
      </p:sp>
      <p:sp>
        <p:nvSpPr>
          <p:cNvPr id="25" name="Text 23"/>
          <p:cNvSpPr/>
          <p:nvPr/>
        </p:nvSpPr>
        <p:spPr>
          <a:xfrm>
            <a:off x="923332" y="5144756"/>
            <a:ext cx="2858198" cy="357275"/>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Connected to PostgreSQL and loaded cleaned data for SQL analysis</a:t>
            </a:r>
            <a:endParaRPr lang="en-US" sz="1600" dirty="0"/>
          </a:p>
        </p:txBody>
      </p:sp>
      <p:sp>
        <p:nvSpPr>
          <p:cNvPr id="26" name="Shape 24"/>
          <p:cNvSpPr/>
          <p:nvPr/>
        </p:nvSpPr>
        <p:spPr>
          <a:xfrm>
            <a:off x="4255477" y="1214734"/>
            <a:ext cx="3679930" cy="5359121"/>
          </a:xfrm>
          <a:custGeom>
            <a:avLst/>
            <a:gdLst/>
            <a:ahLst/>
            <a:cxnLst/>
            <a:rect l="l" t="t" r="r" b="b"/>
            <a:pathLst>
              <a:path w="3679930" h="5359121">
                <a:moveTo>
                  <a:pt x="107196" y="0"/>
                </a:moveTo>
                <a:lnTo>
                  <a:pt x="3572733" y="0"/>
                </a:lnTo>
                <a:cubicBezTo>
                  <a:pt x="3631936" y="0"/>
                  <a:pt x="3679930" y="47993"/>
                  <a:pt x="3679930" y="107196"/>
                </a:cubicBezTo>
                <a:lnTo>
                  <a:pt x="3679930" y="5251925"/>
                </a:lnTo>
                <a:cubicBezTo>
                  <a:pt x="3679930" y="5311127"/>
                  <a:pt x="3631936" y="5359121"/>
                  <a:pt x="3572733" y="5359121"/>
                </a:cubicBezTo>
                <a:lnTo>
                  <a:pt x="107196" y="5359121"/>
                </a:lnTo>
                <a:cubicBezTo>
                  <a:pt x="47993" y="5359121"/>
                  <a:pt x="0" y="5311127"/>
                  <a:pt x="0" y="5251925"/>
                </a:cubicBezTo>
                <a:lnTo>
                  <a:pt x="0" y="107196"/>
                </a:lnTo>
                <a:cubicBezTo>
                  <a:pt x="0" y="48033"/>
                  <a:pt x="48033" y="0"/>
                  <a:pt x="107196" y="0"/>
                </a:cubicBezTo>
                <a:close/>
              </a:path>
            </a:pathLst>
          </a:custGeom>
          <a:gradFill rotWithShape="1" flip="none">
            <a:gsLst>
              <a:gs pos="0">
                <a:srgbClr val="D4A574"/>
              </a:gs>
              <a:gs pos="100000">
                <a:srgbClr val="D4A574">
                  <a:alpha val="90000"/>
                </a:srgbClr>
              </a:gs>
            </a:gsLst>
            <a:lin ang="2700000" scaled="1"/>
          </a:gradFill>
          <a:ln/>
          <a:effectLst>
            <a:outerShdw sx="100000" sy="100000" kx="0" ky="0" algn="bl" rotWithShape="0" blurRad="133978" dist="89319" dir="5400000">
              <a:srgbClr val="000000">
                <a:alpha val="10196"/>
              </a:srgbClr>
            </a:outerShdw>
          </a:effectLst>
        </p:spPr>
      </p:sp>
      <p:sp>
        <p:nvSpPr>
          <p:cNvPr id="27" name="Shape 25"/>
          <p:cNvSpPr/>
          <p:nvPr/>
        </p:nvSpPr>
        <p:spPr>
          <a:xfrm>
            <a:off x="4469842" y="1429099"/>
            <a:ext cx="571640" cy="571640"/>
          </a:xfrm>
          <a:custGeom>
            <a:avLst/>
            <a:gdLst/>
            <a:ahLst/>
            <a:cxnLst/>
            <a:rect l="l" t="t" r="r" b="b"/>
            <a:pathLst>
              <a:path w="571640" h="571640">
                <a:moveTo>
                  <a:pt x="285820" y="0"/>
                </a:moveTo>
                <a:lnTo>
                  <a:pt x="285820" y="0"/>
                </a:lnTo>
                <a:cubicBezTo>
                  <a:pt x="443674" y="0"/>
                  <a:pt x="571640" y="127966"/>
                  <a:pt x="571640" y="285820"/>
                </a:cubicBezTo>
                <a:lnTo>
                  <a:pt x="571640" y="285820"/>
                </a:lnTo>
                <a:cubicBezTo>
                  <a:pt x="571640" y="443674"/>
                  <a:pt x="443674" y="571640"/>
                  <a:pt x="285820" y="571640"/>
                </a:cubicBezTo>
                <a:lnTo>
                  <a:pt x="285820" y="571640"/>
                </a:lnTo>
                <a:cubicBezTo>
                  <a:pt x="127966" y="571640"/>
                  <a:pt x="0" y="443674"/>
                  <a:pt x="0" y="285820"/>
                </a:cubicBezTo>
                <a:lnTo>
                  <a:pt x="0" y="285820"/>
                </a:lnTo>
                <a:cubicBezTo>
                  <a:pt x="0" y="127966"/>
                  <a:pt x="127966" y="0"/>
                  <a:pt x="285820" y="0"/>
                </a:cubicBezTo>
                <a:close/>
              </a:path>
            </a:pathLst>
          </a:custGeom>
          <a:solidFill>
            <a:srgbClr val="FFFFFF">
              <a:alpha val="20000"/>
            </a:srgbClr>
          </a:solidFill>
          <a:ln/>
        </p:spPr>
      </p:sp>
      <p:sp>
        <p:nvSpPr>
          <p:cNvPr id="28" name="Text 26"/>
          <p:cNvSpPr/>
          <p:nvPr/>
        </p:nvSpPr>
        <p:spPr>
          <a:xfrm>
            <a:off x="4622354" y="1554145"/>
            <a:ext cx="401934" cy="321547"/>
          </a:xfrm>
          <a:prstGeom prst="rect">
            <a:avLst/>
          </a:prstGeom>
          <a:noFill/>
          <a:ln/>
        </p:spPr>
        <p:txBody>
          <a:bodyPr wrap="square" lIns="0" tIns="0" rIns="0" bIns="0" rtlCol="0" anchor="ctr"/>
          <a:lstStyle/>
          <a:p>
            <a:pPr>
              <a:lnSpc>
                <a:spcPct val="100000"/>
              </a:lnSpc>
            </a:pPr>
            <a:r>
              <a:rPr lang="en-US" sz="2110" b="1" dirty="0">
                <a:solidFill>
                  <a:srgbClr val="FFFFFF"/>
                </a:solidFill>
                <a:latin typeface="Oranienbaum" pitchFamily="34" charset="0"/>
                <a:ea typeface="Oranienbaum" pitchFamily="34" charset="-122"/>
                <a:cs typeface="Oranienbaum" pitchFamily="34" charset="-120"/>
              </a:rPr>
              <a:t>02</a:t>
            </a:r>
            <a:endParaRPr lang="en-US" sz="1600" dirty="0"/>
          </a:p>
        </p:txBody>
      </p:sp>
      <p:sp>
        <p:nvSpPr>
          <p:cNvPr id="29" name="Text 27"/>
          <p:cNvSpPr/>
          <p:nvPr/>
        </p:nvSpPr>
        <p:spPr>
          <a:xfrm>
            <a:off x="5184391" y="1482690"/>
            <a:ext cx="1670259" cy="285820"/>
          </a:xfrm>
          <a:prstGeom prst="rect">
            <a:avLst/>
          </a:prstGeom>
          <a:noFill/>
          <a:ln/>
        </p:spPr>
        <p:txBody>
          <a:bodyPr wrap="square" lIns="0" tIns="0" rIns="0" bIns="0" rtlCol="0" anchor="ctr"/>
          <a:lstStyle/>
          <a:p>
            <a:pPr>
              <a:lnSpc>
                <a:spcPct val="110000"/>
              </a:lnSpc>
            </a:pPr>
            <a:r>
              <a:rPr lang="en-US" sz="1688" b="1" dirty="0">
                <a:solidFill>
                  <a:srgbClr val="FFFFFF"/>
                </a:solidFill>
                <a:latin typeface="Liter" pitchFamily="34" charset="0"/>
                <a:ea typeface="Liter" pitchFamily="34" charset="-122"/>
                <a:cs typeface="Liter" pitchFamily="34" charset="-120"/>
              </a:rPr>
              <a:t>SQL Analysis</a:t>
            </a:r>
            <a:endParaRPr lang="en-US" sz="1600" dirty="0"/>
          </a:p>
        </p:txBody>
      </p:sp>
      <p:sp>
        <p:nvSpPr>
          <p:cNvPr id="30" name="Text 28"/>
          <p:cNvSpPr/>
          <p:nvPr/>
        </p:nvSpPr>
        <p:spPr>
          <a:xfrm>
            <a:off x="5184391" y="1768399"/>
            <a:ext cx="1625600" cy="178637"/>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Business Intelligence Queries</a:t>
            </a:r>
            <a:endParaRPr lang="en-US" sz="1600" dirty="0"/>
          </a:p>
        </p:txBody>
      </p:sp>
      <p:sp>
        <p:nvSpPr>
          <p:cNvPr id="31" name="Shape 29"/>
          <p:cNvSpPr/>
          <p:nvPr/>
        </p:nvSpPr>
        <p:spPr>
          <a:xfrm>
            <a:off x="4469842" y="2143648"/>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32" name="Shape 30"/>
          <p:cNvSpPr/>
          <p:nvPr/>
        </p:nvSpPr>
        <p:spPr>
          <a:xfrm>
            <a:off x="4541297" y="2215103"/>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33" name="Text 31"/>
          <p:cNvSpPr/>
          <p:nvPr/>
        </p:nvSpPr>
        <p:spPr>
          <a:xfrm>
            <a:off x="4514501" y="2215103"/>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34" name="Text 32"/>
          <p:cNvSpPr/>
          <p:nvPr/>
        </p:nvSpPr>
        <p:spPr>
          <a:xfrm>
            <a:off x="4862844" y="2232967"/>
            <a:ext cx="1795305"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Revenue by Gender comparison</a:t>
            </a:r>
            <a:endParaRPr lang="en-US" sz="1600" dirty="0"/>
          </a:p>
        </p:txBody>
      </p:sp>
      <p:sp>
        <p:nvSpPr>
          <p:cNvPr id="35" name="Shape 33"/>
          <p:cNvSpPr/>
          <p:nvPr/>
        </p:nvSpPr>
        <p:spPr>
          <a:xfrm>
            <a:off x="4469842" y="2572378"/>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36" name="Shape 34"/>
          <p:cNvSpPr/>
          <p:nvPr/>
        </p:nvSpPr>
        <p:spPr>
          <a:xfrm>
            <a:off x="4541297" y="2643833"/>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37" name="Text 35"/>
          <p:cNvSpPr/>
          <p:nvPr/>
        </p:nvSpPr>
        <p:spPr>
          <a:xfrm>
            <a:off x="4514501" y="2643833"/>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38" name="Text 36"/>
          <p:cNvSpPr/>
          <p:nvPr/>
        </p:nvSpPr>
        <p:spPr>
          <a:xfrm>
            <a:off x="4862844" y="2661697"/>
            <a:ext cx="2402673"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High-spending discount users identification</a:t>
            </a:r>
            <a:endParaRPr lang="en-US" sz="1600" dirty="0"/>
          </a:p>
        </p:txBody>
      </p:sp>
      <p:sp>
        <p:nvSpPr>
          <p:cNvPr id="39" name="Shape 37"/>
          <p:cNvSpPr/>
          <p:nvPr/>
        </p:nvSpPr>
        <p:spPr>
          <a:xfrm>
            <a:off x="4469842" y="3001108"/>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40" name="Shape 38"/>
          <p:cNvSpPr/>
          <p:nvPr/>
        </p:nvSpPr>
        <p:spPr>
          <a:xfrm>
            <a:off x="4541297" y="3072563"/>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41" name="Text 39"/>
          <p:cNvSpPr/>
          <p:nvPr/>
        </p:nvSpPr>
        <p:spPr>
          <a:xfrm>
            <a:off x="4514501" y="3072563"/>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42" name="Text 40"/>
          <p:cNvSpPr/>
          <p:nvPr/>
        </p:nvSpPr>
        <p:spPr>
          <a:xfrm>
            <a:off x="4862844" y="3090426"/>
            <a:ext cx="1839965"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Top 5 products by rating analysis</a:t>
            </a:r>
            <a:endParaRPr lang="en-US" sz="1600" dirty="0"/>
          </a:p>
        </p:txBody>
      </p:sp>
      <p:sp>
        <p:nvSpPr>
          <p:cNvPr id="43" name="Shape 41"/>
          <p:cNvSpPr/>
          <p:nvPr/>
        </p:nvSpPr>
        <p:spPr>
          <a:xfrm>
            <a:off x="4469842" y="3429837"/>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44" name="Shape 42"/>
          <p:cNvSpPr/>
          <p:nvPr/>
        </p:nvSpPr>
        <p:spPr>
          <a:xfrm>
            <a:off x="4541297" y="3501292"/>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45" name="Text 43"/>
          <p:cNvSpPr/>
          <p:nvPr/>
        </p:nvSpPr>
        <p:spPr>
          <a:xfrm>
            <a:off x="4514501" y="3501292"/>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46" name="Text 44"/>
          <p:cNvSpPr/>
          <p:nvPr/>
        </p:nvSpPr>
        <p:spPr>
          <a:xfrm>
            <a:off x="4862844" y="3519156"/>
            <a:ext cx="2670629"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Shipping type comparison (Standard vs Express)</a:t>
            </a:r>
            <a:endParaRPr lang="en-US" sz="1600" dirty="0"/>
          </a:p>
        </p:txBody>
      </p:sp>
      <p:sp>
        <p:nvSpPr>
          <p:cNvPr id="47" name="Shape 45"/>
          <p:cNvSpPr/>
          <p:nvPr/>
        </p:nvSpPr>
        <p:spPr>
          <a:xfrm>
            <a:off x="4469842" y="3858567"/>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48" name="Shape 46"/>
          <p:cNvSpPr/>
          <p:nvPr/>
        </p:nvSpPr>
        <p:spPr>
          <a:xfrm>
            <a:off x="4541297" y="3930022"/>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49" name="Text 47"/>
          <p:cNvSpPr/>
          <p:nvPr/>
        </p:nvSpPr>
        <p:spPr>
          <a:xfrm>
            <a:off x="4514501" y="3930022"/>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5</a:t>
            </a:r>
            <a:endParaRPr lang="en-US" sz="1600" dirty="0"/>
          </a:p>
        </p:txBody>
      </p:sp>
      <p:sp>
        <p:nvSpPr>
          <p:cNvPr id="50" name="Text 48"/>
          <p:cNvSpPr/>
          <p:nvPr/>
        </p:nvSpPr>
        <p:spPr>
          <a:xfrm>
            <a:off x="4862844" y="3947886"/>
            <a:ext cx="2241899"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Subscribers vs Non-subscribers analysis</a:t>
            </a:r>
            <a:endParaRPr lang="en-US" sz="1600" dirty="0"/>
          </a:p>
        </p:txBody>
      </p:sp>
      <p:sp>
        <p:nvSpPr>
          <p:cNvPr id="51" name="Shape 49"/>
          <p:cNvSpPr/>
          <p:nvPr/>
        </p:nvSpPr>
        <p:spPr>
          <a:xfrm>
            <a:off x="4469842" y="4287297"/>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52" name="Shape 50"/>
          <p:cNvSpPr/>
          <p:nvPr/>
        </p:nvSpPr>
        <p:spPr>
          <a:xfrm>
            <a:off x="4541297" y="4358752"/>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53" name="Text 51"/>
          <p:cNvSpPr/>
          <p:nvPr/>
        </p:nvSpPr>
        <p:spPr>
          <a:xfrm>
            <a:off x="4514501" y="4358752"/>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6</a:t>
            </a:r>
            <a:endParaRPr lang="en-US" sz="1600" dirty="0"/>
          </a:p>
        </p:txBody>
      </p:sp>
      <p:sp>
        <p:nvSpPr>
          <p:cNvPr id="54" name="Text 52"/>
          <p:cNvSpPr/>
          <p:nvPr/>
        </p:nvSpPr>
        <p:spPr>
          <a:xfrm>
            <a:off x="4862844" y="4376615"/>
            <a:ext cx="2429468"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Discount-dependent products identification</a:t>
            </a:r>
            <a:endParaRPr lang="en-US" sz="1600" dirty="0"/>
          </a:p>
        </p:txBody>
      </p:sp>
      <p:sp>
        <p:nvSpPr>
          <p:cNvPr id="55" name="Shape 53"/>
          <p:cNvSpPr/>
          <p:nvPr/>
        </p:nvSpPr>
        <p:spPr>
          <a:xfrm>
            <a:off x="4469842" y="4716026"/>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56" name="Shape 54"/>
          <p:cNvSpPr/>
          <p:nvPr/>
        </p:nvSpPr>
        <p:spPr>
          <a:xfrm>
            <a:off x="4541297" y="4787481"/>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57" name="Text 55"/>
          <p:cNvSpPr/>
          <p:nvPr/>
        </p:nvSpPr>
        <p:spPr>
          <a:xfrm>
            <a:off x="4514501" y="4787481"/>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7</a:t>
            </a:r>
            <a:endParaRPr lang="en-US" sz="1600" dirty="0"/>
          </a:p>
        </p:txBody>
      </p:sp>
      <p:sp>
        <p:nvSpPr>
          <p:cNvPr id="58" name="Text 56"/>
          <p:cNvSpPr/>
          <p:nvPr/>
        </p:nvSpPr>
        <p:spPr>
          <a:xfrm>
            <a:off x="4862844" y="4805345"/>
            <a:ext cx="2625969"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Customer segmentation (New/Returning/Loyal)</a:t>
            </a:r>
            <a:endParaRPr lang="en-US" sz="1600" dirty="0"/>
          </a:p>
        </p:txBody>
      </p:sp>
      <p:sp>
        <p:nvSpPr>
          <p:cNvPr id="59" name="Shape 57"/>
          <p:cNvSpPr/>
          <p:nvPr/>
        </p:nvSpPr>
        <p:spPr>
          <a:xfrm>
            <a:off x="4469842" y="5144756"/>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60" name="Shape 58"/>
          <p:cNvSpPr/>
          <p:nvPr/>
        </p:nvSpPr>
        <p:spPr>
          <a:xfrm>
            <a:off x="4541297" y="5216211"/>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61" name="Text 59"/>
          <p:cNvSpPr/>
          <p:nvPr/>
        </p:nvSpPr>
        <p:spPr>
          <a:xfrm>
            <a:off x="4514501" y="5216211"/>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8</a:t>
            </a:r>
            <a:endParaRPr lang="en-US" sz="1600" dirty="0"/>
          </a:p>
        </p:txBody>
      </p:sp>
      <p:sp>
        <p:nvSpPr>
          <p:cNvPr id="62" name="Text 60"/>
          <p:cNvSpPr/>
          <p:nvPr/>
        </p:nvSpPr>
        <p:spPr>
          <a:xfrm>
            <a:off x="4862844" y="5234075"/>
            <a:ext cx="1598804"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Top 3 products per category</a:t>
            </a:r>
            <a:endParaRPr lang="en-US" sz="1600" dirty="0"/>
          </a:p>
        </p:txBody>
      </p:sp>
      <p:sp>
        <p:nvSpPr>
          <p:cNvPr id="63" name="Shape 61"/>
          <p:cNvSpPr/>
          <p:nvPr/>
        </p:nvSpPr>
        <p:spPr>
          <a:xfrm>
            <a:off x="4469842" y="5573486"/>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64" name="Shape 62"/>
          <p:cNvSpPr/>
          <p:nvPr/>
        </p:nvSpPr>
        <p:spPr>
          <a:xfrm>
            <a:off x="4541297" y="5644941"/>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65" name="Text 63"/>
          <p:cNvSpPr/>
          <p:nvPr/>
        </p:nvSpPr>
        <p:spPr>
          <a:xfrm>
            <a:off x="4514501" y="5644941"/>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9</a:t>
            </a:r>
            <a:endParaRPr lang="en-US" sz="1600" dirty="0"/>
          </a:p>
        </p:txBody>
      </p:sp>
      <p:sp>
        <p:nvSpPr>
          <p:cNvPr id="66" name="Text 64"/>
          <p:cNvSpPr/>
          <p:nvPr/>
        </p:nvSpPr>
        <p:spPr>
          <a:xfrm>
            <a:off x="4862844" y="5662804"/>
            <a:ext cx="2268695"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Repeat buyers &amp; subscription correlation</a:t>
            </a:r>
            <a:endParaRPr lang="en-US" sz="1600" dirty="0"/>
          </a:p>
        </p:txBody>
      </p:sp>
      <p:sp>
        <p:nvSpPr>
          <p:cNvPr id="67" name="Shape 65"/>
          <p:cNvSpPr/>
          <p:nvPr/>
        </p:nvSpPr>
        <p:spPr>
          <a:xfrm>
            <a:off x="4469842" y="6002215"/>
            <a:ext cx="3251200" cy="357275"/>
          </a:xfrm>
          <a:custGeom>
            <a:avLst/>
            <a:gdLst/>
            <a:ahLst/>
            <a:cxnLst/>
            <a:rect l="l" t="t" r="r" b="b"/>
            <a:pathLst>
              <a:path w="3251200" h="357275">
                <a:moveTo>
                  <a:pt x="71455" y="0"/>
                </a:moveTo>
                <a:lnTo>
                  <a:pt x="3179745" y="0"/>
                </a:lnTo>
                <a:cubicBezTo>
                  <a:pt x="3219209" y="0"/>
                  <a:pt x="3251200" y="31991"/>
                  <a:pt x="3251200" y="71455"/>
                </a:cubicBezTo>
                <a:lnTo>
                  <a:pt x="3251200" y="285820"/>
                </a:lnTo>
                <a:cubicBezTo>
                  <a:pt x="3251200" y="325283"/>
                  <a:pt x="3219209" y="357275"/>
                  <a:pt x="3179745" y="357275"/>
                </a:cubicBezTo>
                <a:lnTo>
                  <a:pt x="71455" y="357275"/>
                </a:lnTo>
                <a:cubicBezTo>
                  <a:pt x="31991" y="357275"/>
                  <a:pt x="0" y="325283"/>
                  <a:pt x="0" y="285820"/>
                </a:cubicBezTo>
                <a:lnTo>
                  <a:pt x="0" y="71455"/>
                </a:lnTo>
                <a:cubicBezTo>
                  <a:pt x="0" y="31991"/>
                  <a:pt x="31991" y="0"/>
                  <a:pt x="71455" y="0"/>
                </a:cubicBezTo>
                <a:close/>
              </a:path>
            </a:pathLst>
          </a:custGeom>
          <a:solidFill>
            <a:srgbClr val="FFFFFF">
              <a:alpha val="10196"/>
            </a:srgbClr>
          </a:solidFill>
          <a:ln/>
        </p:spPr>
      </p:sp>
      <p:sp>
        <p:nvSpPr>
          <p:cNvPr id="68" name="Shape 66"/>
          <p:cNvSpPr/>
          <p:nvPr/>
        </p:nvSpPr>
        <p:spPr>
          <a:xfrm>
            <a:off x="4541297" y="6073670"/>
            <a:ext cx="214365" cy="214365"/>
          </a:xfrm>
          <a:custGeom>
            <a:avLst/>
            <a:gdLst/>
            <a:ahLst/>
            <a:cxnLst/>
            <a:rect l="l" t="t" r="r" b="b"/>
            <a:pathLst>
              <a:path w="214365" h="214365">
                <a:moveTo>
                  <a:pt x="107182" y="0"/>
                </a:moveTo>
                <a:lnTo>
                  <a:pt x="107182" y="0"/>
                </a:lnTo>
                <a:cubicBezTo>
                  <a:pt x="166338" y="0"/>
                  <a:pt x="214365" y="48027"/>
                  <a:pt x="214365" y="107182"/>
                </a:cubicBezTo>
                <a:lnTo>
                  <a:pt x="214365" y="107182"/>
                </a:lnTo>
                <a:cubicBezTo>
                  <a:pt x="214365" y="166338"/>
                  <a:pt x="166338" y="214365"/>
                  <a:pt x="107182" y="214365"/>
                </a:cubicBezTo>
                <a:lnTo>
                  <a:pt x="107182" y="214365"/>
                </a:lnTo>
                <a:cubicBezTo>
                  <a:pt x="48027" y="214365"/>
                  <a:pt x="0" y="166338"/>
                  <a:pt x="0" y="107182"/>
                </a:cubicBezTo>
                <a:lnTo>
                  <a:pt x="0" y="107182"/>
                </a:lnTo>
                <a:cubicBezTo>
                  <a:pt x="0" y="48027"/>
                  <a:pt x="48027" y="0"/>
                  <a:pt x="107182" y="0"/>
                </a:cubicBezTo>
                <a:close/>
              </a:path>
            </a:pathLst>
          </a:custGeom>
          <a:solidFill>
            <a:srgbClr val="FFFFFF">
              <a:alpha val="30196"/>
            </a:srgbClr>
          </a:solidFill>
          <a:ln/>
        </p:spPr>
      </p:sp>
      <p:sp>
        <p:nvSpPr>
          <p:cNvPr id="69" name="Text 67"/>
          <p:cNvSpPr/>
          <p:nvPr/>
        </p:nvSpPr>
        <p:spPr>
          <a:xfrm>
            <a:off x="4514501" y="6073670"/>
            <a:ext cx="267956" cy="214365"/>
          </a:xfrm>
          <a:prstGeom prst="rect">
            <a:avLst/>
          </a:prstGeom>
          <a:noFill/>
          <a:ln/>
        </p:spPr>
        <p:txBody>
          <a:bodyPr wrap="square" lIns="0" tIns="0" rIns="0" bIns="0" rtlCol="0" anchor="ctr"/>
          <a:lstStyle/>
          <a:p>
            <a:pPr algn="ctr">
              <a:lnSpc>
                <a:spcPct val="110000"/>
              </a:lnSpc>
            </a:pPr>
            <a:r>
              <a:rPr lang="en-US" sz="844" b="1" dirty="0">
                <a:solidFill>
                  <a:srgbClr val="FFFFFF"/>
                </a:solidFill>
                <a:latin typeface="Quattrocento Sans" pitchFamily="34" charset="0"/>
                <a:ea typeface="Quattrocento Sans" pitchFamily="34" charset="-122"/>
                <a:cs typeface="Quattrocento Sans" pitchFamily="34" charset="-120"/>
              </a:rPr>
              <a:t>10</a:t>
            </a:r>
            <a:endParaRPr lang="en-US" sz="1600" dirty="0"/>
          </a:p>
        </p:txBody>
      </p:sp>
      <p:sp>
        <p:nvSpPr>
          <p:cNvPr id="70" name="Text 68"/>
          <p:cNvSpPr/>
          <p:nvPr/>
        </p:nvSpPr>
        <p:spPr>
          <a:xfrm>
            <a:off x="4862844" y="6091534"/>
            <a:ext cx="1884624" cy="178637"/>
          </a:xfrm>
          <a:prstGeom prst="rect">
            <a:avLst/>
          </a:prstGeom>
          <a:noFill/>
          <a:ln/>
        </p:spPr>
        <p:txBody>
          <a:bodyPr wrap="square" lIns="0" tIns="0" rIns="0" bIns="0" rtlCol="0" anchor="ctr"/>
          <a:lstStyle/>
          <a:p>
            <a:pPr>
              <a:lnSpc>
                <a:spcPct val="120000"/>
              </a:lnSpc>
            </a:pPr>
            <a:r>
              <a:rPr lang="en-US" sz="985" dirty="0">
                <a:solidFill>
                  <a:srgbClr val="FFFFFF"/>
                </a:solidFill>
                <a:latin typeface="Quattrocento Sans" pitchFamily="34" charset="0"/>
                <a:ea typeface="Quattrocento Sans" pitchFamily="34" charset="-122"/>
                <a:cs typeface="Quattrocento Sans" pitchFamily="34" charset="-120"/>
              </a:rPr>
              <a:t>Revenue by age group calculation</a:t>
            </a:r>
            <a:endParaRPr lang="en-US" sz="1600" dirty="0"/>
          </a:p>
        </p:txBody>
      </p:sp>
      <p:sp>
        <p:nvSpPr>
          <p:cNvPr id="71" name="Shape 69"/>
          <p:cNvSpPr/>
          <p:nvPr/>
        </p:nvSpPr>
        <p:spPr>
          <a:xfrm>
            <a:off x="8153791" y="1214734"/>
            <a:ext cx="3679930" cy="5359121"/>
          </a:xfrm>
          <a:custGeom>
            <a:avLst/>
            <a:gdLst/>
            <a:ahLst/>
            <a:cxnLst/>
            <a:rect l="l" t="t" r="r" b="b"/>
            <a:pathLst>
              <a:path w="3679930" h="5359121">
                <a:moveTo>
                  <a:pt x="107196" y="0"/>
                </a:moveTo>
                <a:lnTo>
                  <a:pt x="3572733" y="0"/>
                </a:lnTo>
                <a:cubicBezTo>
                  <a:pt x="3631936" y="0"/>
                  <a:pt x="3679930" y="47993"/>
                  <a:pt x="3679930" y="107196"/>
                </a:cubicBezTo>
                <a:lnTo>
                  <a:pt x="3679930" y="5251925"/>
                </a:lnTo>
                <a:cubicBezTo>
                  <a:pt x="3679930" y="5311127"/>
                  <a:pt x="3631936" y="5359121"/>
                  <a:pt x="3572733" y="5359121"/>
                </a:cubicBezTo>
                <a:lnTo>
                  <a:pt x="107196" y="5359121"/>
                </a:lnTo>
                <a:cubicBezTo>
                  <a:pt x="47993" y="5359121"/>
                  <a:pt x="0" y="5311127"/>
                  <a:pt x="0" y="5251925"/>
                </a:cubicBezTo>
                <a:lnTo>
                  <a:pt x="0" y="107196"/>
                </a:lnTo>
                <a:cubicBezTo>
                  <a:pt x="0" y="48033"/>
                  <a:pt x="48033" y="0"/>
                  <a:pt x="107196" y="0"/>
                </a:cubicBezTo>
                <a:close/>
              </a:path>
            </a:pathLst>
          </a:custGeom>
          <a:gradFill rotWithShape="1" flip="none">
            <a:gsLst>
              <a:gs pos="0">
                <a:srgbClr val="C75B39"/>
              </a:gs>
              <a:gs pos="100000">
                <a:srgbClr val="C75B39">
                  <a:alpha val="90000"/>
                </a:srgbClr>
              </a:gs>
            </a:gsLst>
            <a:lin ang="2700000" scaled="1"/>
          </a:gradFill>
          <a:ln/>
          <a:effectLst>
            <a:outerShdw sx="100000" sy="100000" kx="0" ky="0" algn="bl" rotWithShape="0" blurRad="133978" dist="89319" dir="5400000">
              <a:srgbClr val="000000">
                <a:alpha val="10196"/>
              </a:srgbClr>
            </a:outerShdw>
          </a:effectLst>
        </p:spPr>
      </p:sp>
      <p:sp>
        <p:nvSpPr>
          <p:cNvPr id="72" name="Shape 70"/>
          <p:cNvSpPr/>
          <p:nvPr/>
        </p:nvSpPr>
        <p:spPr>
          <a:xfrm>
            <a:off x="8368156" y="1429099"/>
            <a:ext cx="571640" cy="571640"/>
          </a:xfrm>
          <a:custGeom>
            <a:avLst/>
            <a:gdLst/>
            <a:ahLst/>
            <a:cxnLst/>
            <a:rect l="l" t="t" r="r" b="b"/>
            <a:pathLst>
              <a:path w="571640" h="571640">
                <a:moveTo>
                  <a:pt x="285820" y="0"/>
                </a:moveTo>
                <a:lnTo>
                  <a:pt x="285820" y="0"/>
                </a:lnTo>
                <a:cubicBezTo>
                  <a:pt x="443674" y="0"/>
                  <a:pt x="571640" y="127966"/>
                  <a:pt x="571640" y="285820"/>
                </a:cubicBezTo>
                <a:lnTo>
                  <a:pt x="571640" y="285820"/>
                </a:lnTo>
                <a:cubicBezTo>
                  <a:pt x="571640" y="443674"/>
                  <a:pt x="443674" y="571640"/>
                  <a:pt x="285820" y="571640"/>
                </a:cubicBezTo>
                <a:lnTo>
                  <a:pt x="285820" y="571640"/>
                </a:lnTo>
                <a:cubicBezTo>
                  <a:pt x="127966" y="571640"/>
                  <a:pt x="0" y="443674"/>
                  <a:pt x="0" y="285820"/>
                </a:cubicBezTo>
                <a:lnTo>
                  <a:pt x="0" y="285820"/>
                </a:lnTo>
                <a:cubicBezTo>
                  <a:pt x="0" y="127966"/>
                  <a:pt x="127966" y="0"/>
                  <a:pt x="285820" y="0"/>
                </a:cubicBezTo>
                <a:close/>
              </a:path>
            </a:pathLst>
          </a:custGeom>
          <a:solidFill>
            <a:srgbClr val="FFFFFF">
              <a:alpha val="20000"/>
            </a:srgbClr>
          </a:solidFill>
          <a:ln/>
        </p:spPr>
      </p:sp>
      <p:sp>
        <p:nvSpPr>
          <p:cNvPr id="73" name="Text 71"/>
          <p:cNvSpPr/>
          <p:nvPr/>
        </p:nvSpPr>
        <p:spPr>
          <a:xfrm>
            <a:off x="8519997" y="1554145"/>
            <a:ext cx="401934" cy="321547"/>
          </a:xfrm>
          <a:prstGeom prst="rect">
            <a:avLst/>
          </a:prstGeom>
          <a:noFill/>
          <a:ln/>
        </p:spPr>
        <p:txBody>
          <a:bodyPr wrap="square" lIns="0" tIns="0" rIns="0" bIns="0" rtlCol="0" anchor="ctr"/>
          <a:lstStyle/>
          <a:p>
            <a:pPr>
              <a:lnSpc>
                <a:spcPct val="100000"/>
              </a:lnSpc>
            </a:pPr>
            <a:r>
              <a:rPr lang="en-US" sz="2110" b="1" dirty="0">
                <a:solidFill>
                  <a:srgbClr val="FFFFFF"/>
                </a:solidFill>
                <a:latin typeface="Oranienbaum" pitchFamily="34" charset="0"/>
                <a:ea typeface="Oranienbaum" pitchFamily="34" charset="-122"/>
                <a:cs typeface="Oranienbaum" pitchFamily="34" charset="-120"/>
              </a:rPr>
              <a:t>03</a:t>
            </a:r>
            <a:endParaRPr lang="en-US" sz="1600" dirty="0"/>
          </a:p>
        </p:txBody>
      </p:sp>
      <p:sp>
        <p:nvSpPr>
          <p:cNvPr id="74" name="Text 72"/>
          <p:cNvSpPr/>
          <p:nvPr/>
        </p:nvSpPr>
        <p:spPr>
          <a:xfrm>
            <a:off x="9082705" y="1482690"/>
            <a:ext cx="1384440" cy="285820"/>
          </a:xfrm>
          <a:prstGeom prst="rect">
            <a:avLst/>
          </a:prstGeom>
          <a:noFill/>
          <a:ln/>
        </p:spPr>
        <p:txBody>
          <a:bodyPr wrap="square" lIns="0" tIns="0" rIns="0" bIns="0" rtlCol="0" anchor="ctr"/>
          <a:lstStyle/>
          <a:p>
            <a:pPr>
              <a:lnSpc>
                <a:spcPct val="110000"/>
              </a:lnSpc>
            </a:pPr>
            <a:r>
              <a:rPr lang="en-US" sz="1688" b="1" dirty="0">
                <a:solidFill>
                  <a:srgbClr val="FFFFFF"/>
                </a:solidFill>
                <a:latin typeface="Liter" pitchFamily="34" charset="0"/>
                <a:ea typeface="Liter" pitchFamily="34" charset="-122"/>
                <a:cs typeface="Liter" pitchFamily="34" charset="-120"/>
              </a:rPr>
              <a:t>Power BI</a:t>
            </a:r>
            <a:endParaRPr lang="en-US" sz="1600" dirty="0"/>
          </a:p>
        </p:txBody>
      </p:sp>
      <p:sp>
        <p:nvSpPr>
          <p:cNvPr id="75" name="Text 73"/>
          <p:cNvSpPr/>
          <p:nvPr/>
        </p:nvSpPr>
        <p:spPr>
          <a:xfrm>
            <a:off x="9082705" y="1768399"/>
            <a:ext cx="1339780" cy="178637"/>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Interactive Visualization</a:t>
            </a:r>
            <a:endParaRPr lang="en-US" sz="1600" dirty="0"/>
          </a:p>
        </p:txBody>
      </p:sp>
      <p:sp>
        <p:nvSpPr>
          <p:cNvPr id="76" name="Shape 74"/>
          <p:cNvSpPr/>
          <p:nvPr/>
        </p:nvSpPr>
        <p:spPr>
          <a:xfrm>
            <a:off x="8368156" y="2143648"/>
            <a:ext cx="3251200" cy="857459"/>
          </a:xfrm>
          <a:custGeom>
            <a:avLst/>
            <a:gdLst/>
            <a:ahLst/>
            <a:cxnLst/>
            <a:rect l="l" t="t" r="r" b="b"/>
            <a:pathLst>
              <a:path w="3251200" h="857459">
                <a:moveTo>
                  <a:pt x="71452" y="0"/>
                </a:moveTo>
                <a:lnTo>
                  <a:pt x="3179748" y="0"/>
                </a:lnTo>
                <a:cubicBezTo>
                  <a:pt x="3219210" y="0"/>
                  <a:pt x="3251200" y="31990"/>
                  <a:pt x="3251200" y="71452"/>
                </a:cubicBezTo>
                <a:lnTo>
                  <a:pt x="3251200" y="786007"/>
                </a:lnTo>
                <a:cubicBezTo>
                  <a:pt x="3251200" y="825469"/>
                  <a:pt x="3219210" y="857459"/>
                  <a:pt x="3179748" y="857459"/>
                </a:cubicBezTo>
                <a:lnTo>
                  <a:pt x="71452" y="857459"/>
                </a:lnTo>
                <a:cubicBezTo>
                  <a:pt x="31990" y="857459"/>
                  <a:pt x="0" y="825469"/>
                  <a:pt x="0" y="786007"/>
                </a:cubicBezTo>
                <a:lnTo>
                  <a:pt x="0" y="71452"/>
                </a:lnTo>
                <a:cubicBezTo>
                  <a:pt x="0" y="32017"/>
                  <a:pt x="32017" y="0"/>
                  <a:pt x="71452" y="0"/>
                </a:cubicBezTo>
                <a:close/>
              </a:path>
            </a:pathLst>
          </a:custGeom>
          <a:solidFill>
            <a:srgbClr val="FFFFFF">
              <a:alpha val="10196"/>
            </a:srgbClr>
          </a:solidFill>
          <a:ln/>
        </p:spPr>
      </p:sp>
      <p:sp>
        <p:nvSpPr>
          <p:cNvPr id="77" name="Shape 75"/>
          <p:cNvSpPr/>
          <p:nvPr/>
        </p:nvSpPr>
        <p:spPr>
          <a:xfrm>
            <a:off x="8490969" y="2322286"/>
            <a:ext cx="200967" cy="178637"/>
          </a:xfrm>
          <a:custGeom>
            <a:avLst/>
            <a:gdLst/>
            <a:ahLst/>
            <a:cxnLst/>
            <a:rect l="l" t="t" r="r" b="b"/>
            <a:pathLst>
              <a:path w="200967" h="178637">
                <a:moveTo>
                  <a:pt x="178777" y="83736"/>
                </a:moveTo>
                <a:lnTo>
                  <a:pt x="117370" y="83736"/>
                </a:lnTo>
                <a:cubicBezTo>
                  <a:pt x="111195" y="83736"/>
                  <a:pt x="106205" y="78747"/>
                  <a:pt x="106205" y="72571"/>
                </a:cubicBezTo>
                <a:lnTo>
                  <a:pt x="106205" y="11165"/>
                </a:lnTo>
                <a:cubicBezTo>
                  <a:pt x="106205" y="4989"/>
                  <a:pt x="111230" y="-70"/>
                  <a:pt x="117335" y="733"/>
                </a:cubicBezTo>
                <a:cubicBezTo>
                  <a:pt x="154668" y="5687"/>
                  <a:pt x="184255" y="35274"/>
                  <a:pt x="189209" y="72606"/>
                </a:cubicBezTo>
                <a:cubicBezTo>
                  <a:pt x="190012" y="78712"/>
                  <a:pt x="184952" y="83736"/>
                  <a:pt x="178777" y="83736"/>
                </a:cubicBezTo>
                <a:close/>
                <a:moveTo>
                  <a:pt x="77665" y="12979"/>
                </a:moveTo>
                <a:cubicBezTo>
                  <a:pt x="83980" y="11653"/>
                  <a:pt x="89458" y="16817"/>
                  <a:pt x="89458" y="23272"/>
                </a:cubicBezTo>
                <a:lnTo>
                  <a:pt x="89458" y="92110"/>
                </a:lnTo>
                <a:cubicBezTo>
                  <a:pt x="89458" y="94064"/>
                  <a:pt x="90156" y="95948"/>
                  <a:pt x="91377" y="97448"/>
                </a:cubicBezTo>
                <a:lnTo>
                  <a:pt x="137467" y="153063"/>
                </a:lnTo>
                <a:cubicBezTo>
                  <a:pt x="141549" y="157982"/>
                  <a:pt x="140677" y="165414"/>
                  <a:pt x="135060" y="168449"/>
                </a:cubicBezTo>
                <a:cubicBezTo>
                  <a:pt x="123162" y="174939"/>
                  <a:pt x="109520" y="178637"/>
                  <a:pt x="95041" y="178637"/>
                </a:cubicBezTo>
                <a:cubicBezTo>
                  <a:pt x="48811" y="178637"/>
                  <a:pt x="11304" y="141130"/>
                  <a:pt x="11304" y="94901"/>
                </a:cubicBezTo>
                <a:cubicBezTo>
                  <a:pt x="11304" y="54603"/>
                  <a:pt x="39740" y="20969"/>
                  <a:pt x="77665" y="12979"/>
                </a:cubicBezTo>
                <a:close/>
                <a:moveTo>
                  <a:pt x="166705" y="100484"/>
                </a:moveTo>
                <a:lnTo>
                  <a:pt x="189035" y="100484"/>
                </a:lnTo>
                <a:cubicBezTo>
                  <a:pt x="195489" y="100484"/>
                  <a:pt x="200653" y="105961"/>
                  <a:pt x="199327" y="112276"/>
                </a:cubicBezTo>
                <a:cubicBezTo>
                  <a:pt x="195768" y="129163"/>
                  <a:pt x="187116" y="144166"/>
                  <a:pt x="175044" y="155610"/>
                </a:cubicBezTo>
                <a:cubicBezTo>
                  <a:pt x="170752" y="159692"/>
                  <a:pt x="164018" y="158820"/>
                  <a:pt x="160250" y="154249"/>
                </a:cubicBezTo>
                <a:lnTo>
                  <a:pt x="130803" y="118766"/>
                </a:lnTo>
                <a:cubicBezTo>
                  <a:pt x="124767" y="111474"/>
                  <a:pt x="129966" y="100484"/>
                  <a:pt x="139386" y="100484"/>
                </a:cubicBezTo>
                <a:lnTo>
                  <a:pt x="166670" y="100484"/>
                </a:lnTo>
                <a:close/>
              </a:path>
            </a:pathLst>
          </a:custGeom>
          <a:solidFill>
            <a:srgbClr val="D4A574"/>
          </a:solidFill>
          <a:ln/>
        </p:spPr>
      </p:sp>
      <p:sp>
        <p:nvSpPr>
          <p:cNvPr id="78" name="Text 76"/>
          <p:cNvSpPr/>
          <p:nvPr/>
        </p:nvSpPr>
        <p:spPr>
          <a:xfrm>
            <a:off x="8776789" y="2286558"/>
            <a:ext cx="2777811"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Dashboard Creation</a:t>
            </a:r>
            <a:endParaRPr lang="en-US" sz="1600" dirty="0"/>
          </a:p>
        </p:txBody>
      </p:sp>
      <p:sp>
        <p:nvSpPr>
          <p:cNvPr id="79" name="Text 77"/>
          <p:cNvSpPr/>
          <p:nvPr/>
        </p:nvSpPr>
        <p:spPr>
          <a:xfrm>
            <a:off x="8776789" y="2500923"/>
            <a:ext cx="2768879" cy="357275"/>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Built interactive dashboard presenting insights visually for stakeholders</a:t>
            </a:r>
            <a:endParaRPr lang="en-US" sz="1600" dirty="0"/>
          </a:p>
        </p:txBody>
      </p:sp>
      <p:sp>
        <p:nvSpPr>
          <p:cNvPr id="80" name="Shape 78"/>
          <p:cNvSpPr/>
          <p:nvPr/>
        </p:nvSpPr>
        <p:spPr>
          <a:xfrm>
            <a:off x="8368156" y="3108290"/>
            <a:ext cx="3251200" cy="857459"/>
          </a:xfrm>
          <a:custGeom>
            <a:avLst/>
            <a:gdLst/>
            <a:ahLst/>
            <a:cxnLst/>
            <a:rect l="l" t="t" r="r" b="b"/>
            <a:pathLst>
              <a:path w="3251200" h="857459">
                <a:moveTo>
                  <a:pt x="71452" y="0"/>
                </a:moveTo>
                <a:lnTo>
                  <a:pt x="3179748" y="0"/>
                </a:lnTo>
                <a:cubicBezTo>
                  <a:pt x="3219210" y="0"/>
                  <a:pt x="3251200" y="31990"/>
                  <a:pt x="3251200" y="71452"/>
                </a:cubicBezTo>
                <a:lnTo>
                  <a:pt x="3251200" y="786007"/>
                </a:lnTo>
                <a:cubicBezTo>
                  <a:pt x="3251200" y="825469"/>
                  <a:pt x="3219210" y="857459"/>
                  <a:pt x="3179748" y="857459"/>
                </a:cubicBezTo>
                <a:lnTo>
                  <a:pt x="71452" y="857459"/>
                </a:lnTo>
                <a:cubicBezTo>
                  <a:pt x="31990" y="857459"/>
                  <a:pt x="0" y="825469"/>
                  <a:pt x="0" y="786007"/>
                </a:cubicBezTo>
                <a:lnTo>
                  <a:pt x="0" y="71452"/>
                </a:lnTo>
                <a:cubicBezTo>
                  <a:pt x="0" y="32017"/>
                  <a:pt x="32017" y="0"/>
                  <a:pt x="71452" y="0"/>
                </a:cubicBezTo>
                <a:close/>
              </a:path>
            </a:pathLst>
          </a:custGeom>
          <a:solidFill>
            <a:srgbClr val="FFFFFF">
              <a:alpha val="10196"/>
            </a:srgbClr>
          </a:solidFill>
          <a:ln/>
        </p:spPr>
      </p:sp>
      <p:sp>
        <p:nvSpPr>
          <p:cNvPr id="81" name="Shape 79"/>
          <p:cNvSpPr/>
          <p:nvPr/>
        </p:nvSpPr>
        <p:spPr>
          <a:xfrm>
            <a:off x="8502134" y="3286927"/>
            <a:ext cx="178637" cy="178637"/>
          </a:xfrm>
          <a:custGeom>
            <a:avLst/>
            <a:gdLst/>
            <a:ahLst/>
            <a:cxnLst/>
            <a:rect l="l" t="t" r="r" b="b"/>
            <a:pathLst>
              <a:path w="178637" h="178637">
                <a:moveTo>
                  <a:pt x="11165" y="22330"/>
                </a:moveTo>
                <a:cubicBezTo>
                  <a:pt x="6664" y="22330"/>
                  <a:pt x="2582" y="25051"/>
                  <a:pt x="837" y="29238"/>
                </a:cubicBezTo>
                <a:cubicBezTo>
                  <a:pt x="-907" y="33425"/>
                  <a:pt x="70" y="38205"/>
                  <a:pt x="3280" y="41380"/>
                </a:cubicBezTo>
                <a:lnTo>
                  <a:pt x="66989" y="105124"/>
                </a:lnTo>
                <a:lnTo>
                  <a:pt x="66989" y="145143"/>
                </a:lnTo>
                <a:cubicBezTo>
                  <a:pt x="66989" y="148109"/>
                  <a:pt x="68175" y="150935"/>
                  <a:pt x="70269" y="153028"/>
                </a:cubicBezTo>
                <a:lnTo>
                  <a:pt x="92598" y="175358"/>
                </a:lnTo>
                <a:cubicBezTo>
                  <a:pt x="95808" y="178568"/>
                  <a:pt x="100588" y="179510"/>
                  <a:pt x="104775" y="177765"/>
                </a:cubicBezTo>
                <a:cubicBezTo>
                  <a:pt x="108962" y="176021"/>
                  <a:pt x="111648" y="171973"/>
                  <a:pt x="111648" y="167473"/>
                </a:cubicBezTo>
                <a:lnTo>
                  <a:pt x="111648" y="105124"/>
                </a:lnTo>
                <a:lnTo>
                  <a:pt x="175358" y="41415"/>
                </a:lnTo>
                <a:cubicBezTo>
                  <a:pt x="178568" y="38205"/>
                  <a:pt x="179510" y="33425"/>
                  <a:pt x="177765" y="29238"/>
                </a:cubicBezTo>
                <a:cubicBezTo>
                  <a:pt x="176021" y="25051"/>
                  <a:pt x="171973" y="22330"/>
                  <a:pt x="167473" y="22330"/>
                </a:cubicBezTo>
                <a:lnTo>
                  <a:pt x="11165" y="22330"/>
                </a:lnTo>
                <a:close/>
              </a:path>
            </a:pathLst>
          </a:custGeom>
          <a:solidFill>
            <a:srgbClr val="D4A574"/>
          </a:solidFill>
          <a:ln/>
        </p:spPr>
      </p:sp>
      <p:sp>
        <p:nvSpPr>
          <p:cNvPr id="82" name="Text 80"/>
          <p:cNvSpPr/>
          <p:nvPr/>
        </p:nvSpPr>
        <p:spPr>
          <a:xfrm>
            <a:off x="8777570" y="3251200"/>
            <a:ext cx="2777811"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Dynamic Filtering</a:t>
            </a:r>
            <a:endParaRPr lang="en-US" sz="1600" dirty="0"/>
          </a:p>
        </p:txBody>
      </p:sp>
      <p:sp>
        <p:nvSpPr>
          <p:cNvPr id="83" name="Text 81"/>
          <p:cNvSpPr/>
          <p:nvPr/>
        </p:nvSpPr>
        <p:spPr>
          <a:xfrm>
            <a:off x="8777570" y="3465565"/>
            <a:ext cx="2768879" cy="357275"/>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Enabled drill-down capabilities by category, segment, and time period</a:t>
            </a:r>
            <a:endParaRPr lang="en-US" sz="1600" dirty="0"/>
          </a:p>
        </p:txBody>
      </p:sp>
      <p:sp>
        <p:nvSpPr>
          <p:cNvPr id="84" name="Shape 82"/>
          <p:cNvSpPr/>
          <p:nvPr/>
        </p:nvSpPr>
        <p:spPr>
          <a:xfrm>
            <a:off x="8368156" y="4072932"/>
            <a:ext cx="3251200" cy="857459"/>
          </a:xfrm>
          <a:custGeom>
            <a:avLst/>
            <a:gdLst/>
            <a:ahLst/>
            <a:cxnLst/>
            <a:rect l="l" t="t" r="r" b="b"/>
            <a:pathLst>
              <a:path w="3251200" h="857459">
                <a:moveTo>
                  <a:pt x="71452" y="0"/>
                </a:moveTo>
                <a:lnTo>
                  <a:pt x="3179748" y="0"/>
                </a:lnTo>
                <a:cubicBezTo>
                  <a:pt x="3219210" y="0"/>
                  <a:pt x="3251200" y="31990"/>
                  <a:pt x="3251200" y="71452"/>
                </a:cubicBezTo>
                <a:lnTo>
                  <a:pt x="3251200" y="786007"/>
                </a:lnTo>
                <a:cubicBezTo>
                  <a:pt x="3251200" y="825469"/>
                  <a:pt x="3219210" y="857459"/>
                  <a:pt x="3179748" y="857459"/>
                </a:cubicBezTo>
                <a:lnTo>
                  <a:pt x="71452" y="857459"/>
                </a:lnTo>
                <a:cubicBezTo>
                  <a:pt x="31990" y="857459"/>
                  <a:pt x="0" y="825469"/>
                  <a:pt x="0" y="786007"/>
                </a:cubicBezTo>
                <a:lnTo>
                  <a:pt x="0" y="71452"/>
                </a:lnTo>
                <a:cubicBezTo>
                  <a:pt x="0" y="32017"/>
                  <a:pt x="32017" y="0"/>
                  <a:pt x="71452" y="0"/>
                </a:cubicBezTo>
                <a:close/>
              </a:path>
            </a:pathLst>
          </a:custGeom>
          <a:solidFill>
            <a:srgbClr val="FFFFFF">
              <a:alpha val="10196"/>
            </a:srgbClr>
          </a:solidFill>
          <a:ln/>
        </p:spPr>
      </p:sp>
      <p:sp>
        <p:nvSpPr>
          <p:cNvPr id="85" name="Shape 83"/>
          <p:cNvSpPr/>
          <p:nvPr/>
        </p:nvSpPr>
        <p:spPr>
          <a:xfrm>
            <a:off x="8495435" y="4251569"/>
            <a:ext cx="200967" cy="178637"/>
          </a:xfrm>
          <a:custGeom>
            <a:avLst/>
            <a:gdLst/>
            <a:ahLst/>
            <a:cxnLst/>
            <a:rect l="l" t="t" r="r" b="b"/>
            <a:pathLst>
              <a:path w="200967" h="178637">
                <a:moveTo>
                  <a:pt x="100484" y="11165"/>
                </a:moveTo>
                <a:cubicBezTo>
                  <a:pt x="72292" y="11165"/>
                  <a:pt x="49718" y="24004"/>
                  <a:pt x="33285" y="39286"/>
                </a:cubicBezTo>
                <a:cubicBezTo>
                  <a:pt x="16957" y="54463"/>
                  <a:pt x="6036" y="72571"/>
                  <a:pt x="837" y="85027"/>
                </a:cubicBezTo>
                <a:cubicBezTo>
                  <a:pt x="-314" y="87784"/>
                  <a:pt x="-314" y="90854"/>
                  <a:pt x="837" y="93610"/>
                </a:cubicBezTo>
                <a:cubicBezTo>
                  <a:pt x="6036" y="106066"/>
                  <a:pt x="16957" y="124209"/>
                  <a:pt x="33285" y="139351"/>
                </a:cubicBezTo>
                <a:cubicBezTo>
                  <a:pt x="49718" y="154598"/>
                  <a:pt x="72292" y="167473"/>
                  <a:pt x="100484" y="167473"/>
                </a:cubicBezTo>
                <a:cubicBezTo>
                  <a:pt x="128675" y="167473"/>
                  <a:pt x="151249" y="154633"/>
                  <a:pt x="167682" y="139351"/>
                </a:cubicBezTo>
                <a:cubicBezTo>
                  <a:pt x="184010" y="124174"/>
                  <a:pt x="194931" y="106066"/>
                  <a:pt x="200130" y="93610"/>
                </a:cubicBezTo>
                <a:cubicBezTo>
                  <a:pt x="201281" y="90854"/>
                  <a:pt x="201281" y="87784"/>
                  <a:pt x="200130" y="85027"/>
                </a:cubicBezTo>
                <a:cubicBezTo>
                  <a:pt x="194931" y="72571"/>
                  <a:pt x="184010" y="54429"/>
                  <a:pt x="167682" y="39286"/>
                </a:cubicBezTo>
                <a:cubicBezTo>
                  <a:pt x="151249" y="24039"/>
                  <a:pt x="128675" y="11165"/>
                  <a:pt x="100484" y="11165"/>
                </a:cubicBezTo>
                <a:close/>
                <a:moveTo>
                  <a:pt x="50242" y="89319"/>
                </a:moveTo>
                <a:cubicBezTo>
                  <a:pt x="50242" y="61590"/>
                  <a:pt x="72754" y="39077"/>
                  <a:pt x="100484" y="39077"/>
                </a:cubicBezTo>
                <a:cubicBezTo>
                  <a:pt x="128213" y="39077"/>
                  <a:pt x="150725" y="61590"/>
                  <a:pt x="150725" y="89319"/>
                </a:cubicBezTo>
                <a:cubicBezTo>
                  <a:pt x="150725" y="117048"/>
                  <a:pt x="128213" y="139560"/>
                  <a:pt x="100484" y="139560"/>
                </a:cubicBezTo>
                <a:cubicBezTo>
                  <a:pt x="72754" y="139560"/>
                  <a:pt x="50242" y="117048"/>
                  <a:pt x="50242" y="89319"/>
                </a:cubicBezTo>
                <a:close/>
                <a:moveTo>
                  <a:pt x="100484" y="66989"/>
                </a:moveTo>
                <a:cubicBezTo>
                  <a:pt x="100484" y="79305"/>
                  <a:pt x="90470" y="89319"/>
                  <a:pt x="78154" y="89319"/>
                </a:cubicBezTo>
                <a:cubicBezTo>
                  <a:pt x="74141" y="89319"/>
                  <a:pt x="70373" y="88272"/>
                  <a:pt x="67094" y="86388"/>
                </a:cubicBezTo>
                <a:cubicBezTo>
                  <a:pt x="66745" y="90191"/>
                  <a:pt x="67059" y="94099"/>
                  <a:pt x="68105" y="97971"/>
                </a:cubicBezTo>
                <a:cubicBezTo>
                  <a:pt x="72885" y="115835"/>
                  <a:pt x="91273" y="126442"/>
                  <a:pt x="109136" y="121662"/>
                </a:cubicBezTo>
                <a:cubicBezTo>
                  <a:pt x="127000" y="116882"/>
                  <a:pt x="137607" y="98495"/>
                  <a:pt x="132827" y="80631"/>
                </a:cubicBezTo>
                <a:cubicBezTo>
                  <a:pt x="128570" y="64686"/>
                  <a:pt x="113463" y="54533"/>
                  <a:pt x="97553" y="55929"/>
                </a:cubicBezTo>
                <a:cubicBezTo>
                  <a:pt x="99402" y="59174"/>
                  <a:pt x="100484" y="62942"/>
                  <a:pt x="100484" y="66989"/>
                </a:cubicBezTo>
                <a:close/>
              </a:path>
            </a:pathLst>
          </a:custGeom>
          <a:solidFill>
            <a:srgbClr val="D4A574"/>
          </a:solidFill>
          <a:ln/>
        </p:spPr>
      </p:sp>
      <p:sp>
        <p:nvSpPr>
          <p:cNvPr id="86" name="Text 84"/>
          <p:cNvSpPr/>
          <p:nvPr/>
        </p:nvSpPr>
        <p:spPr>
          <a:xfrm>
            <a:off x="8786502" y="4215842"/>
            <a:ext cx="2768879" cy="214365"/>
          </a:xfrm>
          <a:prstGeom prst="rect">
            <a:avLst/>
          </a:prstGeom>
          <a:noFill/>
          <a:ln/>
        </p:spPr>
        <p:txBody>
          <a:bodyPr wrap="square" lIns="0" tIns="0" rIns="0" bIns="0" rtlCol="0" anchor="ctr"/>
          <a:lstStyle/>
          <a:p>
            <a:pPr>
              <a:lnSpc>
                <a:spcPct val="120000"/>
              </a:lnSpc>
            </a:pPr>
            <a:r>
              <a:rPr lang="en-US" sz="1125" b="1" dirty="0">
                <a:solidFill>
                  <a:srgbClr val="FFFFFF"/>
                </a:solidFill>
                <a:latin typeface="Liter" pitchFamily="34" charset="0"/>
                <a:ea typeface="Liter" pitchFamily="34" charset="-122"/>
                <a:cs typeface="Liter" pitchFamily="34" charset="-120"/>
              </a:rPr>
              <a:t>Executive Reporting</a:t>
            </a:r>
            <a:endParaRPr lang="en-US" sz="1600" dirty="0"/>
          </a:p>
        </p:txBody>
      </p:sp>
      <p:sp>
        <p:nvSpPr>
          <p:cNvPr id="87" name="Text 85"/>
          <p:cNvSpPr/>
          <p:nvPr/>
        </p:nvSpPr>
        <p:spPr>
          <a:xfrm>
            <a:off x="8786502" y="4430207"/>
            <a:ext cx="2759947" cy="357275"/>
          </a:xfrm>
          <a:prstGeom prst="rect">
            <a:avLst/>
          </a:prstGeom>
          <a:noFill/>
          <a:ln/>
        </p:spPr>
        <p:txBody>
          <a:bodyPr wrap="square" lIns="0" tIns="0" rIns="0" bIns="0" rtlCol="0" anchor="ctr"/>
          <a:lstStyle/>
          <a:p>
            <a:pPr>
              <a:lnSpc>
                <a:spcPct val="120000"/>
              </a:lnSpc>
            </a:pPr>
            <a:r>
              <a:rPr lang="en-US" sz="985" dirty="0">
                <a:solidFill>
                  <a:srgbClr val="FFFFFF">
                    <a:alpha val="80000"/>
                  </a:srgbClr>
                </a:solidFill>
                <a:latin typeface="Quattrocento Sans" pitchFamily="34" charset="0"/>
                <a:ea typeface="Quattrocento Sans" pitchFamily="34" charset="-122"/>
                <a:cs typeface="Quattrocento Sans" pitchFamily="34" charset="-120"/>
              </a:rPr>
              <a:t>Designed for clear, actionable insights delivery to decision-makers</a:t>
            </a:r>
            <a:endParaRPr lang="en-US" sz="1600" dirty="0"/>
          </a:p>
        </p:txBody>
      </p:sp>
      <p:sp>
        <p:nvSpPr>
          <p:cNvPr id="88" name="Shape 86"/>
          <p:cNvSpPr/>
          <p:nvPr/>
        </p:nvSpPr>
        <p:spPr>
          <a:xfrm>
            <a:off x="8368156" y="5787851"/>
            <a:ext cx="3251200" cy="571640"/>
          </a:xfrm>
          <a:custGeom>
            <a:avLst/>
            <a:gdLst/>
            <a:ahLst/>
            <a:cxnLst/>
            <a:rect l="l" t="t" r="r" b="b"/>
            <a:pathLst>
              <a:path w="3251200" h="571640">
                <a:moveTo>
                  <a:pt x="71455" y="0"/>
                </a:moveTo>
                <a:lnTo>
                  <a:pt x="3179745" y="0"/>
                </a:lnTo>
                <a:cubicBezTo>
                  <a:pt x="3219209" y="0"/>
                  <a:pt x="3251200" y="31991"/>
                  <a:pt x="3251200" y="71455"/>
                </a:cubicBezTo>
                <a:lnTo>
                  <a:pt x="3251200" y="500185"/>
                </a:lnTo>
                <a:cubicBezTo>
                  <a:pt x="3251200" y="539648"/>
                  <a:pt x="3219209" y="571640"/>
                  <a:pt x="3179745" y="571640"/>
                </a:cubicBezTo>
                <a:lnTo>
                  <a:pt x="71455" y="571640"/>
                </a:lnTo>
                <a:cubicBezTo>
                  <a:pt x="31991" y="571640"/>
                  <a:pt x="0" y="539648"/>
                  <a:pt x="0" y="500185"/>
                </a:cubicBezTo>
                <a:lnTo>
                  <a:pt x="0" y="71455"/>
                </a:lnTo>
                <a:cubicBezTo>
                  <a:pt x="0" y="31991"/>
                  <a:pt x="31991" y="0"/>
                  <a:pt x="71455" y="0"/>
                </a:cubicBezTo>
                <a:close/>
              </a:path>
            </a:pathLst>
          </a:custGeom>
          <a:solidFill>
            <a:srgbClr val="FFFFFF">
              <a:alpha val="10196"/>
            </a:srgbClr>
          </a:solidFill>
          <a:ln/>
        </p:spPr>
      </p:sp>
      <p:sp>
        <p:nvSpPr>
          <p:cNvPr id="89" name="Shape 87"/>
          <p:cNvSpPr/>
          <p:nvPr/>
        </p:nvSpPr>
        <p:spPr>
          <a:xfrm>
            <a:off x="8520109" y="5923615"/>
            <a:ext cx="93785" cy="125046"/>
          </a:xfrm>
          <a:custGeom>
            <a:avLst/>
            <a:gdLst/>
            <a:ahLst/>
            <a:cxnLst/>
            <a:rect l="l" t="t" r="r" b="b"/>
            <a:pathLst>
              <a:path w="93785" h="125046">
                <a:moveTo>
                  <a:pt x="71535" y="93785"/>
                </a:moveTo>
                <a:cubicBezTo>
                  <a:pt x="73318" y="88338"/>
                  <a:pt x="76884" y="83405"/>
                  <a:pt x="80914" y="79155"/>
                </a:cubicBezTo>
                <a:cubicBezTo>
                  <a:pt x="88900" y="70754"/>
                  <a:pt x="93785" y="59397"/>
                  <a:pt x="93785" y="46892"/>
                </a:cubicBezTo>
                <a:cubicBezTo>
                  <a:pt x="93785" y="21004"/>
                  <a:pt x="72781" y="0"/>
                  <a:pt x="46892" y="0"/>
                </a:cubicBezTo>
                <a:cubicBezTo>
                  <a:pt x="21004" y="0"/>
                  <a:pt x="0" y="21004"/>
                  <a:pt x="0" y="46892"/>
                </a:cubicBezTo>
                <a:cubicBezTo>
                  <a:pt x="0" y="59397"/>
                  <a:pt x="4885" y="70754"/>
                  <a:pt x="12871" y="79155"/>
                </a:cubicBezTo>
                <a:cubicBezTo>
                  <a:pt x="16901" y="83405"/>
                  <a:pt x="20491" y="88338"/>
                  <a:pt x="22249" y="93785"/>
                </a:cubicBezTo>
                <a:lnTo>
                  <a:pt x="71511" y="93785"/>
                </a:lnTo>
                <a:close/>
                <a:moveTo>
                  <a:pt x="70338" y="105508"/>
                </a:moveTo>
                <a:lnTo>
                  <a:pt x="23446" y="105508"/>
                </a:lnTo>
                <a:lnTo>
                  <a:pt x="23446" y="109415"/>
                </a:lnTo>
                <a:cubicBezTo>
                  <a:pt x="23446" y="120210"/>
                  <a:pt x="32190" y="128954"/>
                  <a:pt x="42985" y="128954"/>
                </a:cubicBezTo>
                <a:lnTo>
                  <a:pt x="50800" y="128954"/>
                </a:lnTo>
                <a:cubicBezTo>
                  <a:pt x="61595" y="128954"/>
                  <a:pt x="70338" y="120210"/>
                  <a:pt x="70338" y="109415"/>
                </a:cubicBezTo>
                <a:lnTo>
                  <a:pt x="70338" y="105508"/>
                </a:lnTo>
                <a:close/>
                <a:moveTo>
                  <a:pt x="44938" y="27354"/>
                </a:moveTo>
                <a:cubicBezTo>
                  <a:pt x="35218" y="27354"/>
                  <a:pt x="27354" y="35218"/>
                  <a:pt x="27354" y="44938"/>
                </a:cubicBezTo>
                <a:cubicBezTo>
                  <a:pt x="27354" y="48187"/>
                  <a:pt x="24741" y="50800"/>
                  <a:pt x="21492" y="50800"/>
                </a:cubicBezTo>
                <a:cubicBezTo>
                  <a:pt x="18244" y="50800"/>
                  <a:pt x="15631" y="48187"/>
                  <a:pt x="15631" y="44938"/>
                </a:cubicBezTo>
                <a:cubicBezTo>
                  <a:pt x="15631" y="28746"/>
                  <a:pt x="28746" y="15631"/>
                  <a:pt x="44938" y="15631"/>
                </a:cubicBezTo>
                <a:cubicBezTo>
                  <a:pt x="48187" y="15631"/>
                  <a:pt x="50800" y="18244"/>
                  <a:pt x="50800" y="21492"/>
                </a:cubicBezTo>
                <a:cubicBezTo>
                  <a:pt x="50800" y="24741"/>
                  <a:pt x="48187" y="27354"/>
                  <a:pt x="44938" y="27354"/>
                </a:cubicBezTo>
                <a:close/>
              </a:path>
            </a:pathLst>
          </a:custGeom>
          <a:solidFill>
            <a:srgbClr val="D4A574"/>
          </a:solidFill>
          <a:ln/>
        </p:spPr>
      </p:sp>
      <p:sp>
        <p:nvSpPr>
          <p:cNvPr id="90" name="Text 88"/>
          <p:cNvSpPr/>
          <p:nvPr/>
        </p:nvSpPr>
        <p:spPr>
          <a:xfrm>
            <a:off x="8655104" y="5895033"/>
            <a:ext cx="2888331" cy="357275"/>
          </a:xfrm>
          <a:prstGeom prst="rect">
            <a:avLst/>
          </a:prstGeom>
          <a:noFill/>
          <a:ln/>
        </p:spPr>
        <p:txBody>
          <a:bodyPr wrap="square" lIns="0" tIns="0" rIns="0" bIns="0" rtlCol="0" anchor="ctr"/>
          <a:lstStyle/>
          <a:p>
            <a:pPr algn="ctr">
              <a:lnSpc>
                <a:spcPct val="120000"/>
              </a:lnSpc>
            </a:pPr>
            <a:r>
              <a:rPr lang="en-US" sz="985" dirty="0">
                <a:solidFill>
                  <a:srgbClr val="FFFFFF"/>
                </a:solidFill>
                <a:latin typeface="Liter" pitchFamily="34" charset="0"/>
                <a:ea typeface="Liter" pitchFamily="34" charset="-122"/>
                <a:cs typeface="Liter" pitchFamily="34" charset="-120"/>
              </a:rPr>
              <a:t>Comprehensive analytics pipeline from raw data to strategic insights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59116" y="430940"/>
            <a:ext cx="430940" cy="35912"/>
          </a:xfrm>
          <a:custGeom>
            <a:avLst/>
            <a:gdLst/>
            <a:ahLst/>
            <a:cxnLst/>
            <a:rect l="l" t="t" r="r" b="b"/>
            <a:pathLst>
              <a:path w="430940" h="35912">
                <a:moveTo>
                  <a:pt x="0" y="0"/>
                </a:moveTo>
                <a:lnTo>
                  <a:pt x="430940" y="0"/>
                </a:lnTo>
                <a:lnTo>
                  <a:pt x="430940" y="35912"/>
                </a:lnTo>
                <a:lnTo>
                  <a:pt x="0" y="35912"/>
                </a:lnTo>
                <a:lnTo>
                  <a:pt x="0" y="0"/>
                </a:lnTo>
                <a:close/>
              </a:path>
            </a:pathLst>
          </a:custGeom>
          <a:solidFill>
            <a:srgbClr val="C75B39"/>
          </a:solidFill>
          <a:ln/>
        </p:spPr>
      </p:sp>
      <p:sp>
        <p:nvSpPr>
          <p:cNvPr id="3" name="Text 1"/>
          <p:cNvSpPr/>
          <p:nvPr/>
        </p:nvSpPr>
        <p:spPr>
          <a:xfrm>
            <a:off x="897791" y="359116"/>
            <a:ext cx="897791" cy="179558"/>
          </a:xfrm>
          <a:prstGeom prst="rect">
            <a:avLst/>
          </a:prstGeom>
          <a:noFill/>
          <a:ln/>
        </p:spPr>
        <p:txBody>
          <a:bodyPr wrap="square" lIns="0" tIns="0" rIns="0" bIns="0" rtlCol="0" anchor="ctr"/>
          <a:lstStyle/>
          <a:p>
            <a:pPr>
              <a:lnSpc>
                <a:spcPct val="120000"/>
              </a:lnSpc>
            </a:pPr>
            <a:r>
              <a:rPr lang="en-US" sz="990" spc="99" kern="0" dirty="0">
                <a:solidFill>
                  <a:srgbClr val="C75B39"/>
                </a:solidFill>
                <a:latin typeface="Liter" pitchFamily="34" charset="0"/>
                <a:ea typeface="Liter" pitchFamily="34" charset="-122"/>
                <a:cs typeface="Liter" pitchFamily="34" charset="-120"/>
              </a:rPr>
              <a:t>Section 03</a:t>
            </a:r>
            <a:endParaRPr lang="en-US" sz="1600" dirty="0"/>
          </a:p>
        </p:txBody>
      </p:sp>
      <p:sp>
        <p:nvSpPr>
          <p:cNvPr id="4" name="Text 2"/>
          <p:cNvSpPr/>
          <p:nvPr/>
        </p:nvSpPr>
        <p:spPr>
          <a:xfrm>
            <a:off x="359116" y="610498"/>
            <a:ext cx="11635370" cy="359116"/>
          </a:xfrm>
          <a:prstGeom prst="rect">
            <a:avLst/>
          </a:prstGeom>
          <a:noFill/>
          <a:ln/>
        </p:spPr>
        <p:txBody>
          <a:bodyPr wrap="square" lIns="0" tIns="0" rIns="0" bIns="0" rtlCol="0" anchor="ctr"/>
          <a:lstStyle/>
          <a:p>
            <a:pPr>
              <a:lnSpc>
                <a:spcPct val="90000"/>
              </a:lnSpc>
            </a:pPr>
            <a:r>
              <a:rPr lang="en-US" sz="2545" b="1" dirty="0">
                <a:solidFill>
                  <a:srgbClr val="2E5A4C"/>
                </a:solidFill>
                <a:latin typeface="Oranienbaum" pitchFamily="34" charset="0"/>
                <a:ea typeface="Oranienbaum" pitchFamily="34" charset="-122"/>
                <a:cs typeface="Oranienbaum" pitchFamily="34" charset="-120"/>
              </a:rPr>
              <a:t>Revenue Insights</a:t>
            </a:r>
            <a:endParaRPr lang="en-US" sz="1600" dirty="0"/>
          </a:p>
        </p:txBody>
      </p:sp>
      <p:sp>
        <p:nvSpPr>
          <p:cNvPr id="5" name="Text 3"/>
          <p:cNvSpPr/>
          <p:nvPr/>
        </p:nvSpPr>
        <p:spPr>
          <a:xfrm>
            <a:off x="359116" y="1005526"/>
            <a:ext cx="11554568" cy="251381"/>
          </a:xfrm>
          <a:prstGeom prst="rect">
            <a:avLst/>
          </a:prstGeom>
          <a:noFill/>
          <a:ln/>
        </p:spPr>
        <p:txBody>
          <a:bodyPr wrap="square" lIns="0" tIns="0" rIns="0" bIns="0" rtlCol="0" anchor="ctr"/>
          <a:lstStyle/>
          <a:p>
            <a:pPr>
              <a:lnSpc>
                <a:spcPct val="130000"/>
              </a:lnSpc>
            </a:pPr>
            <a:r>
              <a:rPr lang="en-US" sz="1272" dirty="0">
                <a:solidFill>
                  <a:srgbClr val="2C3E50">
                    <a:alpha val="70000"/>
                  </a:srgbClr>
                </a:solidFill>
                <a:latin typeface="Quattrocento Sans" pitchFamily="34" charset="0"/>
                <a:ea typeface="Quattrocento Sans" pitchFamily="34" charset="-122"/>
                <a:cs typeface="Quattrocento Sans" pitchFamily="34" charset="-120"/>
              </a:rPr>
              <a:t>Gender &amp; Age Group Analysis</a:t>
            </a:r>
            <a:endParaRPr lang="en-US" sz="1600" dirty="0"/>
          </a:p>
        </p:txBody>
      </p:sp>
      <p:sp>
        <p:nvSpPr>
          <p:cNvPr id="6" name="Shape 4"/>
          <p:cNvSpPr/>
          <p:nvPr/>
        </p:nvSpPr>
        <p:spPr>
          <a:xfrm>
            <a:off x="359116" y="1400554"/>
            <a:ext cx="6760365" cy="2657461"/>
          </a:xfrm>
          <a:custGeom>
            <a:avLst/>
            <a:gdLst/>
            <a:ahLst/>
            <a:cxnLst/>
            <a:rect l="l" t="t" r="r" b="b"/>
            <a:pathLst>
              <a:path w="6760365" h="2657461">
                <a:moveTo>
                  <a:pt x="107733" y="0"/>
                </a:moveTo>
                <a:lnTo>
                  <a:pt x="6652632" y="0"/>
                </a:lnTo>
                <a:cubicBezTo>
                  <a:pt x="6712131" y="0"/>
                  <a:pt x="6760365" y="48234"/>
                  <a:pt x="6760365" y="107733"/>
                </a:cubicBezTo>
                <a:lnTo>
                  <a:pt x="6760365" y="2549728"/>
                </a:lnTo>
                <a:cubicBezTo>
                  <a:pt x="6760365" y="2609227"/>
                  <a:pt x="6712131" y="2657461"/>
                  <a:pt x="6652632" y="2657461"/>
                </a:cubicBezTo>
                <a:lnTo>
                  <a:pt x="107733" y="2657461"/>
                </a:lnTo>
                <a:cubicBezTo>
                  <a:pt x="48234" y="2657461"/>
                  <a:pt x="0" y="2609227"/>
                  <a:pt x="0" y="2549728"/>
                </a:cubicBezTo>
                <a:lnTo>
                  <a:pt x="0" y="107733"/>
                </a:lnTo>
                <a:cubicBezTo>
                  <a:pt x="0" y="48274"/>
                  <a:pt x="48274" y="0"/>
                  <a:pt x="107733" y="0"/>
                </a:cubicBezTo>
                <a:close/>
              </a:path>
            </a:pathLst>
          </a:custGeom>
          <a:solidFill>
            <a:srgbClr val="FFFFFF"/>
          </a:solidFill>
          <a:ln/>
          <a:effectLst>
            <a:outerShdw sx="100000" sy="100000" kx="0" ky="0" algn="bl" rotWithShape="0" blurRad="53867" dist="35912" dir="5400000">
              <a:srgbClr val="000000">
                <a:alpha val="10196"/>
              </a:srgbClr>
            </a:outerShdw>
          </a:effectLst>
        </p:spPr>
      </p:sp>
      <p:sp>
        <p:nvSpPr>
          <p:cNvPr id="7" name="Shape 5"/>
          <p:cNvSpPr/>
          <p:nvPr/>
        </p:nvSpPr>
        <p:spPr>
          <a:xfrm>
            <a:off x="538675" y="1616024"/>
            <a:ext cx="224448" cy="179558"/>
          </a:xfrm>
          <a:custGeom>
            <a:avLst/>
            <a:gdLst/>
            <a:ahLst/>
            <a:cxnLst/>
            <a:rect l="l" t="t" r="r" b="b"/>
            <a:pathLst>
              <a:path w="224448" h="179558">
                <a:moveTo>
                  <a:pt x="168336" y="-22445"/>
                </a:moveTo>
                <a:cubicBezTo>
                  <a:pt x="162128" y="-22445"/>
                  <a:pt x="157113" y="-17430"/>
                  <a:pt x="157113" y="-11222"/>
                </a:cubicBezTo>
                <a:cubicBezTo>
                  <a:pt x="157113" y="-5015"/>
                  <a:pt x="162128" y="0"/>
                  <a:pt x="168336" y="0"/>
                </a:cubicBezTo>
                <a:lnTo>
                  <a:pt x="186116" y="0"/>
                </a:lnTo>
                <a:lnTo>
                  <a:pt x="166232" y="19885"/>
                </a:lnTo>
                <a:cubicBezTo>
                  <a:pt x="157008" y="14379"/>
                  <a:pt x="146207" y="11222"/>
                  <a:pt x="134669" y="11222"/>
                </a:cubicBezTo>
                <a:cubicBezTo>
                  <a:pt x="122254" y="11222"/>
                  <a:pt x="110681" y="14905"/>
                  <a:pt x="101001" y="21217"/>
                </a:cubicBezTo>
                <a:cubicBezTo>
                  <a:pt x="91322" y="14905"/>
                  <a:pt x="79749" y="11222"/>
                  <a:pt x="67334" y="11222"/>
                </a:cubicBezTo>
                <a:cubicBezTo>
                  <a:pt x="33246" y="11222"/>
                  <a:pt x="5611" y="38858"/>
                  <a:pt x="5611" y="72946"/>
                </a:cubicBezTo>
                <a:cubicBezTo>
                  <a:pt x="5611" y="103211"/>
                  <a:pt x="27390" y="128391"/>
                  <a:pt x="56112" y="133652"/>
                </a:cubicBezTo>
                <a:lnTo>
                  <a:pt x="56112" y="145891"/>
                </a:lnTo>
                <a:lnTo>
                  <a:pt x="44890" y="145891"/>
                </a:lnTo>
                <a:cubicBezTo>
                  <a:pt x="38682" y="145891"/>
                  <a:pt x="33667" y="150906"/>
                  <a:pt x="33667" y="157113"/>
                </a:cubicBezTo>
                <a:cubicBezTo>
                  <a:pt x="33667" y="163321"/>
                  <a:pt x="38682" y="168336"/>
                  <a:pt x="44890" y="168336"/>
                </a:cubicBezTo>
                <a:lnTo>
                  <a:pt x="56112" y="168336"/>
                </a:lnTo>
                <a:lnTo>
                  <a:pt x="56112" y="179558"/>
                </a:lnTo>
                <a:cubicBezTo>
                  <a:pt x="56112" y="185766"/>
                  <a:pt x="61127" y="190781"/>
                  <a:pt x="67334" y="190781"/>
                </a:cubicBezTo>
                <a:cubicBezTo>
                  <a:pt x="73542" y="190781"/>
                  <a:pt x="78557" y="185766"/>
                  <a:pt x="78557" y="179558"/>
                </a:cubicBezTo>
                <a:lnTo>
                  <a:pt x="78557" y="168336"/>
                </a:lnTo>
                <a:lnTo>
                  <a:pt x="89779" y="168336"/>
                </a:lnTo>
                <a:cubicBezTo>
                  <a:pt x="95986" y="168336"/>
                  <a:pt x="101001" y="163321"/>
                  <a:pt x="101001" y="157113"/>
                </a:cubicBezTo>
                <a:cubicBezTo>
                  <a:pt x="101001" y="150906"/>
                  <a:pt x="95986" y="145891"/>
                  <a:pt x="89779" y="145891"/>
                </a:cubicBezTo>
                <a:lnTo>
                  <a:pt x="78557" y="145891"/>
                </a:lnTo>
                <a:lnTo>
                  <a:pt x="78557" y="133652"/>
                </a:lnTo>
                <a:cubicBezTo>
                  <a:pt x="86728" y="132144"/>
                  <a:pt x="94303" y="129057"/>
                  <a:pt x="101001" y="124674"/>
                </a:cubicBezTo>
                <a:cubicBezTo>
                  <a:pt x="110681" y="130986"/>
                  <a:pt x="122254" y="134669"/>
                  <a:pt x="134669" y="134669"/>
                </a:cubicBezTo>
                <a:cubicBezTo>
                  <a:pt x="168757" y="134669"/>
                  <a:pt x="196392" y="107034"/>
                  <a:pt x="196392" y="72946"/>
                </a:cubicBezTo>
                <a:cubicBezTo>
                  <a:pt x="196392" y="58532"/>
                  <a:pt x="191447" y="45240"/>
                  <a:pt x="183135" y="34719"/>
                </a:cubicBezTo>
                <a:lnTo>
                  <a:pt x="202003" y="15887"/>
                </a:lnTo>
                <a:lnTo>
                  <a:pt x="202003" y="33667"/>
                </a:lnTo>
                <a:cubicBezTo>
                  <a:pt x="202003" y="39875"/>
                  <a:pt x="207018" y="44890"/>
                  <a:pt x="213225" y="44890"/>
                </a:cubicBezTo>
                <a:cubicBezTo>
                  <a:pt x="219433" y="44890"/>
                  <a:pt x="224448" y="39875"/>
                  <a:pt x="224448" y="33667"/>
                </a:cubicBezTo>
                <a:lnTo>
                  <a:pt x="224448" y="-11222"/>
                </a:lnTo>
                <a:cubicBezTo>
                  <a:pt x="224448" y="-17430"/>
                  <a:pt x="219433" y="-22445"/>
                  <a:pt x="213225" y="-22445"/>
                </a:cubicBezTo>
                <a:lnTo>
                  <a:pt x="168336" y="-22445"/>
                </a:lnTo>
                <a:close/>
                <a:moveTo>
                  <a:pt x="117835" y="108436"/>
                </a:moveTo>
                <a:cubicBezTo>
                  <a:pt x="124919" y="98406"/>
                  <a:pt x="129057" y="86167"/>
                  <a:pt x="129057" y="72946"/>
                </a:cubicBezTo>
                <a:cubicBezTo>
                  <a:pt x="129057" y="59724"/>
                  <a:pt x="124919" y="47485"/>
                  <a:pt x="117835" y="37455"/>
                </a:cubicBezTo>
                <a:cubicBezTo>
                  <a:pt x="122955" y="35035"/>
                  <a:pt x="128637" y="33667"/>
                  <a:pt x="134669" y="33667"/>
                </a:cubicBezTo>
                <a:cubicBezTo>
                  <a:pt x="156377" y="33667"/>
                  <a:pt x="173947" y="51237"/>
                  <a:pt x="173947" y="72946"/>
                </a:cubicBezTo>
                <a:cubicBezTo>
                  <a:pt x="173947" y="94654"/>
                  <a:pt x="156377" y="112224"/>
                  <a:pt x="134669" y="112224"/>
                </a:cubicBezTo>
                <a:cubicBezTo>
                  <a:pt x="128637" y="112224"/>
                  <a:pt x="122920" y="110856"/>
                  <a:pt x="117835" y="108436"/>
                </a:cubicBezTo>
                <a:close/>
                <a:moveTo>
                  <a:pt x="101001" y="52710"/>
                </a:moveTo>
                <a:cubicBezTo>
                  <a:pt x="104579" y="58637"/>
                  <a:pt x="106613" y="65546"/>
                  <a:pt x="106613" y="72946"/>
                </a:cubicBezTo>
                <a:cubicBezTo>
                  <a:pt x="106613" y="80345"/>
                  <a:pt x="104579" y="87289"/>
                  <a:pt x="101001" y="93181"/>
                </a:cubicBezTo>
                <a:cubicBezTo>
                  <a:pt x="97424" y="87254"/>
                  <a:pt x="95390" y="80345"/>
                  <a:pt x="95390" y="72946"/>
                </a:cubicBezTo>
                <a:cubicBezTo>
                  <a:pt x="95390" y="65546"/>
                  <a:pt x="97424" y="58602"/>
                  <a:pt x="101001" y="52710"/>
                </a:cubicBezTo>
                <a:close/>
                <a:moveTo>
                  <a:pt x="84168" y="37455"/>
                </a:moveTo>
                <a:cubicBezTo>
                  <a:pt x="77084" y="47485"/>
                  <a:pt x="72946" y="59724"/>
                  <a:pt x="72946" y="72946"/>
                </a:cubicBezTo>
                <a:cubicBezTo>
                  <a:pt x="72946" y="86167"/>
                  <a:pt x="77084" y="98406"/>
                  <a:pt x="84168" y="108436"/>
                </a:cubicBezTo>
                <a:cubicBezTo>
                  <a:pt x="79083" y="110856"/>
                  <a:pt x="73366" y="112224"/>
                  <a:pt x="67334" y="112224"/>
                </a:cubicBezTo>
                <a:cubicBezTo>
                  <a:pt x="45626" y="112224"/>
                  <a:pt x="28056" y="94654"/>
                  <a:pt x="28056" y="72946"/>
                </a:cubicBezTo>
                <a:cubicBezTo>
                  <a:pt x="28056" y="51237"/>
                  <a:pt x="45626" y="33667"/>
                  <a:pt x="67334" y="33667"/>
                </a:cubicBezTo>
                <a:cubicBezTo>
                  <a:pt x="73366" y="33667"/>
                  <a:pt x="79083" y="35035"/>
                  <a:pt x="84168" y="37455"/>
                </a:cubicBezTo>
                <a:close/>
              </a:path>
            </a:pathLst>
          </a:custGeom>
          <a:solidFill>
            <a:srgbClr val="C75B39"/>
          </a:solidFill>
          <a:ln/>
        </p:spPr>
      </p:sp>
      <p:sp>
        <p:nvSpPr>
          <p:cNvPr id="8" name="Text 6"/>
          <p:cNvSpPr/>
          <p:nvPr/>
        </p:nvSpPr>
        <p:spPr>
          <a:xfrm>
            <a:off x="763122" y="1580112"/>
            <a:ext cx="6266580" cy="251381"/>
          </a:xfrm>
          <a:prstGeom prst="rect">
            <a:avLst/>
          </a:prstGeom>
          <a:noFill/>
          <a:ln/>
        </p:spPr>
        <p:txBody>
          <a:bodyPr wrap="square" lIns="0" tIns="0" rIns="0" bIns="0" rtlCol="0" anchor="ctr"/>
          <a:lstStyle/>
          <a:p>
            <a:pPr>
              <a:lnSpc>
                <a:spcPct val="120000"/>
              </a:lnSpc>
            </a:pPr>
            <a:r>
              <a:rPr lang="en-US" sz="1414" b="1" dirty="0">
                <a:solidFill>
                  <a:srgbClr val="2E5A4C"/>
                </a:solidFill>
                <a:latin typeface="Liter" pitchFamily="34" charset="0"/>
                <a:ea typeface="Liter" pitchFamily="34" charset="-122"/>
                <a:cs typeface="Liter" pitchFamily="34" charset="-120"/>
              </a:rPr>
              <a:t>Revenue by Gender</a:t>
            </a:r>
            <a:endParaRPr lang="en-US" sz="1600" dirty="0"/>
          </a:p>
        </p:txBody>
      </p:sp>
      <p:pic>
        <p:nvPicPr>
          <p:cNvPr id="9" name="Image 0" descr="https://kimi-img.moonshot.cn/pub/slides/26-03-07-00:30:44-d6lg2d31huikssrfdp7g.png">    </p:cNvPr>
          <p:cNvPicPr>
            <a:picLocks noChangeAspect="1"/>
          </p:cNvPicPr>
          <p:nvPr/>
        </p:nvPicPr>
        <p:blipFill>
          <a:blip r:embed="rId1"/>
          <a:srcRect l="0" r="0" t="30" b="30"/>
          <a:stretch/>
        </p:blipFill>
        <p:spPr>
          <a:xfrm>
            <a:off x="538675" y="1939228"/>
            <a:ext cx="5979287" cy="1939228"/>
          </a:xfrm>
          <a:prstGeom prst="roundRect">
            <a:avLst>
              <a:gd name="adj" fmla="val 0"/>
            </a:avLst>
          </a:prstGeom>
        </p:spPr>
      </p:pic>
      <p:sp>
        <p:nvSpPr>
          <p:cNvPr id="10" name="Shape 7"/>
          <p:cNvSpPr/>
          <p:nvPr/>
        </p:nvSpPr>
        <p:spPr>
          <a:xfrm>
            <a:off x="359116" y="4201661"/>
            <a:ext cx="6760365" cy="2657461"/>
          </a:xfrm>
          <a:custGeom>
            <a:avLst/>
            <a:gdLst/>
            <a:ahLst/>
            <a:cxnLst/>
            <a:rect l="l" t="t" r="r" b="b"/>
            <a:pathLst>
              <a:path w="6760365" h="2657461">
                <a:moveTo>
                  <a:pt x="107733" y="0"/>
                </a:moveTo>
                <a:lnTo>
                  <a:pt x="6652632" y="0"/>
                </a:lnTo>
                <a:cubicBezTo>
                  <a:pt x="6712131" y="0"/>
                  <a:pt x="6760365" y="48234"/>
                  <a:pt x="6760365" y="107733"/>
                </a:cubicBezTo>
                <a:lnTo>
                  <a:pt x="6760365" y="2549728"/>
                </a:lnTo>
                <a:cubicBezTo>
                  <a:pt x="6760365" y="2609227"/>
                  <a:pt x="6712131" y="2657461"/>
                  <a:pt x="6652632" y="2657461"/>
                </a:cubicBezTo>
                <a:lnTo>
                  <a:pt x="107733" y="2657461"/>
                </a:lnTo>
                <a:cubicBezTo>
                  <a:pt x="48234" y="2657461"/>
                  <a:pt x="0" y="2609227"/>
                  <a:pt x="0" y="2549728"/>
                </a:cubicBezTo>
                <a:lnTo>
                  <a:pt x="0" y="107733"/>
                </a:lnTo>
                <a:cubicBezTo>
                  <a:pt x="0" y="48274"/>
                  <a:pt x="48274" y="0"/>
                  <a:pt x="107733" y="0"/>
                </a:cubicBezTo>
                <a:close/>
              </a:path>
            </a:pathLst>
          </a:custGeom>
          <a:solidFill>
            <a:srgbClr val="FFFFFF"/>
          </a:solidFill>
          <a:ln/>
          <a:effectLst>
            <a:outerShdw sx="100000" sy="100000" kx="0" ky="0" algn="bl" rotWithShape="0" blurRad="53867" dist="35912" dir="5400000">
              <a:srgbClr val="000000">
                <a:alpha val="10196"/>
              </a:srgbClr>
            </a:outerShdw>
          </a:effectLst>
        </p:spPr>
      </p:sp>
      <p:sp>
        <p:nvSpPr>
          <p:cNvPr id="11" name="Shape 8"/>
          <p:cNvSpPr/>
          <p:nvPr/>
        </p:nvSpPr>
        <p:spPr>
          <a:xfrm>
            <a:off x="538675" y="4417131"/>
            <a:ext cx="224448" cy="179558"/>
          </a:xfrm>
          <a:custGeom>
            <a:avLst/>
            <a:gdLst/>
            <a:ahLst/>
            <a:cxnLst/>
            <a:rect l="l" t="t" r="r" b="b"/>
            <a:pathLst>
              <a:path w="224448" h="179558">
                <a:moveTo>
                  <a:pt x="112224" y="5611"/>
                </a:moveTo>
                <a:cubicBezTo>
                  <a:pt x="132354" y="5611"/>
                  <a:pt x="148697" y="21954"/>
                  <a:pt x="148697" y="42084"/>
                </a:cubicBezTo>
                <a:cubicBezTo>
                  <a:pt x="148697" y="62214"/>
                  <a:pt x="132354" y="78557"/>
                  <a:pt x="112224" y="78557"/>
                </a:cubicBezTo>
                <a:cubicBezTo>
                  <a:pt x="92094" y="78557"/>
                  <a:pt x="75751" y="62214"/>
                  <a:pt x="75751" y="42084"/>
                </a:cubicBezTo>
                <a:cubicBezTo>
                  <a:pt x="75751" y="21954"/>
                  <a:pt x="92094" y="5611"/>
                  <a:pt x="112224" y="5611"/>
                </a:cubicBezTo>
                <a:close/>
                <a:moveTo>
                  <a:pt x="33667" y="30862"/>
                </a:moveTo>
                <a:cubicBezTo>
                  <a:pt x="47603" y="30862"/>
                  <a:pt x="58918" y="42176"/>
                  <a:pt x="58918" y="56112"/>
                </a:cubicBezTo>
                <a:cubicBezTo>
                  <a:pt x="58918" y="70048"/>
                  <a:pt x="47603" y="81362"/>
                  <a:pt x="33667" y="81362"/>
                </a:cubicBezTo>
                <a:cubicBezTo>
                  <a:pt x="19731" y="81362"/>
                  <a:pt x="8417" y="70048"/>
                  <a:pt x="8417" y="56112"/>
                </a:cubicBezTo>
                <a:cubicBezTo>
                  <a:pt x="8417" y="42176"/>
                  <a:pt x="19731" y="30862"/>
                  <a:pt x="33667" y="30862"/>
                </a:cubicBezTo>
                <a:close/>
                <a:moveTo>
                  <a:pt x="0" y="145891"/>
                </a:moveTo>
                <a:cubicBezTo>
                  <a:pt x="0" y="121097"/>
                  <a:pt x="20095" y="101001"/>
                  <a:pt x="44890" y="101001"/>
                </a:cubicBezTo>
                <a:cubicBezTo>
                  <a:pt x="49378" y="101001"/>
                  <a:pt x="53727" y="101668"/>
                  <a:pt x="57830" y="102895"/>
                </a:cubicBezTo>
                <a:cubicBezTo>
                  <a:pt x="46292" y="115801"/>
                  <a:pt x="39278" y="132845"/>
                  <a:pt x="39278" y="151502"/>
                </a:cubicBezTo>
                <a:lnTo>
                  <a:pt x="39278" y="157113"/>
                </a:lnTo>
                <a:cubicBezTo>
                  <a:pt x="39278" y="161111"/>
                  <a:pt x="40120" y="164899"/>
                  <a:pt x="41628" y="168336"/>
                </a:cubicBezTo>
                <a:lnTo>
                  <a:pt x="11222" y="168336"/>
                </a:lnTo>
                <a:cubicBezTo>
                  <a:pt x="5015" y="168336"/>
                  <a:pt x="0" y="163321"/>
                  <a:pt x="0" y="157113"/>
                </a:cubicBezTo>
                <a:lnTo>
                  <a:pt x="0" y="145891"/>
                </a:lnTo>
                <a:close/>
                <a:moveTo>
                  <a:pt x="182820" y="168336"/>
                </a:moveTo>
                <a:cubicBezTo>
                  <a:pt x="184328" y="164899"/>
                  <a:pt x="185169" y="161111"/>
                  <a:pt x="185169" y="157113"/>
                </a:cubicBezTo>
                <a:lnTo>
                  <a:pt x="185169" y="151502"/>
                </a:lnTo>
                <a:cubicBezTo>
                  <a:pt x="185169" y="132845"/>
                  <a:pt x="178155" y="115801"/>
                  <a:pt x="166617" y="102895"/>
                </a:cubicBezTo>
                <a:cubicBezTo>
                  <a:pt x="170721" y="101668"/>
                  <a:pt x="175069" y="101001"/>
                  <a:pt x="179558" y="101001"/>
                </a:cubicBezTo>
                <a:cubicBezTo>
                  <a:pt x="204353" y="101001"/>
                  <a:pt x="224448" y="121097"/>
                  <a:pt x="224448" y="145891"/>
                </a:cubicBezTo>
                <a:lnTo>
                  <a:pt x="224448" y="157113"/>
                </a:lnTo>
                <a:cubicBezTo>
                  <a:pt x="224448" y="163321"/>
                  <a:pt x="219433" y="168336"/>
                  <a:pt x="213225" y="168336"/>
                </a:cubicBezTo>
                <a:lnTo>
                  <a:pt x="182820" y="168336"/>
                </a:lnTo>
                <a:close/>
                <a:moveTo>
                  <a:pt x="165530" y="56112"/>
                </a:moveTo>
                <a:cubicBezTo>
                  <a:pt x="165530" y="42176"/>
                  <a:pt x="176845" y="30862"/>
                  <a:pt x="190781" y="30862"/>
                </a:cubicBezTo>
                <a:cubicBezTo>
                  <a:pt x="204717" y="30862"/>
                  <a:pt x="216031" y="42176"/>
                  <a:pt x="216031" y="56112"/>
                </a:cubicBezTo>
                <a:cubicBezTo>
                  <a:pt x="216031" y="70048"/>
                  <a:pt x="204717" y="81362"/>
                  <a:pt x="190781" y="81362"/>
                </a:cubicBezTo>
                <a:cubicBezTo>
                  <a:pt x="176845" y="81362"/>
                  <a:pt x="165530" y="70048"/>
                  <a:pt x="165530" y="56112"/>
                </a:cubicBezTo>
                <a:close/>
                <a:moveTo>
                  <a:pt x="56112" y="151502"/>
                </a:moveTo>
                <a:cubicBezTo>
                  <a:pt x="56112" y="120500"/>
                  <a:pt x="81222" y="95390"/>
                  <a:pt x="112224" y="95390"/>
                </a:cubicBezTo>
                <a:cubicBezTo>
                  <a:pt x="143226" y="95390"/>
                  <a:pt x="168336" y="120500"/>
                  <a:pt x="168336" y="151502"/>
                </a:cubicBezTo>
                <a:lnTo>
                  <a:pt x="168336" y="157113"/>
                </a:lnTo>
                <a:cubicBezTo>
                  <a:pt x="168336" y="163321"/>
                  <a:pt x="163321" y="168336"/>
                  <a:pt x="157113" y="168336"/>
                </a:cubicBezTo>
                <a:lnTo>
                  <a:pt x="67334" y="168336"/>
                </a:lnTo>
                <a:cubicBezTo>
                  <a:pt x="61127" y="168336"/>
                  <a:pt x="56112" y="163321"/>
                  <a:pt x="56112" y="157113"/>
                </a:cubicBezTo>
                <a:lnTo>
                  <a:pt x="56112" y="151502"/>
                </a:lnTo>
                <a:close/>
              </a:path>
            </a:pathLst>
          </a:custGeom>
          <a:solidFill>
            <a:srgbClr val="D4A574"/>
          </a:solidFill>
          <a:ln/>
        </p:spPr>
      </p:sp>
      <p:sp>
        <p:nvSpPr>
          <p:cNvPr id="12" name="Text 9"/>
          <p:cNvSpPr/>
          <p:nvPr/>
        </p:nvSpPr>
        <p:spPr>
          <a:xfrm>
            <a:off x="763122" y="4381219"/>
            <a:ext cx="6266580" cy="251381"/>
          </a:xfrm>
          <a:prstGeom prst="rect">
            <a:avLst/>
          </a:prstGeom>
          <a:noFill/>
          <a:ln/>
        </p:spPr>
        <p:txBody>
          <a:bodyPr wrap="square" lIns="0" tIns="0" rIns="0" bIns="0" rtlCol="0" anchor="ctr"/>
          <a:lstStyle/>
          <a:p>
            <a:pPr>
              <a:lnSpc>
                <a:spcPct val="120000"/>
              </a:lnSpc>
            </a:pPr>
            <a:r>
              <a:rPr lang="en-US" sz="1414" b="1" dirty="0">
                <a:solidFill>
                  <a:srgbClr val="2E5A4C"/>
                </a:solidFill>
                <a:latin typeface="Liter" pitchFamily="34" charset="0"/>
                <a:ea typeface="Liter" pitchFamily="34" charset="-122"/>
                <a:cs typeface="Liter" pitchFamily="34" charset="-120"/>
              </a:rPr>
              <a:t>Revenue by Age Group</a:t>
            </a:r>
            <a:endParaRPr lang="en-US" sz="1600" dirty="0"/>
          </a:p>
        </p:txBody>
      </p:sp>
      <p:pic>
        <p:nvPicPr>
          <p:cNvPr id="13" name="Image 1" descr="https://kimi-img.moonshot.cn/pub/slides/26-03-07-00:30:44-d6lg2d5kjfllqiefdij0.png">    </p:cNvPr>
          <p:cNvPicPr>
            <a:picLocks noChangeAspect="1"/>
          </p:cNvPicPr>
          <p:nvPr/>
        </p:nvPicPr>
        <p:blipFill>
          <a:blip r:embed="rId2"/>
          <a:srcRect l="0" r="0" t="30" b="30"/>
          <a:stretch/>
        </p:blipFill>
        <p:spPr>
          <a:xfrm>
            <a:off x="538675" y="4740336"/>
            <a:ext cx="5979287" cy="1939228"/>
          </a:xfrm>
          <a:prstGeom prst="roundRect">
            <a:avLst>
              <a:gd name="adj" fmla="val 0"/>
            </a:avLst>
          </a:prstGeom>
        </p:spPr>
      </p:pic>
      <p:sp>
        <p:nvSpPr>
          <p:cNvPr id="14" name="Shape 10"/>
          <p:cNvSpPr/>
          <p:nvPr/>
        </p:nvSpPr>
        <p:spPr>
          <a:xfrm>
            <a:off x="7330687" y="1400554"/>
            <a:ext cx="4506910" cy="2540748"/>
          </a:xfrm>
          <a:custGeom>
            <a:avLst/>
            <a:gdLst/>
            <a:ahLst/>
            <a:cxnLst/>
            <a:rect l="l" t="t" r="r" b="b"/>
            <a:pathLst>
              <a:path w="4506910" h="2540748">
                <a:moveTo>
                  <a:pt x="107728" y="0"/>
                </a:moveTo>
                <a:lnTo>
                  <a:pt x="4399182" y="0"/>
                </a:lnTo>
                <a:cubicBezTo>
                  <a:pt x="4458679" y="0"/>
                  <a:pt x="4506910" y="48231"/>
                  <a:pt x="4506910" y="107728"/>
                </a:cubicBezTo>
                <a:lnTo>
                  <a:pt x="4506910" y="2433020"/>
                </a:lnTo>
                <a:cubicBezTo>
                  <a:pt x="4506910" y="2492517"/>
                  <a:pt x="4458679" y="2540748"/>
                  <a:pt x="4399182" y="2540748"/>
                </a:cubicBezTo>
                <a:lnTo>
                  <a:pt x="107728" y="2540748"/>
                </a:lnTo>
                <a:cubicBezTo>
                  <a:pt x="48231" y="2540748"/>
                  <a:pt x="0" y="2492517"/>
                  <a:pt x="0" y="2433020"/>
                </a:cubicBezTo>
                <a:lnTo>
                  <a:pt x="0" y="107728"/>
                </a:lnTo>
                <a:cubicBezTo>
                  <a:pt x="0" y="48231"/>
                  <a:pt x="48231" y="0"/>
                  <a:pt x="107728" y="0"/>
                </a:cubicBezTo>
                <a:close/>
              </a:path>
            </a:pathLst>
          </a:custGeom>
          <a:gradFill rotWithShape="1" flip="none">
            <a:gsLst>
              <a:gs pos="0">
                <a:srgbClr val="2E5A4C"/>
              </a:gs>
              <a:gs pos="100000">
                <a:srgbClr val="2E5A4C">
                  <a:alpha val="80000"/>
                </a:srgbClr>
              </a:gs>
            </a:gsLst>
            <a:lin ang="2700000" scaled="1"/>
          </a:gradFill>
          <a:ln/>
          <a:effectLst>
            <a:outerShdw sx="100000" sy="100000" kx="0" ky="0" algn="bl" rotWithShape="0" blurRad="134669" dist="89779" dir="5400000">
              <a:srgbClr val="000000">
                <a:alpha val="10196"/>
              </a:srgbClr>
            </a:outerShdw>
          </a:effectLst>
        </p:spPr>
      </p:sp>
      <p:sp>
        <p:nvSpPr>
          <p:cNvPr id="15" name="Shape 11"/>
          <p:cNvSpPr/>
          <p:nvPr/>
        </p:nvSpPr>
        <p:spPr>
          <a:xfrm>
            <a:off x="7555135" y="1616024"/>
            <a:ext cx="134669" cy="179558"/>
          </a:xfrm>
          <a:custGeom>
            <a:avLst/>
            <a:gdLst/>
            <a:ahLst/>
            <a:cxnLst/>
            <a:rect l="l" t="t" r="r" b="b"/>
            <a:pathLst>
              <a:path w="134669" h="179558">
                <a:moveTo>
                  <a:pt x="102720" y="134669"/>
                </a:moveTo>
                <a:cubicBezTo>
                  <a:pt x="105280" y="126848"/>
                  <a:pt x="110400" y="119764"/>
                  <a:pt x="116187" y="113662"/>
                </a:cubicBezTo>
                <a:cubicBezTo>
                  <a:pt x="127655" y="101598"/>
                  <a:pt x="134669" y="85290"/>
                  <a:pt x="134669" y="67334"/>
                </a:cubicBezTo>
                <a:cubicBezTo>
                  <a:pt x="134669" y="30160"/>
                  <a:pt x="104508" y="0"/>
                  <a:pt x="67334" y="0"/>
                </a:cubicBezTo>
                <a:cubicBezTo>
                  <a:pt x="30160" y="0"/>
                  <a:pt x="0" y="30160"/>
                  <a:pt x="0" y="67334"/>
                </a:cubicBezTo>
                <a:cubicBezTo>
                  <a:pt x="0" y="85290"/>
                  <a:pt x="7014" y="101598"/>
                  <a:pt x="18482" y="113662"/>
                </a:cubicBezTo>
                <a:cubicBezTo>
                  <a:pt x="24268" y="119764"/>
                  <a:pt x="29424" y="126848"/>
                  <a:pt x="31949" y="134669"/>
                </a:cubicBezTo>
                <a:lnTo>
                  <a:pt x="102685" y="134669"/>
                </a:lnTo>
                <a:close/>
                <a:moveTo>
                  <a:pt x="101001" y="151502"/>
                </a:moveTo>
                <a:lnTo>
                  <a:pt x="33667" y="151502"/>
                </a:lnTo>
                <a:lnTo>
                  <a:pt x="33667" y="157113"/>
                </a:lnTo>
                <a:cubicBezTo>
                  <a:pt x="33667" y="172614"/>
                  <a:pt x="46222" y="185169"/>
                  <a:pt x="61723" y="185169"/>
                </a:cubicBezTo>
                <a:lnTo>
                  <a:pt x="72946" y="185169"/>
                </a:lnTo>
                <a:cubicBezTo>
                  <a:pt x="88446" y="185169"/>
                  <a:pt x="101001" y="172614"/>
                  <a:pt x="101001" y="157113"/>
                </a:cubicBezTo>
                <a:lnTo>
                  <a:pt x="101001" y="151502"/>
                </a:lnTo>
                <a:close/>
                <a:moveTo>
                  <a:pt x="64529" y="39278"/>
                </a:moveTo>
                <a:cubicBezTo>
                  <a:pt x="50571" y="39278"/>
                  <a:pt x="39278" y="50571"/>
                  <a:pt x="39278" y="64529"/>
                </a:cubicBezTo>
                <a:cubicBezTo>
                  <a:pt x="39278" y="69193"/>
                  <a:pt x="35526" y="72946"/>
                  <a:pt x="30862" y="72946"/>
                </a:cubicBezTo>
                <a:cubicBezTo>
                  <a:pt x="26197" y="72946"/>
                  <a:pt x="22445" y="69193"/>
                  <a:pt x="22445" y="64529"/>
                </a:cubicBezTo>
                <a:cubicBezTo>
                  <a:pt x="22445" y="41277"/>
                  <a:pt x="41277" y="22445"/>
                  <a:pt x="64529" y="22445"/>
                </a:cubicBezTo>
                <a:cubicBezTo>
                  <a:pt x="69193" y="22445"/>
                  <a:pt x="72946" y="26197"/>
                  <a:pt x="72946" y="30862"/>
                </a:cubicBezTo>
                <a:cubicBezTo>
                  <a:pt x="72946" y="35526"/>
                  <a:pt x="69193" y="39278"/>
                  <a:pt x="64529" y="39278"/>
                </a:cubicBezTo>
                <a:close/>
              </a:path>
            </a:pathLst>
          </a:custGeom>
          <a:solidFill>
            <a:srgbClr val="D4A574"/>
          </a:solidFill>
          <a:ln/>
        </p:spPr>
      </p:sp>
      <p:sp>
        <p:nvSpPr>
          <p:cNvPr id="16" name="Text 12"/>
          <p:cNvSpPr/>
          <p:nvPr/>
        </p:nvSpPr>
        <p:spPr>
          <a:xfrm>
            <a:off x="7734693" y="1580112"/>
            <a:ext cx="4013125" cy="251381"/>
          </a:xfrm>
          <a:prstGeom prst="rect">
            <a:avLst/>
          </a:prstGeom>
          <a:noFill/>
          <a:ln/>
        </p:spPr>
        <p:txBody>
          <a:bodyPr wrap="square" lIns="0" tIns="0" rIns="0" bIns="0" rtlCol="0" anchor="ctr"/>
          <a:lstStyle/>
          <a:p>
            <a:pPr>
              <a:lnSpc>
                <a:spcPct val="120000"/>
              </a:lnSpc>
            </a:pPr>
            <a:r>
              <a:rPr lang="en-US" sz="1414" b="1" dirty="0">
                <a:solidFill>
                  <a:srgbClr val="FFFFFF"/>
                </a:solidFill>
                <a:latin typeface="Liter" pitchFamily="34" charset="0"/>
                <a:ea typeface="Liter" pitchFamily="34" charset="-122"/>
                <a:cs typeface="Liter" pitchFamily="34" charset="-120"/>
              </a:rPr>
              <a:t>Key Findings</a:t>
            </a:r>
            <a:endParaRPr lang="en-US" sz="1600" dirty="0"/>
          </a:p>
        </p:txBody>
      </p:sp>
      <p:sp>
        <p:nvSpPr>
          <p:cNvPr id="17" name="Shape 13"/>
          <p:cNvSpPr/>
          <p:nvPr/>
        </p:nvSpPr>
        <p:spPr>
          <a:xfrm>
            <a:off x="7510245" y="1975140"/>
            <a:ext cx="4147794" cy="843923"/>
          </a:xfrm>
          <a:custGeom>
            <a:avLst/>
            <a:gdLst/>
            <a:ahLst/>
            <a:cxnLst/>
            <a:rect l="l" t="t" r="r" b="b"/>
            <a:pathLst>
              <a:path w="4147794" h="843923">
                <a:moveTo>
                  <a:pt x="71826" y="0"/>
                </a:moveTo>
                <a:lnTo>
                  <a:pt x="4075967" y="0"/>
                </a:lnTo>
                <a:cubicBezTo>
                  <a:pt x="4115636" y="0"/>
                  <a:pt x="4147794" y="32158"/>
                  <a:pt x="4147794" y="71826"/>
                </a:cubicBezTo>
                <a:lnTo>
                  <a:pt x="4147794" y="772097"/>
                </a:lnTo>
                <a:cubicBezTo>
                  <a:pt x="4147794" y="811766"/>
                  <a:pt x="4115636" y="843923"/>
                  <a:pt x="4075967" y="843923"/>
                </a:cubicBezTo>
                <a:lnTo>
                  <a:pt x="71826" y="843923"/>
                </a:lnTo>
                <a:cubicBezTo>
                  <a:pt x="32158" y="843923"/>
                  <a:pt x="0" y="811766"/>
                  <a:pt x="0" y="772097"/>
                </a:cubicBezTo>
                <a:lnTo>
                  <a:pt x="0" y="71826"/>
                </a:lnTo>
                <a:cubicBezTo>
                  <a:pt x="0" y="32184"/>
                  <a:pt x="32184" y="0"/>
                  <a:pt x="71826" y="0"/>
                </a:cubicBezTo>
                <a:close/>
              </a:path>
            </a:pathLst>
          </a:custGeom>
          <a:solidFill>
            <a:srgbClr val="FFFFFF">
              <a:alpha val="10196"/>
            </a:srgbClr>
          </a:solidFill>
          <a:ln/>
        </p:spPr>
      </p:sp>
      <p:sp>
        <p:nvSpPr>
          <p:cNvPr id="18" name="Text 14"/>
          <p:cNvSpPr/>
          <p:nvPr/>
        </p:nvSpPr>
        <p:spPr>
          <a:xfrm>
            <a:off x="7617980" y="2082875"/>
            <a:ext cx="3995169" cy="179558"/>
          </a:xfrm>
          <a:prstGeom prst="rect">
            <a:avLst/>
          </a:prstGeom>
          <a:noFill/>
          <a:ln/>
        </p:spPr>
        <p:txBody>
          <a:bodyPr wrap="square" lIns="0" tIns="0" rIns="0" bIns="0" rtlCol="0" anchor="ctr"/>
          <a:lstStyle/>
          <a:p>
            <a:pPr>
              <a:lnSpc>
                <a:spcPct val="120000"/>
              </a:lnSpc>
            </a:pPr>
            <a:r>
              <a:rPr lang="en-US" sz="990" b="1" dirty="0">
                <a:solidFill>
                  <a:srgbClr val="D4A574"/>
                </a:solidFill>
                <a:latin typeface="Liter" pitchFamily="34" charset="0"/>
                <a:ea typeface="Liter" pitchFamily="34" charset="-122"/>
                <a:cs typeface="Liter" pitchFamily="34" charset="-120"/>
              </a:rPr>
              <a:t>Gender Distribution</a:t>
            </a:r>
            <a:endParaRPr lang="en-US" sz="1600" dirty="0"/>
          </a:p>
        </p:txBody>
      </p:sp>
      <p:sp>
        <p:nvSpPr>
          <p:cNvPr id="19" name="Text 15"/>
          <p:cNvSpPr/>
          <p:nvPr/>
        </p:nvSpPr>
        <p:spPr>
          <a:xfrm>
            <a:off x="7617980" y="2298345"/>
            <a:ext cx="3995169" cy="412984"/>
          </a:xfrm>
          <a:prstGeom prst="rect">
            <a:avLst/>
          </a:prstGeom>
          <a:noFill/>
          <a:ln/>
        </p:spPr>
        <p:txBody>
          <a:bodyPr wrap="square" lIns="0" tIns="0" rIns="0" bIns="0" rtlCol="0" anchor="ctr"/>
          <a:lstStyle/>
          <a:p>
            <a:pPr>
              <a:lnSpc>
                <a:spcPct val="140000"/>
              </a:lnSpc>
            </a:pPr>
            <a:r>
              <a:rPr lang="en-US" sz="990" dirty="0">
                <a:solidFill>
                  <a:srgbClr val="FFFFFF">
                    <a:alpha val="90000"/>
                  </a:srgbClr>
                </a:solidFill>
                <a:latin typeface="Quattrocento Sans" pitchFamily="34" charset="0"/>
                <a:ea typeface="Quattrocento Sans" pitchFamily="34" charset="-122"/>
                <a:cs typeface="Quattrocento Sans" pitchFamily="34" charset="-120"/>
              </a:rPr>
              <a:t>Comparative analysis reveals spending patterns between male and female customers, informing gender-targeted marketing strategies.</a:t>
            </a:r>
            <a:endParaRPr lang="en-US" sz="1600" dirty="0"/>
          </a:p>
        </p:txBody>
      </p:sp>
      <p:sp>
        <p:nvSpPr>
          <p:cNvPr id="20" name="Shape 16"/>
          <p:cNvSpPr/>
          <p:nvPr/>
        </p:nvSpPr>
        <p:spPr>
          <a:xfrm>
            <a:off x="7510245" y="2922309"/>
            <a:ext cx="4147794" cy="843923"/>
          </a:xfrm>
          <a:custGeom>
            <a:avLst/>
            <a:gdLst/>
            <a:ahLst/>
            <a:cxnLst/>
            <a:rect l="l" t="t" r="r" b="b"/>
            <a:pathLst>
              <a:path w="4147794" h="843923">
                <a:moveTo>
                  <a:pt x="71826" y="0"/>
                </a:moveTo>
                <a:lnTo>
                  <a:pt x="4075967" y="0"/>
                </a:lnTo>
                <a:cubicBezTo>
                  <a:pt x="4115636" y="0"/>
                  <a:pt x="4147794" y="32158"/>
                  <a:pt x="4147794" y="71826"/>
                </a:cubicBezTo>
                <a:lnTo>
                  <a:pt x="4147794" y="772097"/>
                </a:lnTo>
                <a:cubicBezTo>
                  <a:pt x="4147794" y="811766"/>
                  <a:pt x="4115636" y="843923"/>
                  <a:pt x="4075967" y="843923"/>
                </a:cubicBezTo>
                <a:lnTo>
                  <a:pt x="71826" y="843923"/>
                </a:lnTo>
                <a:cubicBezTo>
                  <a:pt x="32158" y="843923"/>
                  <a:pt x="0" y="811766"/>
                  <a:pt x="0" y="772097"/>
                </a:cubicBezTo>
                <a:lnTo>
                  <a:pt x="0" y="71826"/>
                </a:lnTo>
                <a:cubicBezTo>
                  <a:pt x="0" y="32184"/>
                  <a:pt x="32184" y="0"/>
                  <a:pt x="71826" y="0"/>
                </a:cubicBezTo>
                <a:close/>
              </a:path>
            </a:pathLst>
          </a:custGeom>
          <a:solidFill>
            <a:srgbClr val="FFFFFF">
              <a:alpha val="10196"/>
            </a:srgbClr>
          </a:solidFill>
          <a:ln/>
        </p:spPr>
      </p:sp>
      <p:sp>
        <p:nvSpPr>
          <p:cNvPr id="21" name="Text 17"/>
          <p:cNvSpPr/>
          <p:nvPr/>
        </p:nvSpPr>
        <p:spPr>
          <a:xfrm>
            <a:off x="7617980" y="3030044"/>
            <a:ext cx="3995169" cy="179558"/>
          </a:xfrm>
          <a:prstGeom prst="rect">
            <a:avLst/>
          </a:prstGeom>
          <a:noFill/>
          <a:ln/>
        </p:spPr>
        <p:txBody>
          <a:bodyPr wrap="square" lIns="0" tIns="0" rIns="0" bIns="0" rtlCol="0" anchor="ctr"/>
          <a:lstStyle/>
          <a:p>
            <a:pPr>
              <a:lnSpc>
                <a:spcPct val="120000"/>
              </a:lnSpc>
            </a:pPr>
            <a:r>
              <a:rPr lang="en-US" sz="990" b="1" dirty="0">
                <a:solidFill>
                  <a:srgbClr val="D4A574"/>
                </a:solidFill>
                <a:latin typeface="Liter" pitchFamily="34" charset="0"/>
                <a:ea typeface="Liter" pitchFamily="34" charset="-122"/>
                <a:cs typeface="Liter" pitchFamily="34" charset="-120"/>
              </a:rPr>
              <a:t>Age Group Value</a:t>
            </a:r>
            <a:endParaRPr lang="en-US" sz="1600" dirty="0"/>
          </a:p>
        </p:txBody>
      </p:sp>
      <p:sp>
        <p:nvSpPr>
          <p:cNvPr id="22" name="Text 18"/>
          <p:cNvSpPr/>
          <p:nvPr/>
        </p:nvSpPr>
        <p:spPr>
          <a:xfrm>
            <a:off x="7617980" y="3245514"/>
            <a:ext cx="3995169" cy="412984"/>
          </a:xfrm>
          <a:prstGeom prst="rect">
            <a:avLst/>
          </a:prstGeom>
          <a:noFill/>
          <a:ln/>
        </p:spPr>
        <p:txBody>
          <a:bodyPr wrap="square" lIns="0" tIns="0" rIns="0" bIns="0" rtlCol="0" anchor="ctr"/>
          <a:lstStyle/>
          <a:p>
            <a:pPr>
              <a:lnSpc>
                <a:spcPct val="140000"/>
              </a:lnSpc>
            </a:pPr>
            <a:r>
              <a:rPr lang="en-US" sz="990" dirty="0">
                <a:solidFill>
                  <a:srgbClr val="FFFFFF">
                    <a:alpha val="90000"/>
                  </a:srgbClr>
                </a:solidFill>
                <a:latin typeface="Quattrocento Sans" pitchFamily="34" charset="0"/>
                <a:ea typeface="Quattrocento Sans" pitchFamily="34" charset="-122"/>
                <a:cs typeface="Quattrocento Sans" pitchFamily="34" charset="-120"/>
              </a:rPr>
              <a:t>Total revenue contribution varies significantly across age demographics, highlighting high-value segments for focused campaigns.</a:t>
            </a:r>
            <a:endParaRPr lang="en-US" sz="1600" dirty="0"/>
          </a:p>
        </p:txBody>
      </p:sp>
      <p:sp>
        <p:nvSpPr>
          <p:cNvPr id="23" name="Shape 19"/>
          <p:cNvSpPr/>
          <p:nvPr/>
        </p:nvSpPr>
        <p:spPr>
          <a:xfrm>
            <a:off x="7330687" y="4084948"/>
            <a:ext cx="4506910" cy="1400554"/>
          </a:xfrm>
          <a:custGeom>
            <a:avLst/>
            <a:gdLst/>
            <a:ahLst/>
            <a:cxnLst/>
            <a:rect l="l" t="t" r="r" b="b"/>
            <a:pathLst>
              <a:path w="4506910" h="1400554">
                <a:moveTo>
                  <a:pt x="107731" y="0"/>
                </a:moveTo>
                <a:lnTo>
                  <a:pt x="4399180" y="0"/>
                </a:lnTo>
                <a:cubicBezTo>
                  <a:pt x="4458678" y="0"/>
                  <a:pt x="4506910" y="48233"/>
                  <a:pt x="4506910" y="107731"/>
                </a:cubicBezTo>
                <a:lnTo>
                  <a:pt x="4506910" y="1292823"/>
                </a:lnTo>
                <a:cubicBezTo>
                  <a:pt x="4506910" y="1352321"/>
                  <a:pt x="4458678" y="1400554"/>
                  <a:pt x="4399180" y="1400554"/>
                </a:cubicBezTo>
                <a:lnTo>
                  <a:pt x="107731" y="1400554"/>
                </a:lnTo>
                <a:cubicBezTo>
                  <a:pt x="48233" y="1400554"/>
                  <a:pt x="0" y="1352321"/>
                  <a:pt x="0" y="1292823"/>
                </a:cubicBezTo>
                <a:lnTo>
                  <a:pt x="0" y="107731"/>
                </a:lnTo>
                <a:cubicBezTo>
                  <a:pt x="0" y="48272"/>
                  <a:pt x="48272" y="0"/>
                  <a:pt x="107731" y="0"/>
                </a:cubicBezTo>
                <a:close/>
              </a:path>
            </a:pathLst>
          </a:custGeom>
          <a:solidFill>
            <a:srgbClr val="FFFFFF"/>
          </a:solidFill>
          <a:ln/>
          <a:effectLst>
            <a:outerShdw sx="100000" sy="100000" kx="0" ky="0" algn="bl" rotWithShape="0" blurRad="53867" dist="35912" dir="5400000">
              <a:srgbClr val="000000">
                <a:alpha val="10196"/>
              </a:srgbClr>
            </a:outerShdw>
          </a:effectLst>
        </p:spPr>
      </p:sp>
      <p:sp>
        <p:nvSpPr>
          <p:cNvPr id="24" name="Shape 20"/>
          <p:cNvSpPr/>
          <p:nvPr/>
        </p:nvSpPr>
        <p:spPr>
          <a:xfrm>
            <a:off x="7532690" y="4309396"/>
            <a:ext cx="161602" cy="161602"/>
          </a:xfrm>
          <a:custGeom>
            <a:avLst/>
            <a:gdLst/>
            <a:ahLst/>
            <a:cxnLst/>
            <a:rect l="l" t="t" r="r" b="b"/>
            <a:pathLst>
              <a:path w="161602" h="161602">
                <a:moveTo>
                  <a:pt x="141402" y="80801"/>
                </a:moveTo>
                <a:cubicBezTo>
                  <a:pt x="141402" y="47355"/>
                  <a:pt x="114248" y="20200"/>
                  <a:pt x="80801" y="20200"/>
                </a:cubicBezTo>
                <a:cubicBezTo>
                  <a:pt x="47355" y="20200"/>
                  <a:pt x="20200" y="47355"/>
                  <a:pt x="20200" y="80801"/>
                </a:cubicBezTo>
                <a:cubicBezTo>
                  <a:pt x="20200" y="114248"/>
                  <a:pt x="47355" y="141402"/>
                  <a:pt x="80801" y="141402"/>
                </a:cubicBezTo>
                <a:cubicBezTo>
                  <a:pt x="114248" y="141402"/>
                  <a:pt x="141402" y="114248"/>
                  <a:pt x="141402" y="80801"/>
                </a:cubicBezTo>
                <a:close/>
                <a:moveTo>
                  <a:pt x="0" y="80801"/>
                </a:moveTo>
                <a:cubicBezTo>
                  <a:pt x="0" y="36206"/>
                  <a:pt x="36206" y="0"/>
                  <a:pt x="80801" y="0"/>
                </a:cubicBezTo>
                <a:cubicBezTo>
                  <a:pt x="125397" y="0"/>
                  <a:pt x="161602" y="36206"/>
                  <a:pt x="161602" y="80801"/>
                </a:cubicBezTo>
                <a:cubicBezTo>
                  <a:pt x="161602" y="125397"/>
                  <a:pt x="125397" y="161602"/>
                  <a:pt x="80801" y="161602"/>
                </a:cubicBezTo>
                <a:cubicBezTo>
                  <a:pt x="36206" y="161602"/>
                  <a:pt x="0" y="125397"/>
                  <a:pt x="0" y="80801"/>
                </a:cubicBezTo>
                <a:close/>
                <a:moveTo>
                  <a:pt x="80801" y="106052"/>
                </a:moveTo>
                <a:cubicBezTo>
                  <a:pt x="94737" y="106052"/>
                  <a:pt x="106052" y="94737"/>
                  <a:pt x="106052" y="80801"/>
                </a:cubicBezTo>
                <a:cubicBezTo>
                  <a:pt x="106052" y="66865"/>
                  <a:pt x="94737" y="55551"/>
                  <a:pt x="80801" y="55551"/>
                </a:cubicBezTo>
                <a:cubicBezTo>
                  <a:pt x="66865" y="55551"/>
                  <a:pt x="55551" y="66865"/>
                  <a:pt x="55551" y="80801"/>
                </a:cubicBezTo>
                <a:cubicBezTo>
                  <a:pt x="55551" y="94737"/>
                  <a:pt x="66865" y="106052"/>
                  <a:pt x="80801" y="106052"/>
                </a:cubicBezTo>
                <a:close/>
                <a:moveTo>
                  <a:pt x="80801" y="35351"/>
                </a:moveTo>
                <a:cubicBezTo>
                  <a:pt x="105886" y="35351"/>
                  <a:pt x="126252" y="55716"/>
                  <a:pt x="126252" y="80801"/>
                </a:cubicBezTo>
                <a:cubicBezTo>
                  <a:pt x="126252" y="105886"/>
                  <a:pt x="105886" y="126252"/>
                  <a:pt x="80801" y="126252"/>
                </a:cubicBezTo>
                <a:cubicBezTo>
                  <a:pt x="55716" y="126252"/>
                  <a:pt x="35351" y="105886"/>
                  <a:pt x="35351" y="80801"/>
                </a:cubicBezTo>
                <a:cubicBezTo>
                  <a:pt x="35351" y="55716"/>
                  <a:pt x="55716" y="35351"/>
                  <a:pt x="80801" y="35351"/>
                </a:cubicBezTo>
                <a:close/>
                <a:moveTo>
                  <a:pt x="70701" y="80801"/>
                </a:moveTo>
                <a:cubicBezTo>
                  <a:pt x="70701" y="75227"/>
                  <a:pt x="75227" y="70701"/>
                  <a:pt x="80801" y="70701"/>
                </a:cubicBezTo>
                <a:cubicBezTo>
                  <a:pt x="86376" y="70701"/>
                  <a:pt x="90901" y="75227"/>
                  <a:pt x="90901" y="80801"/>
                </a:cubicBezTo>
                <a:cubicBezTo>
                  <a:pt x="90901" y="86376"/>
                  <a:pt x="86376" y="90901"/>
                  <a:pt x="80801" y="90901"/>
                </a:cubicBezTo>
                <a:cubicBezTo>
                  <a:pt x="75227" y="90901"/>
                  <a:pt x="70701" y="86376"/>
                  <a:pt x="70701" y="80801"/>
                </a:cubicBezTo>
                <a:close/>
              </a:path>
            </a:pathLst>
          </a:custGeom>
          <a:solidFill>
            <a:srgbClr val="C75B39"/>
          </a:solidFill>
          <a:ln/>
        </p:spPr>
      </p:sp>
      <p:sp>
        <p:nvSpPr>
          <p:cNvPr id="25" name="Text 21"/>
          <p:cNvSpPr/>
          <p:nvPr/>
        </p:nvSpPr>
        <p:spPr>
          <a:xfrm>
            <a:off x="7716737" y="4264507"/>
            <a:ext cx="4022103" cy="251381"/>
          </a:xfrm>
          <a:prstGeom prst="rect">
            <a:avLst/>
          </a:prstGeom>
          <a:noFill/>
          <a:ln/>
        </p:spPr>
        <p:txBody>
          <a:bodyPr wrap="square" lIns="0" tIns="0" rIns="0" bIns="0" rtlCol="0" anchor="ctr"/>
          <a:lstStyle/>
          <a:p>
            <a:pPr>
              <a:lnSpc>
                <a:spcPct val="130000"/>
              </a:lnSpc>
            </a:pPr>
            <a:r>
              <a:rPr lang="en-US" sz="1272" b="1" dirty="0">
                <a:solidFill>
                  <a:srgbClr val="2E5A4C"/>
                </a:solidFill>
                <a:latin typeface="Liter" pitchFamily="34" charset="0"/>
                <a:ea typeface="Liter" pitchFamily="34" charset="-122"/>
                <a:cs typeface="Liter" pitchFamily="34" charset="-120"/>
              </a:rPr>
              <a:t>Strategic Implications</a:t>
            </a:r>
            <a:endParaRPr lang="en-US" sz="1600" dirty="0"/>
          </a:p>
        </p:txBody>
      </p:sp>
      <p:sp>
        <p:nvSpPr>
          <p:cNvPr id="26" name="Shape 22"/>
          <p:cNvSpPr/>
          <p:nvPr/>
        </p:nvSpPr>
        <p:spPr>
          <a:xfrm>
            <a:off x="7528201" y="4659535"/>
            <a:ext cx="143647" cy="143647"/>
          </a:xfrm>
          <a:custGeom>
            <a:avLst/>
            <a:gdLst/>
            <a:ahLst/>
            <a:cxnLst/>
            <a:rect l="l" t="t" r="r" b="b"/>
            <a:pathLst>
              <a:path w="143647" h="143647">
                <a:moveTo>
                  <a:pt x="71823" y="143647"/>
                </a:moveTo>
                <a:cubicBezTo>
                  <a:pt x="111464" y="143647"/>
                  <a:pt x="143647" y="111464"/>
                  <a:pt x="143647" y="71823"/>
                </a:cubicBezTo>
                <a:cubicBezTo>
                  <a:pt x="143647" y="32183"/>
                  <a:pt x="111464" y="0"/>
                  <a:pt x="71823" y="0"/>
                </a:cubicBezTo>
                <a:cubicBezTo>
                  <a:pt x="32183" y="0"/>
                  <a:pt x="0" y="32183"/>
                  <a:pt x="0" y="71823"/>
                </a:cubicBezTo>
                <a:cubicBezTo>
                  <a:pt x="0" y="111464"/>
                  <a:pt x="32183" y="143647"/>
                  <a:pt x="71823" y="143647"/>
                </a:cubicBezTo>
                <a:close/>
                <a:moveTo>
                  <a:pt x="95503" y="59675"/>
                </a:moveTo>
                <a:lnTo>
                  <a:pt x="73058" y="95587"/>
                </a:lnTo>
                <a:cubicBezTo>
                  <a:pt x="71879" y="97466"/>
                  <a:pt x="69859" y="98645"/>
                  <a:pt x="67643" y="98757"/>
                </a:cubicBezTo>
                <a:cubicBezTo>
                  <a:pt x="65427" y="98869"/>
                  <a:pt x="63294" y="97859"/>
                  <a:pt x="61976" y="96064"/>
                </a:cubicBezTo>
                <a:lnTo>
                  <a:pt x="48509" y="78108"/>
                </a:lnTo>
                <a:cubicBezTo>
                  <a:pt x="46264" y="75134"/>
                  <a:pt x="46882" y="70925"/>
                  <a:pt x="49855" y="68681"/>
                </a:cubicBezTo>
                <a:cubicBezTo>
                  <a:pt x="52829" y="66437"/>
                  <a:pt x="57038" y="67054"/>
                  <a:pt x="59282" y="70028"/>
                </a:cubicBezTo>
                <a:lnTo>
                  <a:pt x="66857" y="80128"/>
                </a:lnTo>
                <a:lnTo>
                  <a:pt x="84084" y="52549"/>
                </a:lnTo>
                <a:cubicBezTo>
                  <a:pt x="86048" y="49407"/>
                  <a:pt x="90200" y="48425"/>
                  <a:pt x="93370" y="50417"/>
                </a:cubicBezTo>
                <a:cubicBezTo>
                  <a:pt x="96541" y="52409"/>
                  <a:pt x="97494" y="56533"/>
                  <a:pt x="95503" y="59703"/>
                </a:cubicBezTo>
                <a:close/>
              </a:path>
            </a:pathLst>
          </a:custGeom>
          <a:solidFill>
            <a:srgbClr val="2E5A4C"/>
          </a:solidFill>
          <a:ln/>
        </p:spPr>
      </p:sp>
      <p:sp>
        <p:nvSpPr>
          <p:cNvPr id="27" name="Text 23"/>
          <p:cNvSpPr/>
          <p:nvPr/>
        </p:nvSpPr>
        <p:spPr>
          <a:xfrm>
            <a:off x="7761627" y="4623623"/>
            <a:ext cx="3609119" cy="179558"/>
          </a:xfrm>
          <a:prstGeom prst="rect">
            <a:avLst/>
          </a:prstGeom>
          <a:noFill/>
          <a:ln/>
        </p:spPr>
        <p:txBody>
          <a:bodyPr wrap="square" lIns="0" tIns="0" rIns="0" bIns="0" rtlCol="0" anchor="ctr"/>
          <a:lstStyle/>
          <a:p>
            <a:pPr>
              <a:lnSpc>
                <a:spcPct val="120000"/>
              </a:lnSpc>
            </a:pPr>
            <a:r>
              <a:rPr lang="en-US" sz="990" b="1" dirty="0">
                <a:solidFill>
                  <a:srgbClr val="2C3E50"/>
                </a:solidFill>
                <a:latin typeface="Quattrocento Sans" pitchFamily="34" charset="0"/>
                <a:ea typeface="Quattrocento Sans" pitchFamily="34" charset="-122"/>
                <a:cs typeface="Quattrocento Sans" pitchFamily="34" charset="-120"/>
              </a:rPr>
              <a:t>Targeted Marketing:</a:t>
            </a:r>
            <a:pPr>
              <a:lnSpc>
                <a:spcPct val="120000"/>
              </a:lnSpc>
            </a:pPr>
            <a:r>
              <a:rPr lang="en-US" sz="990" dirty="0">
                <a:solidFill>
                  <a:srgbClr val="2C3E50"/>
                </a:solidFill>
                <a:latin typeface="Quattrocento Sans" pitchFamily="34" charset="0"/>
                <a:ea typeface="Quattrocento Sans" pitchFamily="34" charset="-122"/>
                <a:cs typeface="Quattrocento Sans" pitchFamily="34" charset="-120"/>
              </a:rPr>
              <a:t> Focus efforts on high-revenue demographics</a:t>
            </a:r>
            <a:endParaRPr lang="en-US" sz="1600" dirty="0"/>
          </a:p>
        </p:txBody>
      </p:sp>
      <p:sp>
        <p:nvSpPr>
          <p:cNvPr id="28" name="Shape 24"/>
          <p:cNvSpPr/>
          <p:nvPr/>
        </p:nvSpPr>
        <p:spPr>
          <a:xfrm>
            <a:off x="7528201" y="4910916"/>
            <a:ext cx="143647" cy="143647"/>
          </a:xfrm>
          <a:custGeom>
            <a:avLst/>
            <a:gdLst/>
            <a:ahLst/>
            <a:cxnLst/>
            <a:rect l="l" t="t" r="r" b="b"/>
            <a:pathLst>
              <a:path w="143647" h="143647">
                <a:moveTo>
                  <a:pt x="71823" y="143647"/>
                </a:moveTo>
                <a:cubicBezTo>
                  <a:pt x="111464" y="143647"/>
                  <a:pt x="143647" y="111464"/>
                  <a:pt x="143647" y="71823"/>
                </a:cubicBezTo>
                <a:cubicBezTo>
                  <a:pt x="143647" y="32183"/>
                  <a:pt x="111464" y="0"/>
                  <a:pt x="71823" y="0"/>
                </a:cubicBezTo>
                <a:cubicBezTo>
                  <a:pt x="32183" y="0"/>
                  <a:pt x="0" y="32183"/>
                  <a:pt x="0" y="71823"/>
                </a:cubicBezTo>
                <a:cubicBezTo>
                  <a:pt x="0" y="111464"/>
                  <a:pt x="32183" y="143647"/>
                  <a:pt x="71823" y="143647"/>
                </a:cubicBezTo>
                <a:close/>
                <a:moveTo>
                  <a:pt x="95503" y="59675"/>
                </a:moveTo>
                <a:lnTo>
                  <a:pt x="73058" y="95587"/>
                </a:lnTo>
                <a:cubicBezTo>
                  <a:pt x="71879" y="97466"/>
                  <a:pt x="69859" y="98645"/>
                  <a:pt x="67643" y="98757"/>
                </a:cubicBezTo>
                <a:cubicBezTo>
                  <a:pt x="65427" y="98869"/>
                  <a:pt x="63294" y="97859"/>
                  <a:pt x="61976" y="96064"/>
                </a:cubicBezTo>
                <a:lnTo>
                  <a:pt x="48509" y="78108"/>
                </a:lnTo>
                <a:cubicBezTo>
                  <a:pt x="46264" y="75134"/>
                  <a:pt x="46882" y="70925"/>
                  <a:pt x="49855" y="68681"/>
                </a:cubicBezTo>
                <a:cubicBezTo>
                  <a:pt x="52829" y="66437"/>
                  <a:pt x="57038" y="67054"/>
                  <a:pt x="59282" y="70028"/>
                </a:cubicBezTo>
                <a:lnTo>
                  <a:pt x="66857" y="80128"/>
                </a:lnTo>
                <a:lnTo>
                  <a:pt x="84084" y="52549"/>
                </a:lnTo>
                <a:cubicBezTo>
                  <a:pt x="86048" y="49407"/>
                  <a:pt x="90200" y="48425"/>
                  <a:pt x="93370" y="50417"/>
                </a:cubicBezTo>
                <a:cubicBezTo>
                  <a:pt x="96541" y="52409"/>
                  <a:pt x="97494" y="56533"/>
                  <a:pt x="95503" y="59703"/>
                </a:cubicBezTo>
                <a:close/>
              </a:path>
            </a:pathLst>
          </a:custGeom>
          <a:solidFill>
            <a:srgbClr val="2E5A4C"/>
          </a:solidFill>
          <a:ln/>
        </p:spPr>
      </p:sp>
      <p:sp>
        <p:nvSpPr>
          <p:cNvPr id="29" name="Text 25"/>
          <p:cNvSpPr/>
          <p:nvPr/>
        </p:nvSpPr>
        <p:spPr>
          <a:xfrm>
            <a:off x="7761627" y="4875004"/>
            <a:ext cx="3384672" cy="179558"/>
          </a:xfrm>
          <a:prstGeom prst="rect">
            <a:avLst/>
          </a:prstGeom>
          <a:noFill/>
          <a:ln/>
        </p:spPr>
        <p:txBody>
          <a:bodyPr wrap="square" lIns="0" tIns="0" rIns="0" bIns="0" rtlCol="0" anchor="ctr"/>
          <a:lstStyle/>
          <a:p>
            <a:pPr>
              <a:lnSpc>
                <a:spcPct val="120000"/>
              </a:lnSpc>
            </a:pPr>
            <a:r>
              <a:rPr lang="en-US" sz="990" b="1" dirty="0">
                <a:solidFill>
                  <a:srgbClr val="2C3E50"/>
                </a:solidFill>
                <a:latin typeface="Quattrocento Sans" pitchFamily="34" charset="0"/>
                <a:ea typeface="Quattrocento Sans" pitchFamily="34" charset="-122"/>
                <a:cs typeface="Quattrocento Sans" pitchFamily="34" charset="-120"/>
              </a:rPr>
              <a:t>Product Positioning:</a:t>
            </a:r>
            <a:pPr>
              <a:lnSpc>
                <a:spcPct val="120000"/>
              </a:lnSpc>
            </a:pPr>
            <a:r>
              <a:rPr lang="en-US" sz="990" dirty="0">
                <a:solidFill>
                  <a:srgbClr val="2C3E50"/>
                </a:solidFill>
                <a:latin typeface="Quattrocento Sans" pitchFamily="34" charset="0"/>
                <a:ea typeface="Quattrocento Sans" pitchFamily="34" charset="-122"/>
                <a:cs typeface="Quattrocento Sans" pitchFamily="34" charset="-120"/>
              </a:rPr>
              <a:t> Align offerings with segment preferences</a:t>
            </a:r>
            <a:endParaRPr lang="en-US" sz="1600" dirty="0"/>
          </a:p>
        </p:txBody>
      </p:sp>
      <p:sp>
        <p:nvSpPr>
          <p:cNvPr id="30" name="Shape 26"/>
          <p:cNvSpPr/>
          <p:nvPr/>
        </p:nvSpPr>
        <p:spPr>
          <a:xfrm>
            <a:off x="7528201" y="5162297"/>
            <a:ext cx="143647" cy="143647"/>
          </a:xfrm>
          <a:custGeom>
            <a:avLst/>
            <a:gdLst/>
            <a:ahLst/>
            <a:cxnLst/>
            <a:rect l="l" t="t" r="r" b="b"/>
            <a:pathLst>
              <a:path w="143647" h="143647">
                <a:moveTo>
                  <a:pt x="71823" y="143647"/>
                </a:moveTo>
                <a:cubicBezTo>
                  <a:pt x="111464" y="143647"/>
                  <a:pt x="143647" y="111464"/>
                  <a:pt x="143647" y="71823"/>
                </a:cubicBezTo>
                <a:cubicBezTo>
                  <a:pt x="143647" y="32183"/>
                  <a:pt x="111464" y="0"/>
                  <a:pt x="71823" y="0"/>
                </a:cubicBezTo>
                <a:cubicBezTo>
                  <a:pt x="32183" y="0"/>
                  <a:pt x="0" y="32183"/>
                  <a:pt x="0" y="71823"/>
                </a:cubicBezTo>
                <a:cubicBezTo>
                  <a:pt x="0" y="111464"/>
                  <a:pt x="32183" y="143647"/>
                  <a:pt x="71823" y="143647"/>
                </a:cubicBezTo>
                <a:close/>
                <a:moveTo>
                  <a:pt x="95503" y="59675"/>
                </a:moveTo>
                <a:lnTo>
                  <a:pt x="73058" y="95587"/>
                </a:lnTo>
                <a:cubicBezTo>
                  <a:pt x="71879" y="97466"/>
                  <a:pt x="69859" y="98645"/>
                  <a:pt x="67643" y="98757"/>
                </a:cubicBezTo>
                <a:cubicBezTo>
                  <a:pt x="65427" y="98869"/>
                  <a:pt x="63294" y="97859"/>
                  <a:pt x="61976" y="96064"/>
                </a:cubicBezTo>
                <a:lnTo>
                  <a:pt x="48509" y="78108"/>
                </a:lnTo>
                <a:cubicBezTo>
                  <a:pt x="46264" y="75134"/>
                  <a:pt x="46882" y="70925"/>
                  <a:pt x="49855" y="68681"/>
                </a:cubicBezTo>
                <a:cubicBezTo>
                  <a:pt x="52829" y="66437"/>
                  <a:pt x="57038" y="67054"/>
                  <a:pt x="59282" y="70028"/>
                </a:cubicBezTo>
                <a:lnTo>
                  <a:pt x="66857" y="80128"/>
                </a:lnTo>
                <a:lnTo>
                  <a:pt x="84084" y="52549"/>
                </a:lnTo>
                <a:cubicBezTo>
                  <a:pt x="86048" y="49407"/>
                  <a:pt x="90200" y="48425"/>
                  <a:pt x="93370" y="50417"/>
                </a:cubicBezTo>
                <a:cubicBezTo>
                  <a:pt x="96541" y="52409"/>
                  <a:pt x="97494" y="56533"/>
                  <a:pt x="95503" y="59703"/>
                </a:cubicBezTo>
                <a:close/>
              </a:path>
            </a:pathLst>
          </a:custGeom>
          <a:solidFill>
            <a:srgbClr val="2E5A4C"/>
          </a:solidFill>
          <a:ln/>
        </p:spPr>
      </p:sp>
      <p:sp>
        <p:nvSpPr>
          <p:cNvPr id="31" name="Text 27"/>
          <p:cNvSpPr/>
          <p:nvPr/>
        </p:nvSpPr>
        <p:spPr>
          <a:xfrm>
            <a:off x="7761627" y="5126386"/>
            <a:ext cx="3438539" cy="179558"/>
          </a:xfrm>
          <a:prstGeom prst="rect">
            <a:avLst/>
          </a:prstGeom>
          <a:noFill/>
          <a:ln/>
        </p:spPr>
        <p:txBody>
          <a:bodyPr wrap="square" lIns="0" tIns="0" rIns="0" bIns="0" rtlCol="0" anchor="ctr"/>
          <a:lstStyle/>
          <a:p>
            <a:pPr>
              <a:lnSpc>
                <a:spcPct val="120000"/>
              </a:lnSpc>
            </a:pPr>
            <a:r>
              <a:rPr lang="en-US" sz="990" b="1" dirty="0">
                <a:solidFill>
                  <a:srgbClr val="2C3E50"/>
                </a:solidFill>
                <a:latin typeface="Quattrocento Sans" pitchFamily="34" charset="0"/>
                <a:ea typeface="Quattrocento Sans" pitchFamily="34" charset="-122"/>
                <a:cs typeface="Quattrocento Sans" pitchFamily="34" charset="-120"/>
              </a:rPr>
              <a:t>Budget Allocation:</a:t>
            </a:r>
            <a:pPr>
              <a:lnSpc>
                <a:spcPct val="120000"/>
              </a:lnSpc>
            </a:pPr>
            <a:r>
              <a:rPr lang="en-US" sz="990" dirty="0">
                <a:solidFill>
                  <a:srgbClr val="2C3E50"/>
                </a:solidFill>
                <a:latin typeface="Quattrocento Sans" pitchFamily="34" charset="0"/>
                <a:ea typeface="Quattrocento Sans" pitchFamily="34" charset="-122"/>
                <a:cs typeface="Quattrocento Sans" pitchFamily="34" charset="-120"/>
              </a:rPr>
              <a:t> Optimize spend based on revenue potential</a:t>
            </a:r>
            <a:endParaRPr lang="en-US" sz="1600" dirty="0"/>
          </a:p>
        </p:txBody>
      </p:sp>
      <p:sp>
        <p:nvSpPr>
          <p:cNvPr id="32" name="Shape 28"/>
          <p:cNvSpPr/>
          <p:nvPr/>
        </p:nvSpPr>
        <p:spPr>
          <a:xfrm>
            <a:off x="7348643" y="5629149"/>
            <a:ext cx="4488954" cy="646409"/>
          </a:xfrm>
          <a:custGeom>
            <a:avLst/>
            <a:gdLst/>
            <a:ahLst/>
            <a:cxnLst/>
            <a:rect l="l" t="t" r="r" b="b"/>
            <a:pathLst>
              <a:path w="4488954" h="646409">
                <a:moveTo>
                  <a:pt x="35912" y="0"/>
                </a:moveTo>
                <a:lnTo>
                  <a:pt x="4381217" y="0"/>
                </a:lnTo>
                <a:cubicBezTo>
                  <a:pt x="4440719" y="0"/>
                  <a:pt x="4488954" y="48236"/>
                  <a:pt x="4488954" y="107737"/>
                </a:cubicBezTo>
                <a:lnTo>
                  <a:pt x="4488954" y="538672"/>
                </a:lnTo>
                <a:cubicBezTo>
                  <a:pt x="4488954" y="598174"/>
                  <a:pt x="4440719" y="646409"/>
                  <a:pt x="4381217" y="646409"/>
                </a:cubicBezTo>
                <a:lnTo>
                  <a:pt x="35912" y="646409"/>
                </a:lnTo>
                <a:cubicBezTo>
                  <a:pt x="16078" y="646409"/>
                  <a:pt x="0" y="630331"/>
                  <a:pt x="0" y="610498"/>
                </a:cubicBezTo>
                <a:lnTo>
                  <a:pt x="0" y="35912"/>
                </a:lnTo>
                <a:cubicBezTo>
                  <a:pt x="0" y="16078"/>
                  <a:pt x="16078" y="0"/>
                  <a:pt x="35912" y="0"/>
                </a:cubicBezTo>
                <a:close/>
              </a:path>
            </a:pathLst>
          </a:custGeom>
          <a:solidFill>
            <a:srgbClr val="D4A574">
              <a:alpha val="10196"/>
            </a:srgbClr>
          </a:solidFill>
          <a:ln/>
        </p:spPr>
      </p:sp>
      <p:sp>
        <p:nvSpPr>
          <p:cNvPr id="33" name="Shape 29"/>
          <p:cNvSpPr/>
          <p:nvPr/>
        </p:nvSpPr>
        <p:spPr>
          <a:xfrm>
            <a:off x="7348643" y="5629149"/>
            <a:ext cx="35912" cy="646409"/>
          </a:xfrm>
          <a:custGeom>
            <a:avLst/>
            <a:gdLst/>
            <a:ahLst/>
            <a:cxnLst/>
            <a:rect l="l" t="t" r="r" b="b"/>
            <a:pathLst>
              <a:path w="35912" h="646409">
                <a:moveTo>
                  <a:pt x="35912" y="0"/>
                </a:moveTo>
                <a:lnTo>
                  <a:pt x="35912" y="0"/>
                </a:lnTo>
                <a:lnTo>
                  <a:pt x="35912" y="646409"/>
                </a:lnTo>
                <a:lnTo>
                  <a:pt x="35912" y="646409"/>
                </a:lnTo>
                <a:cubicBezTo>
                  <a:pt x="16078" y="646409"/>
                  <a:pt x="0" y="630331"/>
                  <a:pt x="0" y="610498"/>
                </a:cubicBezTo>
                <a:lnTo>
                  <a:pt x="0" y="35912"/>
                </a:lnTo>
                <a:cubicBezTo>
                  <a:pt x="0" y="16078"/>
                  <a:pt x="16078" y="0"/>
                  <a:pt x="35912" y="0"/>
                </a:cubicBezTo>
                <a:close/>
              </a:path>
            </a:pathLst>
          </a:custGeom>
          <a:solidFill>
            <a:srgbClr val="D4A574"/>
          </a:solidFill>
          <a:ln/>
        </p:spPr>
      </p:sp>
      <p:sp>
        <p:nvSpPr>
          <p:cNvPr id="34" name="Shape 30"/>
          <p:cNvSpPr/>
          <p:nvPr/>
        </p:nvSpPr>
        <p:spPr>
          <a:xfrm>
            <a:off x="7536057" y="5794341"/>
            <a:ext cx="109979" cy="125691"/>
          </a:xfrm>
          <a:custGeom>
            <a:avLst/>
            <a:gdLst/>
            <a:ahLst/>
            <a:cxnLst/>
            <a:rect l="l" t="t" r="r" b="b"/>
            <a:pathLst>
              <a:path w="109979" h="125691">
                <a:moveTo>
                  <a:pt x="0" y="53026"/>
                </a:moveTo>
                <a:cubicBezTo>
                  <a:pt x="0" y="36750"/>
                  <a:pt x="13183" y="23567"/>
                  <a:pt x="29459" y="23567"/>
                </a:cubicBezTo>
                <a:lnTo>
                  <a:pt x="31423" y="23567"/>
                </a:lnTo>
                <a:cubicBezTo>
                  <a:pt x="35768" y="23567"/>
                  <a:pt x="39278" y="27078"/>
                  <a:pt x="39278" y="31423"/>
                </a:cubicBezTo>
                <a:cubicBezTo>
                  <a:pt x="39278" y="35768"/>
                  <a:pt x="35768" y="39278"/>
                  <a:pt x="31423" y="39278"/>
                </a:cubicBezTo>
                <a:lnTo>
                  <a:pt x="29459" y="39278"/>
                </a:lnTo>
                <a:cubicBezTo>
                  <a:pt x="21873" y="39278"/>
                  <a:pt x="15711" y="45440"/>
                  <a:pt x="15711" y="53026"/>
                </a:cubicBezTo>
                <a:lnTo>
                  <a:pt x="15711" y="54990"/>
                </a:lnTo>
                <a:lnTo>
                  <a:pt x="31423" y="54990"/>
                </a:lnTo>
                <a:cubicBezTo>
                  <a:pt x="40088" y="54990"/>
                  <a:pt x="47134" y="62035"/>
                  <a:pt x="47134" y="70701"/>
                </a:cubicBezTo>
                <a:lnTo>
                  <a:pt x="47134" y="86412"/>
                </a:lnTo>
                <a:cubicBezTo>
                  <a:pt x="47134" y="95078"/>
                  <a:pt x="40088" y="102124"/>
                  <a:pt x="31423" y="102124"/>
                </a:cubicBezTo>
                <a:lnTo>
                  <a:pt x="15711" y="102124"/>
                </a:lnTo>
                <a:cubicBezTo>
                  <a:pt x="7046" y="102124"/>
                  <a:pt x="0" y="95078"/>
                  <a:pt x="0" y="86412"/>
                </a:cubicBezTo>
                <a:lnTo>
                  <a:pt x="0" y="53026"/>
                </a:lnTo>
                <a:close/>
                <a:moveTo>
                  <a:pt x="62845" y="53026"/>
                </a:moveTo>
                <a:cubicBezTo>
                  <a:pt x="62845" y="36750"/>
                  <a:pt x="76028" y="23567"/>
                  <a:pt x="92304" y="23567"/>
                </a:cubicBezTo>
                <a:lnTo>
                  <a:pt x="94268" y="23567"/>
                </a:lnTo>
                <a:cubicBezTo>
                  <a:pt x="98613" y="23567"/>
                  <a:pt x="102124" y="27078"/>
                  <a:pt x="102124" y="31423"/>
                </a:cubicBezTo>
                <a:cubicBezTo>
                  <a:pt x="102124" y="35768"/>
                  <a:pt x="98613" y="39278"/>
                  <a:pt x="94268" y="39278"/>
                </a:cubicBezTo>
                <a:lnTo>
                  <a:pt x="92304" y="39278"/>
                </a:lnTo>
                <a:cubicBezTo>
                  <a:pt x="84718" y="39278"/>
                  <a:pt x="78557" y="45440"/>
                  <a:pt x="78557" y="53026"/>
                </a:cubicBezTo>
                <a:lnTo>
                  <a:pt x="78557" y="54990"/>
                </a:lnTo>
                <a:lnTo>
                  <a:pt x="94268" y="54990"/>
                </a:lnTo>
                <a:cubicBezTo>
                  <a:pt x="102934" y="54990"/>
                  <a:pt x="109979" y="62035"/>
                  <a:pt x="109979" y="70701"/>
                </a:cubicBezTo>
                <a:lnTo>
                  <a:pt x="109979" y="86412"/>
                </a:lnTo>
                <a:cubicBezTo>
                  <a:pt x="109979" y="95078"/>
                  <a:pt x="102934" y="102124"/>
                  <a:pt x="94268" y="102124"/>
                </a:cubicBezTo>
                <a:lnTo>
                  <a:pt x="78557" y="102124"/>
                </a:lnTo>
                <a:cubicBezTo>
                  <a:pt x="69891" y="102124"/>
                  <a:pt x="62845" y="95078"/>
                  <a:pt x="62845" y="86412"/>
                </a:cubicBezTo>
                <a:lnTo>
                  <a:pt x="62845" y="53026"/>
                </a:lnTo>
                <a:close/>
              </a:path>
            </a:pathLst>
          </a:custGeom>
          <a:solidFill>
            <a:srgbClr val="D4A574"/>
          </a:solidFill>
          <a:ln/>
        </p:spPr>
      </p:sp>
      <p:sp>
        <p:nvSpPr>
          <p:cNvPr id="35" name="Text 31"/>
          <p:cNvSpPr/>
          <p:nvPr/>
        </p:nvSpPr>
        <p:spPr>
          <a:xfrm>
            <a:off x="7722621" y="5772795"/>
            <a:ext cx="4034175" cy="359116"/>
          </a:xfrm>
          <a:prstGeom prst="rect">
            <a:avLst/>
          </a:prstGeom>
          <a:noFill/>
          <a:ln/>
        </p:spPr>
        <p:txBody>
          <a:bodyPr wrap="square" lIns="0" tIns="0" rIns="0" bIns="0" rtlCol="0" anchor="ctr"/>
          <a:lstStyle/>
          <a:p>
            <a:pPr>
              <a:lnSpc>
                <a:spcPct val="120000"/>
              </a:lnSpc>
            </a:pPr>
            <a:r>
              <a:rPr lang="en-US" sz="990" dirty="0">
                <a:solidFill>
                  <a:srgbClr val="2C3E50"/>
                </a:solidFill>
                <a:latin typeface="Quattrocento Sans" pitchFamily="34" charset="0"/>
                <a:ea typeface="Quattrocento Sans" pitchFamily="34" charset="-122"/>
                <a:cs typeface="Quattrocento Sans" pitchFamily="34" charset="-120"/>
              </a:rPr>
              <a:t>Understanding revenue distribution across demographics enables precise targeting and maximizes marketing ROI.</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49091" y="418909"/>
            <a:ext cx="418909" cy="34909"/>
          </a:xfrm>
          <a:custGeom>
            <a:avLst/>
            <a:gdLst/>
            <a:ahLst/>
            <a:cxnLst/>
            <a:rect l="l" t="t" r="r" b="b"/>
            <a:pathLst>
              <a:path w="418909" h="34909">
                <a:moveTo>
                  <a:pt x="0" y="0"/>
                </a:moveTo>
                <a:lnTo>
                  <a:pt x="418909" y="0"/>
                </a:lnTo>
                <a:lnTo>
                  <a:pt x="418909" y="34909"/>
                </a:lnTo>
                <a:lnTo>
                  <a:pt x="0" y="34909"/>
                </a:lnTo>
                <a:lnTo>
                  <a:pt x="0" y="0"/>
                </a:lnTo>
                <a:close/>
              </a:path>
            </a:pathLst>
          </a:custGeom>
          <a:solidFill>
            <a:srgbClr val="C75B39"/>
          </a:solidFill>
          <a:ln/>
        </p:spPr>
      </p:sp>
      <p:sp>
        <p:nvSpPr>
          <p:cNvPr id="3" name="Text 1"/>
          <p:cNvSpPr/>
          <p:nvPr/>
        </p:nvSpPr>
        <p:spPr>
          <a:xfrm>
            <a:off x="872727" y="349091"/>
            <a:ext cx="872727" cy="174545"/>
          </a:xfrm>
          <a:prstGeom prst="rect">
            <a:avLst/>
          </a:prstGeom>
          <a:noFill/>
          <a:ln/>
        </p:spPr>
        <p:txBody>
          <a:bodyPr wrap="square" lIns="0" tIns="0" rIns="0" bIns="0" rtlCol="0" anchor="ctr"/>
          <a:lstStyle/>
          <a:p>
            <a:pPr>
              <a:lnSpc>
                <a:spcPct val="120000"/>
              </a:lnSpc>
            </a:pPr>
            <a:r>
              <a:rPr lang="en-US" sz="962" spc="96" kern="0" dirty="0">
                <a:solidFill>
                  <a:srgbClr val="C75B39"/>
                </a:solidFill>
                <a:latin typeface="Liter" pitchFamily="34" charset="0"/>
                <a:ea typeface="Liter" pitchFamily="34" charset="-122"/>
                <a:cs typeface="Liter" pitchFamily="34" charset="-120"/>
              </a:rPr>
              <a:t>Section 04</a:t>
            </a:r>
            <a:endParaRPr lang="en-US" sz="1600" dirty="0"/>
          </a:p>
        </p:txBody>
      </p:sp>
      <p:sp>
        <p:nvSpPr>
          <p:cNvPr id="4" name="Text 2"/>
          <p:cNvSpPr/>
          <p:nvPr/>
        </p:nvSpPr>
        <p:spPr>
          <a:xfrm>
            <a:off x="349091" y="628364"/>
            <a:ext cx="11650909" cy="349091"/>
          </a:xfrm>
          <a:prstGeom prst="rect">
            <a:avLst/>
          </a:prstGeom>
          <a:noFill/>
          <a:ln/>
        </p:spPr>
        <p:txBody>
          <a:bodyPr wrap="square" lIns="0" tIns="0" rIns="0" bIns="0" rtlCol="0" anchor="ctr"/>
          <a:lstStyle/>
          <a:p>
            <a:pPr>
              <a:lnSpc>
                <a:spcPct val="90000"/>
              </a:lnSpc>
            </a:pPr>
            <a:r>
              <a:rPr lang="en-US" sz="2474" b="1" dirty="0">
                <a:solidFill>
                  <a:srgbClr val="2E5A4C"/>
                </a:solidFill>
                <a:latin typeface="Oranienbaum" pitchFamily="34" charset="0"/>
                <a:ea typeface="Oranienbaum" pitchFamily="34" charset="-122"/>
                <a:cs typeface="Oranienbaum" pitchFamily="34" charset="-120"/>
              </a:rPr>
              <a:t>Customer Segmentation</a:t>
            </a:r>
            <a:endParaRPr lang="en-US" sz="1600" dirty="0"/>
          </a:p>
        </p:txBody>
      </p:sp>
      <p:sp>
        <p:nvSpPr>
          <p:cNvPr id="5" name="Text 3"/>
          <p:cNvSpPr/>
          <p:nvPr/>
        </p:nvSpPr>
        <p:spPr>
          <a:xfrm>
            <a:off x="349091" y="1012364"/>
            <a:ext cx="11572364" cy="244364"/>
          </a:xfrm>
          <a:prstGeom prst="rect">
            <a:avLst/>
          </a:prstGeom>
          <a:noFill/>
          <a:ln/>
        </p:spPr>
        <p:txBody>
          <a:bodyPr wrap="square" lIns="0" tIns="0" rIns="0" bIns="0" rtlCol="0" anchor="ctr"/>
          <a:lstStyle/>
          <a:p>
            <a:pPr>
              <a:lnSpc>
                <a:spcPct val="130000"/>
              </a:lnSpc>
            </a:pPr>
            <a:r>
              <a:rPr lang="en-US" sz="1237" dirty="0">
                <a:solidFill>
                  <a:srgbClr val="2C3E50">
                    <a:alpha val="70000"/>
                  </a:srgbClr>
                </a:solidFill>
                <a:latin typeface="Quattrocento Sans" pitchFamily="34" charset="0"/>
                <a:ea typeface="Quattrocento Sans" pitchFamily="34" charset="-122"/>
                <a:cs typeface="Quattrocento Sans" pitchFamily="34" charset="-120"/>
              </a:rPr>
              <a:t>From New Buyers to Loyal Advocates</a:t>
            </a:r>
            <a:endParaRPr lang="en-US" sz="1600" dirty="0"/>
          </a:p>
        </p:txBody>
      </p:sp>
      <p:sp>
        <p:nvSpPr>
          <p:cNvPr id="6" name="Shape 4"/>
          <p:cNvSpPr/>
          <p:nvPr/>
        </p:nvSpPr>
        <p:spPr>
          <a:xfrm>
            <a:off x="349091" y="1466182"/>
            <a:ext cx="4512000" cy="5393455"/>
          </a:xfrm>
          <a:custGeom>
            <a:avLst/>
            <a:gdLst/>
            <a:ahLst/>
            <a:cxnLst/>
            <a:rect l="l" t="t" r="r" b="b"/>
            <a:pathLst>
              <a:path w="4512000" h="5393455">
                <a:moveTo>
                  <a:pt x="104724" y="0"/>
                </a:moveTo>
                <a:lnTo>
                  <a:pt x="4407276" y="0"/>
                </a:lnTo>
                <a:cubicBezTo>
                  <a:pt x="4465114" y="0"/>
                  <a:pt x="4512000" y="46886"/>
                  <a:pt x="4512000" y="104724"/>
                </a:cubicBezTo>
                <a:lnTo>
                  <a:pt x="4512000" y="5288731"/>
                </a:lnTo>
                <a:cubicBezTo>
                  <a:pt x="4512000" y="5346568"/>
                  <a:pt x="4465114" y="5393455"/>
                  <a:pt x="4407276" y="5393455"/>
                </a:cubicBezTo>
                <a:lnTo>
                  <a:pt x="104724" y="5393455"/>
                </a:lnTo>
                <a:cubicBezTo>
                  <a:pt x="46886" y="5393455"/>
                  <a:pt x="0" y="5346568"/>
                  <a:pt x="0" y="5288731"/>
                </a:cubicBezTo>
                <a:lnTo>
                  <a:pt x="0" y="104724"/>
                </a:lnTo>
                <a:cubicBezTo>
                  <a:pt x="0" y="46925"/>
                  <a:pt x="46925" y="0"/>
                  <a:pt x="104724" y="0"/>
                </a:cubicBezTo>
                <a:close/>
              </a:path>
            </a:pathLst>
          </a:custGeom>
          <a:solidFill>
            <a:srgbClr val="FFFFFF"/>
          </a:solidFill>
          <a:ln/>
          <a:effectLst>
            <a:outerShdw sx="100000" sy="100000" kx="0" ky="0" algn="bl" rotWithShape="0" blurRad="52364" dist="34909" dir="5400000">
              <a:srgbClr val="000000">
                <a:alpha val="10196"/>
              </a:srgbClr>
            </a:outerShdw>
          </a:effectLst>
        </p:spPr>
      </p:sp>
      <p:sp>
        <p:nvSpPr>
          <p:cNvPr id="7" name="Shape 5"/>
          <p:cNvSpPr/>
          <p:nvPr/>
        </p:nvSpPr>
        <p:spPr>
          <a:xfrm>
            <a:off x="545455" y="1675636"/>
            <a:ext cx="174545" cy="174545"/>
          </a:xfrm>
          <a:custGeom>
            <a:avLst/>
            <a:gdLst/>
            <a:ahLst/>
            <a:cxnLst/>
            <a:rect l="l" t="t" r="r" b="b"/>
            <a:pathLst>
              <a:path w="174545" h="174545">
                <a:moveTo>
                  <a:pt x="79261" y="1773"/>
                </a:moveTo>
                <a:cubicBezTo>
                  <a:pt x="84341" y="-580"/>
                  <a:pt x="90205" y="-580"/>
                  <a:pt x="95284" y="1773"/>
                </a:cubicBezTo>
                <a:lnTo>
                  <a:pt x="169807" y="36205"/>
                </a:lnTo>
                <a:cubicBezTo>
                  <a:pt x="172705" y="37534"/>
                  <a:pt x="174545" y="40432"/>
                  <a:pt x="174545" y="43636"/>
                </a:cubicBezTo>
                <a:cubicBezTo>
                  <a:pt x="174545" y="46841"/>
                  <a:pt x="172705" y="49739"/>
                  <a:pt x="169807" y="51068"/>
                </a:cubicBezTo>
                <a:lnTo>
                  <a:pt x="95284" y="85500"/>
                </a:lnTo>
                <a:cubicBezTo>
                  <a:pt x="90205" y="87852"/>
                  <a:pt x="84341" y="87852"/>
                  <a:pt x="79261" y="85500"/>
                </a:cubicBezTo>
                <a:lnTo>
                  <a:pt x="4739" y="51068"/>
                </a:lnTo>
                <a:cubicBezTo>
                  <a:pt x="1841" y="49705"/>
                  <a:pt x="0" y="46807"/>
                  <a:pt x="0" y="43636"/>
                </a:cubicBezTo>
                <a:cubicBezTo>
                  <a:pt x="0" y="40466"/>
                  <a:pt x="1841" y="37534"/>
                  <a:pt x="4739" y="36205"/>
                </a:cubicBezTo>
                <a:lnTo>
                  <a:pt x="79261" y="1773"/>
                </a:lnTo>
                <a:close/>
                <a:moveTo>
                  <a:pt x="16398" y="74455"/>
                </a:moveTo>
                <a:lnTo>
                  <a:pt x="72409" y="100330"/>
                </a:lnTo>
                <a:cubicBezTo>
                  <a:pt x="81852" y="104693"/>
                  <a:pt x="92727" y="104693"/>
                  <a:pt x="102170" y="100330"/>
                </a:cubicBezTo>
                <a:lnTo>
                  <a:pt x="158182" y="74455"/>
                </a:lnTo>
                <a:lnTo>
                  <a:pt x="169807" y="79841"/>
                </a:lnTo>
                <a:cubicBezTo>
                  <a:pt x="172705" y="81170"/>
                  <a:pt x="174545" y="84068"/>
                  <a:pt x="174545" y="87273"/>
                </a:cubicBezTo>
                <a:cubicBezTo>
                  <a:pt x="174545" y="90477"/>
                  <a:pt x="172705" y="93375"/>
                  <a:pt x="169807" y="94705"/>
                </a:cubicBezTo>
                <a:lnTo>
                  <a:pt x="95284" y="129136"/>
                </a:lnTo>
                <a:cubicBezTo>
                  <a:pt x="90205" y="131489"/>
                  <a:pt x="84341" y="131489"/>
                  <a:pt x="79261" y="129136"/>
                </a:cubicBezTo>
                <a:lnTo>
                  <a:pt x="4739" y="94705"/>
                </a:lnTo>
                <a:cubicBezTo>
                  <a:pt x="1841" y="93341"/>
                  <a:pt x="0" y="90443"/>
                  <a:pt x="0" y="87273"/>
                </a:cubicBezTo>
                <a:cubicBezTo>
                  <a:pt x="0" y="84102"/>
                  <a:pt x="1841" y="81170"/>
                  <a:pt x="4739" y="79841"/>
                </a:cubicBezTo>
                <a:lnTo>
                  <a:pt x="16364" y="74455"/>
                </a:lnTo>
                <a:close/>
                <a:moveTo>
                  <a:pt x="4739" y="123477"/>
                </a:moveTo>
                <a:lnTo>
                  <a:pt x="16364" y="118091"/>
                </a:lnTo>
                <a:lnTo>
                  <a:pt x="72375" y="143966"/>
                </a:lnTo>
                <a:cubicBezTo>
                  <a:pt x="81818" y="148330"/>
                  <a:pt x="92693" y="148330"/>
                  <a:pt x="102136" y="143966"/>
                </a:cubicBezTo>
                <a:lnTo>
                  <a:pt x="158148" y="118091"/>
                </a:lnTo>
                <a:lnTo>
                  <a:pt x="169773" y="123477"/>
                </a:lnTo>
                <a:cubicBezTo>
                  <a:pt x="172670" y="124807"/>
                  <a:pt x="174511" y="127705"/>
                  <a:pt x="174511" y="130909"/>
                </a:cubicBezTo>
                <a:cubicBezTo>
                  <a:pt x="174511" y="134114"/>
                  <a:pt x="172670" y="137011"/>
                  <a:pt x="169773" y="138341"/>
                </a:cubicBezTo>
                <a:lnTo>
                  <a:pt x="95250" y="172773"/>
                </a:lnTo>
                <a:cubicBezTo>
                  <a:pt x="90170" y="175125"/>
                  <a:pt x="84307" y="175125"/>
                  <a:pt x="79227" y="172773"/>
                </a:cubicBezTo>
                <a:lnTo>
                  <a:pt x="4739" y="138341"/>
                </a:lnTo>
                <a:cubicBezTo>
                  <a:pt x="1841" y="136977"/>
                  <a:pt x="0" y="134080"/>
                  <a:pt x="0" y="130909"/>
                </a:cubicBezTo>
                <a:cubicBezTo>
                  <a:pt x="0" y="127739"/>
                  <a:pt x="1841" y="124807"/>
                  <a:pt x="4739" y="123477"/>
                </a:cubicBezTo>
                <a:close/>
              </a:path>
            </a:pathLst>
          </a:custGeom>
          <a:solidFill>
            <a:srgbClr val="C75B39"/>
          </a:solidFill>
          <a:ln/>
        </p:spPr>
      </p:sp>
      <p:sp>
        <p:nvSpPr>
          <p:cNvPr id="8" name="Text 6"/>
          <p:cNvSpPr/>
          <p:nvPr/>
        </p:nvSpPr>
        <p:spPr>
          <a:xfrm>
            <a:off x="741818" y="1640727"/>
            <a:ext cx="4032000" cy="244364"/>
          </a:xfrm>
          <a:prstGeom prst="rect">
            <a:avLst/>
          </a:prstGeom>
          <a:noFill/>
          <a:ln/>
        </p:spPr>
        <p:txBody>
          <a:bodyPr wrap="square" lIns="0" tIns="0" rIns="0" bIns="0" rtlCol="0" anchor="ctr"/>
          <a:lstStyle/>
          <a:p>
            <a:pPr>
              <a:lnSpc>
                <a:spcPct val="120000"/>
              </a:lnSpc>
            </a:pPr>
            <a:r>
              <a:rPr lang="en-US" sz="1374" b="1" dirty="0">
                <a:solidFill>
                  <a:srgbClr val="2E5A4C"/>
                </a:solidFill>
                <a:latin typeface="Liter" pitchFamily="34" charset="0"/>
                <a:ea typeface="Liter" pitchFamily="34" charset="-122"/>
                <a:cs typeface="Liter" pitchFamily="34" charset="-120"/>
              </a:rPr>
              <a:t>Segmentation Framework</a:t>
            </a:r>
            <a:endParaRPr lang="en-US" sz="1600" dirty="0"/>
          </a:p>
        </p:txBody>
      </p:sp>
      <p:sp>
        <p:nvSpPr>
          <p:cNvPr id="9" name="Shape 7"/>
          <p:cNvSpPr/>
          <p:nvPr/>
        </p:nvSpPr>
        <p:spPr>
          <a:xfrm>
            <a:off x="541091" y="2024727"/>
            <a:ext cx="4145455" cy="1047273"/>
          </a:xfrm>
          <a:custGeom>
            <a:avLst/>
            <a:gdLst/>
            <a:ahLst/>
            <a:cxnLst/>
            <a:rect l="l" t="t" r="r" b="b"/>
            <a:pathLst>
              <a:path w="4145455" h="1047273">
                <a:moveTo>
                  <a:pt x="34909" y="0"/>
                </a:moveTo>
                <a:lnTo>
                  <a:pt x="4075633" y="0"/>
                </a:lnTo>
                <a:cubicBezTo>
                  <a:pt x="4114194" y="0"/>
                  <a:pt x="4145455" y="31260"/>
                  <a:pt x="4145455" y="69822"/>
                </a:cubicBezTo>
                <a:lnTo>
                  <a:pt x="4145455" y="977451"/>
                </a:lnTo>
                <a:cubicBezTo>
                  <a:pt x="4145455" y="1016012"/>
                  <a:pt x="4114194" y="1047273"/>
                  <a:pt x="4075633" y="1047273"/>
                </a:cubicBezTo>
                <a:lnTo>
                  <a:pt x="34909" y="1047273"/>
                </a:lnTo>
                <a:cubicBezTo>
                  <a:pt x="15629" y="1047273"/>
                  <a:pt x="0" y="1031643"/>
                  <a:pt x="0" y="1012364"/>
                </a:cubicBezTo>
                <a:lnTo>
                  <a:pt x="0" y="34909"/>
                </a:lnTo>
                <a:cubicBezTo>
                  <a:pt x="0" y="15642"/>
                  <a:pt x="15642" y="0"/>
                  <a:pt x="34909" y="0"/>
                </a:cubicBezTo>
                <a:close/>
              </a:path>
            </a:pathLst>
          </a:custGeom>
          <a:solidFill>
            <a:srgbClr val="2E5A4C">
              <a:alpha val="5098"/>
            </a:srgbClr>
          </a:solidFill>
          <a:ln/>
        </p:spPr>
      </p:sp>
      <p:sp>
        <p:nvSpPr>
          <p:cNvPr id="10" name="Shape 8"/>
          <p:cNvSpPr/>
          <p:nvPr/>
        </p:nvSpPr>
        <p:spPr>
          <a:xfrm>
            <a:off x="541091" y="2024727"/>
            <a:ext cx="34909" cy="1047273"/>
          </a:xfrm>
          <a:custGeom>
            <a:avLst/>
            <a:gdLst/>
            <a:ahLst/>
            <a:cxnLst/>
            <a:rect l="l" t="t" r="r" b="b"/>
            <a:pathLst>
              <a:path w="34909" h="1047273">
                <a:moveTo>
                  <a:pt x="34909" y="0"/>
                </a:moveTo>
                <a:lnTo>
                  <a:pt x="34909" y="0"/>
                </a:lnTo>
                <a:lnTo>
                  <a:pt x="34909" y="1047273"/>
                </a:lnTo>
                <a:lnTo>
                  <a:pt x="34909" y="1047273"/>
                </a:lnTo>
                <a:cubicBezTo>
                  <a:pt x="15629" y="1047273"/>
                  <a:pt x="0" y="1031643"/>
                  <a:pt x="0" y="1012364"/>
                </a:cubicBezTo>
                <a:lnTo>
                  <a:pt x="0" y="34909"/>
                </a:lnTo>
                <a:cubicBezTo>
                  <a:pt x="0" y="15642"/>
                  <a:pt x="15642" y="0"/>
                  <a:pt x="34909" y="0"/>
                </a:cubicBezTo>
                <a:close/>
              </a:path>
            </a:pathLst>
          </a:custGeom>
          <a:solidFill>
            <a:srgbClr val="2E5A4C"/>
          </a:solidFill>
          <a:ln/>
        </p:spPr>
      </p:sp>
      <p:sp>
        <p:nvSpPr>
          <p:cNvPr id="11" name="Shape 9"/>
          <p:cNvSpPr/>
          <p:nvPr/>
        </p:nvSpPr>
        <p:spPr>
          <a:xfrm>
            <a:off x="698182" y="2164364"/>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2E5A4C"/>
          </a:solidFill>
          <a:ln/>
        </p:spPr>
      </p:sp>
      <p:sp>
        <p:nvSpPr>
          <p:cNvPr id="12" name="Text 10"/>
          <p:cNvSpPr/>
          <p:nvPr/>
        </p:nvSpPr>
        <p:spPr>
          <a:xfrm>
            <a:off x="663273" y="2164364"/>
            <a:ext cx="418909" cy="349091"/>
          </a:xfrm>
          <a:prstGeom prst="rect">
            <a:avLst/>
          </a:prstGeom>
          <a:noFill/>
          <a:ln/>
        </p:spPr>
        <p:txBody>
          <a:bodyPr wrap="square" lIns="0" tIns="0" rIns="0" bIns="0" rtlCol="0" anchor="ctr"/>
          <a:lstStyle/>
          <a:p>
            <a:pPr algn="ctr">
              <a:lnSpc>
                <a:spcPct val="130000"/>
              </a:lnSpc>
            </a:pPr>
            <a:r>
              <a:rPr lang="en-US" sz="1100" b="1" dirty="0">
                <a:solidFill>
                  <a:srgbClr val="FFFFFF"/>
                </a:solidFill>
                <a:latin typeface="Quattrocento Sans" pitchFamily="34" charset="0"/>
                <a:ea typeface="Quattrocento Sans" pitchFamily="34" charset="-122"/>
                <a:cs typeface="Quattrocento Sans" pitchFamily="34" charset="-120"/>
              </a:rPr>
              <a:t>N</a:t>
            </a:r>
            <a:endParaRPr lang="en-US" sz="1600" dirty="0"/>
          </a:p>
        </p:txBody>
      </p:sp>
      <p:sp>
        <p:nvSpPr>
          <p:cNvPr id="13" name="Text 11"/>
          <p:cNvSpPr/>
          <p:nvPr/>
        </p:nvSpPr>
        <p:spPr>
          <a:xfrm>
            <a:off x="1152000" y="2216727"/>
            <a:ext cx="1186909" cy="244364"/>
          </a:xfrm>
          <a:prstGeom prst="rect">
            <a:avLst/>
          </a:prstGeom>
          <a:noFill/>
          <a:ln/>
        </p:spPr>
        <p:txBody>
          <a:bodyPr wrap="square" lIns="0" tIns="0" rIns="0" bIns="0" rtlCol="0" anchor="ctr"/>
          <a:lstStyle/>
          <a:p>
            <a:pPr>
              <a:lnSpc>
                <a:spcPct val="130000"/>
              </a:lnSpc>
            </a:pPr>
            <a:r>
              <a:rPr lang="en-US" sz="1237" b="1" dirty="0">
                <a:solidFill>
                  <a:srgbClr val="2E5A4C"/>
                </a:solidFill>
                <a:latin typeface="Liter" pitchFamily="34" charset="0"/>
                <a:ea typeface="Liter" pitchFamily="34" charset="-122"/>
                <a:cs typeface="Liter" pitchFamily="34" charset="-120"/>
              </a:rPr>
              <a:t>New Customers</a:t>
            </a:r>
            <a:endParaRPr lang="en-US" sz="1600" dirty="0"/>
          </a:p>
        </p:txBody>
      </p:sp>
      <p:sp>
        <p:nvSpPr>
          <p:cNvPr id="14" name="Text 12"/>
          <p:cNvSpPr/>
          <p:nvPr/>
        </p:nvSpPr>
        <p:spPr>
          <a:xfrm>
            <a:off x="4141309" y="2199273"/>
            <a:ext cx="514909" cy="279273"/>
          </a:xfrm>
          <a:prstGeom prst="rect">
            <a:avLst/>
          </a:prstGeom>
          <a:noFill/>
          <a:ln/>
        </p:spPr>
        <p:txBody>
          <a:bodyPr wrap="square" lIns="0" tIns="0" rIns="0" bIns="0" rtlCol="0" anchor="ctr"/>
          <a:lstStyle/>
          <a:p>
            <a:pPr>
              <a:lnSpc>
                <a:spcPct val="110000"/>
              </a:lnSpc>
            </a:pPr>
            <a:r>
              <a:rPr lang="en-US" sz="1649" b="1" dirty="0">
                <a:solidFill>
                  <a:srgbClr val="2E5A4C"/>
                </a:solidFill>
                <a:latin typeface="Oranienbaum" pitchFamily="34" charset="0"/>
                <a:ea typeface="Oranienbaum" pitchFamily="34" charset="-122"/>
                <a:cs typeface="Oranienbaum" pitchFamily="34" charset="-120"/>
              </a:rPr>
              <a:t>1,245</a:t>
            </a:r>
            <a:endParaRPr lang="en-US" sz="1600" dirty="0"/>
          </a:p>
        </p:txBody>
      </p:sp>
      <p:sp>
        <p:nvSpPr>
          <p:cNvPr id="15" name="Text 13"/>
          <p:cNvSpPr/>
          <p:nvPr/>
        </p:nvSpPr>
        <p:spPr>
          <a:xfrm>
            <a:off x="698182" y="2583273"/>
            <a:ext cx="3909818" cy="349091"/>
          </a:xfrm>
          <a:prstGeom prst="rect">
            <a:avLst/>
          </a:prstGeom>
          <a:noFill/>
          <a:ln/>
        </p:spPr>
        <p:txBody>
          <a:bodyPr wrap="square" lIns="0" tIns="0" rIns="0" bIns="0" rtlCol="0" anchor="ctr"/>
          <a:lstStyle/>
          <a:p>
            <a:pPr>
              <a:lnSpc>
                <a:spcPct val="120000"/>
              </a:lnSpc>
            </a:pPr>
            <a:r>
              <a:rPr lang="en-US" sz="962" dirty="0">
                <a:solidFill>
                  <a:srgbClr val="2C3E50">
                    <a:alpha val="80000"/>
                  </a:srgbClr>
                </a:solidFill>
                <a:latin typeface="Quattrocento Sans" pitchFamily="34" charset="0"/>
                <a:ea typeface="Quattrocento Sans" pitchFamily="34" charset="-122"/>
                <a:cs typeface="Quattrocento Sans" pitchFamily="34" charset="-120"/>
              </a:rPr>
              <a:t>First-time purchasers with 1 transaction. Focus on onboarding and engagement to drive repeat purchases.</a:t>
            </a:r>
            <a:endParaRPr lang="en-US" sz="1600" dirty="0"/>
          </a:p>
        </p:txBody>
      </p:sp>
      <p:sp>
        <p:nvSpPr>
          <p:cNvPr id="16" name="Shape 14"/>
          <p:cNvSpPr/>
          <p:nvPr/>
        </p:nvSpPr>
        <p:spPr>
          <a:xfrm>
            <a:off x="541091" y="3176727"/>
            <a:ext cx="4145455" cy="1047273"/>
          </a:xfrm>
          <a:custGeom>
            <a:avLst/>
            <a:gdLst/>
            <a:ahLst/>
            <a:cxnLst/>
            <a:rect l="l" t="t" r="r" b="b"/>
            <a:pathLst>
              <a:path w="4145455" h="1047273">
                <a:moveTo>
                  <a:pt x="34909" y="0"/>
                </a:moveTo>
                <a:lnTo>
                  <a:pt x="4075633" y="0"/>
                </a:lnTo>
                <a:cubicBezTo>
                  <a:pt x="4114194" y="0"/>
                  <a:pt x="4145455" y="31260"/>
                  <a:pt x="4145455" y="69822"/>
                </a:cubicBezTo>
                <a:lnTo>
                  <a:pt x="4145455" y="977451"/>
                </a:lnTo>
                <a:cubicBezTo>
                  <a:pt x="4145455" y="1016012"/>
                  <a:pt x="4114194" y="1047273"/>
                  <a:pt x="4075633" y="1047273"/>
                </a:cubicBezTo>
                <a:lnTo>
                  <a:pt x="34909" y="1047273"/>
                </a:lnTo>
                <a:cubicBezTo>
                  <a:pt x="15629" y="1047273"/>
                  <a:pt x="0" y="1031643"/>
                  <a:pt x="0" y="1012364"/>
                </a:cubicBezTo>
                <a:lnTo>
                  <a:pt x="0" y="34909"/>
                </a:lnTo>
                <a:cubicBezTo>
                  <a:pt x="0" y="15642"/>
                  <a:pt x="15642" y="0"/>
                  <a:pt x="34909" y="0"/>
                </a:cubicBezTo>
                <a:close/>
              </a:path>
            </a:pathLst>
          </a:custGeom>
          <a:solidFill>
            <a:srgbClr val="D4A574">
              <a:alpha val="10196"/>
            </a:srgbClr>
          </a:solidFill>
          <a:ln/>
        </p:spPr>
      </p:sp>
      <p:sp>
        <p:nvSpPr>
          <p:cNvPr id="17" name="Shape 15"/>
          <p:cNvSpPr/>
          <p:nvPr/>
        </p:nvSpPr>
        <p:spPr>
          <a:xfrm>
            <a:off x="541091" y="3176727"/>
            <a:ext cx="34909" cy="1047273"/>
          </a:xfrm>
          <a:custGeom>
            <a:avLst/>
            <a:gdLst/>
            <a:ahLst/>
            <a:cxnLst/>
            <a:rect l="l" t="t" r="r" b="b"/>
            <a:pathLst>
              <a:path w="34909" h="1047273">
                <a:moveTo>
                  <a:pt x="34909" y="0"/>
                </a:moveTo>
                <a:lnTo>
                  <a:pt x="34909" y="0"/>
                </a:lnTo>
                <a:lnTo>
                  <a:pt x="34909" y="1047273"/>
                </a:lnTo>
                <a:lnTo>
                  <a:pt x="34909" y="1047273"/>
                </a:lnTo>
                <a:cubicBezTo>
                  <a:pt x="15629" y="1047273"/>
                  <a:pt x="0" y="1031643"/>
                  <a:pt x="0" y="1012364"/>
                </a:cubicBezTo>
                <a:lnTo>
                  <a:pt x="0" y="34909"/>
                </a:lnTo>
                <a:cubicBezTo>
                  <a:pt x="0" y="15642"/>
                  <a:pt x="15642" y="0"/>
                  <a:pt x="34909" y="0"/>
                </a:cubicBezTo>
                <a:close/>
              </a:path>
            </a:pathLst>
          </a:custGeom>
          <a:solidFill>
            <a:srgbClr val="D4A574"/>
          </a:solidFill>
          <a:ln/>
        </p:spPr>
      </p:sp>
      <p:sp>
        <p:nvSpPr>
          <p:cNvPr id="18" name="Shape 16"/>
          <p:cNvSpPr/>
          <p:nvPr/>
        </p:nvSpPr>
        <p:spPr>
          <a:xfrm>
            <a:off x="698182" y="3316364"/>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4A574"/>
          </a:solidFill>
          <a:ln/>
        </p:spPr>
      </p:sp>
      <p:sp>
        <p:nvSpPr>
          <p:cNvPr id="19" name="Text 17"/>
          <p:cNvSpPr/>
          <p:nvPr/>
        </p:nvSpPr>
        <p:spPr>
          <a:xfrm>
            <a:off x="663273" y="3316364"/>
            <a:ext cx="418909" cy="349091"/>
          </a:xfrm>
          <a:prstGeom prst="rect">
            <a:avLst/>
          </a:prstGeom>
          <a:noFill/>
          <a:ln/>
        </p:spPr>
        <p:txBody>
          <a:bodyPr wrap="square" lIns="0" tIns="0" rIns="0" bIns="0" rtlCol="0" anchor="ctr"/>
          <a:lstStyle/>
          <a:p>
            <a:pPr algn="ctr">
              <a:lnSpc>
                <a:spcPct val="130000"/>
              </a:lnSpc>
            </a:pPr>
            <a:r>
              <a:rPr lang="en-US" sz="1100" b="1" dirty="0">
                <a:solidFill>
                  <a:srgbClr val="FFFFFF"/>
                </a:solidFill>
                <a:latin typeface="Quattrocento Sans" pitchFamily="34" charset="0"/>
                <a:ea typeface="Quattrocento Sans" pitchFamily="34" charset="-122"/>
                <a:cs typeface="Quattrocento Sans" pitchFamily="34" charset="-120"/>
              </a:rPr>
              <a:t>R</a:t>
            </a:r>
            <a:endParaRPr lang="en-US" sz="1600" dirty="0"/>
          </a:p>
        </p:txBody>
      </p:sp>
      <p:sp>
        <p:nvSpPr>
          <p:cNvPr id="20" name="Text 18"/>
          <p:cNvSpPr/>
          <p:nvPr/>
        </p:nvSpPr>
        <p:spPr>
          <a:xfrm>
            <a:off x="1152000" y="3368727"/>
            <a:ext cx="1544727" cy="244364"/>
          </a:xfrm>
          <a:prstGeom prst="rect">
            <a:avLst/>
          </a:prstGeom>
          <a:noFill/>
          <a:ln/>
        </p:spPr>
        <p:txBody>
          <a:bodyPr wrap="square" lIns="0" tIns="0" rIns="0" bIns="0" rtlCol="0" anchor="ctr"/>
          <a:lstStyle/>
          <a:p>
            <a:pPr>
              <a:lnSpc>
                <a:spcPct val="130000"/>
              </a:lnSpc>
            </a:pPr>
            <a:r>
              <a:rPr lang="en-US" sz="1237" b="1" dirty="0">
                <a:solidFill>
                  <a:srgbClr val="2E5A4C"/>
                </a:solidFill>
                <a:latin typeface="Liter" pitchFamily="34" charset="0"/>
                <a:ea typeface="Liter" pitchFamily="34" charset="-122"/>
                <a:cs typeface="Liter" pitchFamily="34" charset="-120"/>
              </a:rPr>
              <a:t>Returning Customers</a:t>
            </a:r>
            <a:endParaRPr lang="en-US" sz="1600" dirty="0"/>
          </a:p>
        </p:txBody>
      </p:sp>
      <p:sp>
        <p:nvSpPr>
          <p:cNvPr id="21" name="Text 19"/>
          <p:cNvSpPr/>
          <p:nvPr/>
        </p:nvSpPr>
        <p:spPr>
          <a:xfrm>
            <a:off x="4129746" y="3351273"/>
            <a:ext cx="523636" cy="279273"/>
          </a:xfrm>
          <a:prstGeom prst="rect">
            <a:avLst/>
          </a:prstGeom>
          <a:noFill/>
          <a:ln/>
        </p:spPr>
        <p:txBody>
          <a:bodyPr wrap="square" lIns="0" tIns="0" rIns="0" bIns="0" rtlCol="0" anchor="ctr"/>
          <a:lstStyle/>
          <a:p>
            <a:pPr>
              <a:lnSpc>
                <a:spcPct val="110000"/>
              </a:lnSpc>
            </a:pPr>
            <a:r>
              <a:rPr lang="en-US" sz="1649" b="1" dirty="0">
                <a:solidFill>
                  <a:srgbClr val="D4A574"/>
                </a:solidFill>
                <a:latin typeface="Oranienbaum" pitchFamily="34" charset="0"/>
                <a:ea typeface="Oranienbaum" pitchFamily="34" charset="-122"/>
                <a:cs typeface="Oranienbaum" pitchFamily="34" charset="-120"/>
              </a:rPr>
              <a:t>1,890</a:t>
            </a:r>
            <a:endParaRPr lang="en-US" sz="1600" dirty="0"/>
          </a:p>
        </p:txBody>
      </p:sp>
      <p:sp>
        <p:nvSpPr>
          <p:cNvPr id="22" name="Text 20"/>
          <p:cNvSpPr/>
          <p:nvPr/>
        </p:nvSpPr>
        <p:spPr>
          <a:xfrm>
            <a:off x="698182" y="3735273"/>
            <a:ext cx="3909818" cy="349091"/>
          </a:xfrm>
          <a:prstGeom prst="rect">
            <a:avLst/>
          </a:prstGeom>
          <a:noFill/>
          <a:ln/>
        </p:spPr>
        <p:txBody>
          <a:bodyPr wrap="square" lIns="0" tIns="0" rIns="0" bIns="0" rtlCol="0" anchor="ctr"/>
          <a:lstStyle/>
          <a:p>
            <a:pPr>
              <a:lnSpc>
                <a:spcPct val="120000"/>
              </a:lnSpc>
            </a:pPr>
            <a:r>
              <a:rPr lang="en-US" sz="962" dirty="0">
                <a:solidFill>
                  <a:srgbClr val="2C3E50">
                    <a:alpha val="80000"/>
                  </a:srgbClr>
                </a:solidFill>
                <a:latin typeface="Quattrocento Sans" pitchFamily="34" charset="0"/>
                <a:ea typeface="Quattrocento Sans" pitchFamily="34" charset="-122"/>
                <a:cs typeface="Quattrocento Sans" pitchFamily="34" charset="-120"/>
              </a:rPr>
              <a:t>Customers with 2-5 purchases. Nurture with personalized offers to increase purchase frequency.</a:t>
            </a:r>
            <a:endParaRPr lang="en-US" sz="1600" dirty="0"/>
          </a:p>
        </p:txBody>
      </p:sp>
      <p:sp>
        <p:nvSpPr>
          <p:cNvPr id="23" name="Shape 21"/>
          <p:cNvSpPr/>
          <p:nvPr/>
        </p:nvSpPr>
        <p:spPr>
          <a:xfrm>
            <a:off x="541091" y="4328727"/>
            <a:ext cx="4145455" cy="1047273"/>
          </a:xfrm>
          <a:custGeom>
            <a:avLst/>
            <a:gdLst/>
            <a:ahLst/>
            <a:cxnLst/>
            <a:rect l="l" t="t" r="r" b="b"/>
            <a:pathLst>
              <a:path w="4145455" h="1047273">
                <a:moveTo>
                  <a:pt x="34909" y="0"/>
                </a:moveTo>
                <a:lnTo>
                  <a:pt x="4075633" y="0"/>
                </a:lnTo>
                <a:cubicBezTo>
                  <a:pt x="4114194" y="0"/>
                  <a:pt x="4145455" y="31260"/>
                  <a:pt x="4145455" y="69822"/>
                </a:cubicBezTo>
                <a:lnTo>
                  <a:pt x="4145455" y="977451"/>
                </a:lnTo>
                <a:cubicBezTo>
                  <a:pt x="4145455" y="1016012"/>
                  <a:pt x="4114194" y="1047273"/>
                  <a:pt x="4075633" y="1047273"/>
                </a:cubicBezTo>
                <a:lnTo>
                  <a:pt x="34909" y="1047273"/>
                </a:lnTo>
                <a:cubicBezTo>
                  <a:pt x="15629" y="1047273"/>
                  <a:pt x="0" y="1031643"/>
                  <a:pt x="0" y="1012364"/>
                </a:cubicBezTo>
                <a:lnTo>
                  <a:pt x="0" y="34909"/>
                </a:lnTo>
                <a:cubicBezTo>
                  <a:pt x="0" y="15642"/>
                  <a:pt x="15642" y="0"/>
                  <a:pt x="34909" y="0"/>
                </a:cubicBezTo>
                <a:close/>
              </a:path>
            </a:pathLst>
          </a:custGeom>
          <a:solidFill>
            <a:srgbClr val="C75B39">
              <a:alpha val="10196"/>
            </a:srgbClr>
          </a:solidFill>
          <a:ln/>
        </p:spPr>
      </p:sp>
      <p:sp>
        <p:nvSpPr>
          <p:cNvPr id="24" name="Shape 22"/>
          <p:cNvSpPr/>
          <p:nvPr/>
        </p:nvSpPr>
        <p:spPr>
          <a:xfrm>
            <a:off x="541091" y="4328727"/>
            <a:ext cx="34909" cy="1047273"/>
          </a:xfrm>
          <a:custGeom>
            <a:avLst/>
            <a:gdLst/>
            <a:ahLst/>
            <a:cxnLst/>
            <a:rect l="l" t="t" r="r" b="b"/>
            <a:pathLst>
              <a:path w="34909" h="1047273">
                <a:moveTo>
                  <a:pt x="34909" y="0"/>
                </a:moveTo>
                <a:lnTo>
                  <a:pt x="34909" y="0"/>
                </a:lnTo>
                <a:lnTo>
                  <a:pt x="34909" y="1047273"/>
                </a:lnTo>
                <a:lnTo>
                  <a:pt x="34909" y="1047273"/>
                </a:lnTo>
                <a:cubicBezTo>
                  <a:pt x="15629" y="1047273"/>
                  <a:pt x="0" y="1031643"/>
                  <a:pt x="0" y="1012364"/>
                </a:cubicBezTo>
                <a:lnTo>
                  <a:pt x="0" y="34909"/>
                </a:lnTo>
                <a:cubicBezTo>
                  <a:pt x="0" y="15642"/>
                  <a:pt x="15642" y="0"/>
                  <a:pt x="34909" y="0"/>
                </a:cubicBezTo>
                <a:close/>
              </a:path>
            </a:pathLst>
          </a:custGeom>
          <a:solidFill>
            <a:srgbClr val="C75B39"/>
          </a:solidFill>
          <a:ln/>
        </p:spPr>
      </p:sp>
      <p:sp>
        <p:nvSpPr>
          <p:cNvPr id="25" name="Shape 23"/>
          <p:cNvSpPr/>
          <p:nvPr/>
        </p:nvSpPr>
        <p:spPr>
          <a:xfrm>
            <a:off x="698182" y="4468364"/>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C75B39"/>
          </a:solidFill>
          <a:ln/>
        </p:spPr>
      </p:sp>
      <p:sp>
        <p:nvSpPr>
          <p:cNvPr id="26" name="Text 24"/>
          <p:cNvSpPr/>
          <p:nvPr/>
        </p:nvSpPr>
        <p:spPr>
          <a:xfrm>
            <a:off x="663273" y="4468364"/>
            <a:ext cx="418909" cy="349091"/>
          </a:xfrm>
          <a:prstGeom prst="rect">
            <a:avLst/>
          </a:prstGeom>
          <a:noFill/>
          <a:ln/>
        </p:spPr>
        <p:txBody>
          <a:bodyPr wrap="square" lIns="0" tIns="0" rIns="0" bIns="0" rtlCol="0" anchor="ctr"/>
          <a:lstStyle/>
          <a:p>
            <a:pPr algn="ctr">
              <a:lnSpc>
                <a:spcPct val="130000"/>
              </a:lnSpc>
            </a:pPr>
            <a:r>
              <a:rPr lang="en-US" sz="1100" b="1" dirty="0">
                <a:solidFill>
                  <a:srgbClr val="FFFFFF"/>
                </a:solidFill>
                <a:latin typeface="Quattrocento Sans" pitchFamily="34" charset="0"/>
                <a:ea typeface="Quattrocento Sans" pitchFamily="34" charset="-122"/>
                <a:cs typeface="Quattrocento Sans" pitchFamily="34" charset="-120"/>
              </a:rPr>
              <a:t>L</a:t>
            </a:r>
            <a:endParaRPr lang="en-US" sz="1600" dirty="0"/>
          </a:p>
        </p:txBody>
      </p:sp>
      <p:sp>
        <p:nvSpPr>
          <p:cNvPr id="27" name="Text 25"/>
          <p:cNvSpPr/>
          <p:nvPr/>
        </p:nvSpPr>
        <p:spPr>
          <a:xfrm>
            <a:off x="1152000" y="4520727"/>
            <a:ext cx="1248000" cy="244364"/>
          </a:xfrm>
          <a:prstGeom prst="rect">
            <a:avLst/>
          </a:prstGeom>
          <a:noFill/>
          <a:ln/>
        </p:spPr>
        <p:txBody>
          <a:bodyPr wrap="square" lIns="0" tIns="0" rIns="0" bIns="0" rtlCol="0" anchor="ctr"/>
          <a:lstStyle/>
          <a:p>
            <a:pPr>
              <a:lnSpc>
                <a:spcPct val="130000"/>
              </a:lnSpc>
            </a:pPr>
            <a:r>
              <a:rPr lang="en-US" sz="1237" b="1" dirty="0">
                <a:solidFill>
                  <a:srgbClr val="2E5A4C"/>
                </a:solidFill>
                <a:latin typeface="Liter" pitchFamily="34" charset="0"/>
                <a:ea typeface="Liter" pitchFamily="34" charset="-122"/>
                <a:cs typeface="Liter" pitchFamily="34" charset="-120"/>
              </a:rPr>
              <a:t>Loyal Customers</a:t>
            </a:r>
            <a:endParaRPr lang="en-US" sz="1600" dirty="0"/>
          </a:p>
        </p:txBody>
      </p:sp>
      <p:sp>
        <p:nvSpPr>
          <p:cNvPr id="28" name="Text 26"/>
          <p:cNvSpPr/>
          <p:nvPr/>
        </p:nvSpPr>
        <p:spPr>
          <a:xfrm>
            <a:off x="4254764" y="4503273"/>
            <a:ext cx="401455" cy="279273"/>
          </a:xfrm>
          <a:prstGeom prst="rect">
            <a:avLst/>
          </a:prstGeom>
          <a:noFill/>
          <a:ln/>
        </p:spPr>
        <p:txBody>
          <a:bodyPr wrap="square" lIns="0" tIns="0" rIns="0" bIns="0" rtlCol="0" anchor="ctr"/>
          <a:lstStyle/>
          <a:p>
            <a:pPr>
              <a:lnSpc>
                <a:spcPct val="110000"/>
              </a:lnSpc>
            </a:pPr>
            <a:r>
              <a:rPr lang="en-US" sz="1649" b="1" dirty="0">
                <a:solidFill>
                  <a:srgbClr val="C75B39"/>
                </a:solidFill>
                <a:latin typeface="Oranienbaum" pitchFamily="34" charset="0"/>
                <a:ea typeface="Oranienbaum" pitchFamily="34" charset="-122"/>
                <a:cs typeface="Oranienbaum" pitchFamily="34" charset="-120"/>
              </a:rPr>
              <a:t>765</a:t>
            </a:r>
            <a:endParaRPr lang="en-US" sz="1600" dirty="0"/>
          </a:p>
        </p:txBody>
      </p:sp>
      <p:sp>
        <p:nvSpPr>
          <p:cNvPr id="29" name="Text 27"/>
          <p:cNvSpPr/>
          <p:nvPr/>
        </p:nvSpPr>
        <p:spPr>
          <a:xfrm>
            <a:off x="698182" y="4887273"/>
            <a:ext cx="3909818" cy="349091"/>
          </a:xfrm>
          <a:prstGeom prst="rect">
            <a:avLst/>
          </a:prstGeom>
          <a:noFill/>
          <a:ln/>
        </p:spPr>
        <p:txBody>
          <a:bodyPr wrap="square" lIns="0" tIns="0" rIns="0" bIns="0" rtlCol="0" anchor="ctr"/>
          <a:lstStyle/>
          <a:p>
            <a:pPr>
              <a:lnSpc>
                <a:spcPct val="120000"/>
              </a:lnSpc>
            </a:pPr>
            <a:r>
              <a:rPr lang="en-US" sz="962" dirty="0">
                <a:solidFill>
                  <a:srgbClr val="2C3E50">
                    <a:alpha val="80000"/>
                  </a:srgbClr>
                </a:solidFill>
                <a:latin typeface="Quattrocento Sans" pitchFamily="34" charset="0"/>
                <a:ea typeface="Quattrocento Sans" pitchFamily="34" charset="-122"/>
                <a:cs typeface="Quattrocento Sans" pitchFamily="34" charset="-120"/>
              </a:rPr>
              <a:t>VIP customers with 5+ purchases. Reward with exclusive benefits and early access to maintain loyalty.</a:t>
            </a:r>
            <a:endParaRPr lang="en-US" sz="1600" dirty="0"/>
          </a:p>
        </p:txBody>
      </p:sp>
      <p:sp>
        <p:nvSpPr>
          <p:cNvPr id="30" name="Shape 28"/>
          <p:cNvSpPr/>
          <p:nvPr/>
        </p:nvSpPr>
        <p:spPr>
          <a:xfrm>
            <a:off x="5073382" y="1466182"/>
            <a:ext cx="6772364" cy="2880000"/>
          </a:xfrm>
          <a:custGeom>
            <a:avLst/>
            <a:gdLst/>
            <a:ahLst/>
            <a:cxnLst/>
            <a:rect l="l" t="t" r="r" b="b"/>
            <a:pathLst>
              <a:path w="6772364" h="2880000">
                <a:moveTo>
                  <a:pt x="104717" y="0"/>
                </a:moveTo>
                <a:lnTo>
                  <a:pt x="6667647" y="0"/>
                </a:lnTo>
                <a:cubicBezTo>
                  <a:pt x="6725480" y="0"/>
                  <a:pt x="6772364" y="46883"/>
                  <a:pt x="6772364" y="104717"/>
                </a:cubicBezTo>
                <a:lnTo>
                  <a:pt x="6772364" y="2775283"/>
                </a:lnTo>
                <a:cubicBezTo>
                  <a:pt x="6772364" y="2833117"/>
                  <a:pt x="6725480" y="2880000"/>
                  <a:pt x="6667647" y="2880000"/>
                </a:cubicBezTo>
                <a:lnTo>
                  <a:pt x="104717" y="2880000"/>
                </a:lnTo>
                <a:cubicBezTo>
                  <a:pt x="46883" y="2880000"/>
                  <a:pt x="0" y="2833117"/>
                  <a:pt x="0" y="2775283"/>
                </a:cubicBezTo>
                <a:lnTo>
                  <a:pt x="0" y="104717"/>
                </a:lnTo>
                <a:cubicBezTo>
                  <a:pt x="0" y="46883"/>
                  <a:pt x="46883" y="0"/>
                  <a:pt x="104717" y="0"/>
                </a:cubicBezTo>
                <a:close/>
              </a:path>
            </a:pathLst>
          </a:custGeom>
          <a:solidFill>
            <a:srgbClr val="FFFFFF"/>
          </a:solidFill>
          <a:ln/>
          <a:effectLst>
            <a:outerShdw sx="100000" sy="100000" kx="0" ky="0" algn="bl" rotWithShape="0" blurRad="52364" dist="34909" dir="5400000">
              <a:srgbClr val="000000">
                <a:alpha val="10196"/>
              </a:srgbClr>
            </a:outerShdw>
          </a:effectLst>
        </p:spPr>
      </p:sp>
      <p:sp>
        <p:nvSpPr>
          <p:cNvPr id="31" name="Shape 29"/>
          <p:cNvSpPr/>
          <p:nvPr/>
        </p:nvSpPr>
        <p:spPr>
          <a:xfrm>
            <a:off x="5258836" y="1675636"/>
            <a:ext cx="196364" cy="174545"/>
          </a:xfrm>
          <a:custGeom>
            <a:avLst/>
            <a:gdLst/>
            <a:ahLst/>
            <a:cxnLst/>
            <a:rect l="l" t="t" r="r" b="b"/>
            <a:pathLst>
              <a:path w="196364" h="174545">
                <a:moveTo>
                  <a:pt x="174682" y="81818"/>
                </a:moveTo>
                <a:lnTo>
                  <a:pt x="114682" y="81818"/>
                </a:lnTo>
                <a:cubicBezTo>
                  <a:pt x="108648" y="81818"/>
                  <a:pt x="103773" y="76943"/>
                  <a:pt x="103773" y="70909"/>
                </a:cubicBezTo>
                <a:lnTo>
                  <a:pt x="103773" y="10909"/>
                </a:lnTo>
                <a:cubicBezTo>
                  <a:pt x="103773" y="4875"/>
                  <a:pt x="108682" y="-68"/>
                  <a:pt x="114648" y="716"/>
                </a:cubicBezTo>
                <a:cubicBezTo>
                  <a:pt x="151125" y="5557"/>
                  <a:pt x="180034" y="34466"/>
                  <a:pt x="184875" y="70943"/>
                </a:cubicBezTo>
                <a:cubicBezTo>
                  <a:pt x="185659" y="76909"/>
                  <a:pt x="180716" y="81818"/>
                  <a:pt x="174682" y="81818"/>
                </a:cubicBezTo>
                <a:close/>
                <a:moveTo>
                  <a:pt x="75886" y="12682"/>
                </a:moveTo>
                <a:cubicBezTo>
                  <a:pt x="82057" y="11386"/>
                  <a:pt x="87409" y="16432"/>
                  <a:pt x="87409" y="22739"/>
                </a:cubicBezTo>
                <a:lnTo>
                  <a:pt x="87409" y="90000"/>
                </a:lnTo>
                <a:cubicBezTo>
                  <a:pt x="87409" y="91909"/>
                  <a:pt x="88091" y="93750"/>
                  <a:pt x="89284" y="95216"/>
                </a:cubicBezTo>
                <a:lnTo>
                  <a:pt x="134318" y="149557"/>
                </a:lnTo>
                <a:cubicBezTo>
                  <a:pt x="138307" y="154364"/>
                  <a:pt x="137455" y="161625"/>
                  <a:pt x="131966" y="164591"/>
                </a:cubicBezTo>
                <a:cubicBezTo>
                  <a:pt x="120341" y="170932"/>
                  <a:pt x="107011" y="174545"/>
                  <a:pt x="92864" y="174545"/>
                </a:cubicBezTo>
                <a:cubicBezTo>
                  <a:pt x="47693" y="174545"/>
                  <a:pt x="11045" y="137898"/>
                  <a:pt x="11045" y="92727"/>
                </a:cubicBezTo>
                <a:cubicBezTo>
                  <a:pt x="11045" y="53352"/>
                  <a:pt x="38830" y="20489"/>
                  <a:pt x="75886" y="12682"/>
                </a:cubicBezTo>
                <a:close/>
                <a:moveTo>
                  <a:pt x="162886" y="98182"/>
                </a:moveTo>
                <a:lnTo>
                  <a:pt x="184705" y="98182"/>
                </a:lnTo>
                <a:cubicBezTo>
                  <a:pt x="191011" y="98182"/>
                  <a:pt x="196057" y="103534"/>
                  <a:pt x="194761" y="109705"/>
                </a:cubicBezTo>
                <a:cubicBezTo>
                  <a:pt x="191284" y="126205"/>
                  <a:pt x="182830" y="140864"/>
                  <a:pt x="171034" y="152045"/>
                </a:cubicBezTo>
                <a:cubicBezTo>
                  <a:pt x="166841" y="156034"/>
                  <a:pt x="160261" y="155182"/>
                  <a:pt x="156580" y="150716"/>
                </a:cubicBezTo>
                <a:lnTo>
                  <a:pt x="127807" y="116045"/>
                </a:lnTo>
                <a:cubicBezTo>
                  <a:pt x="121909" y="108920"/>
                  <a:pt x="126989" y="98182"/>
                  <a:pt x="136193" y="98182"/>
                </a:cubicBezTo>
                <a:lnTo>
                  <a:pt x="162852" y="98182"/>
                </a:lnTo>
                <a:close/>
              </a:path>
            </a:pathLst>
          </a:custGeom>
          <a:solidFill>
            <a:srgbClr val="D4A574"/>
          </a:solidFill>
          <a:ln/>
        </p:spPr>
      </p:sp>
      <p:sp>
        <p:nvSpPr>
          <p:cNvPr id="32" name="Text 30"/>
          <p:cNvSpPr/>
          <p:nvPr/>
        </p:nvSpPr>
        <p:spPr>
          <a:xfrm>
            <a:off x="5466109" y="1640727"/>
            <a:ext cx="6292364" cy="244364"/>
          </a:xfrm>
          <a:prstGeom prst="rect">
            <a:avLst/>
          </a:prstGeom>
          <a:noFill/>
          <a:ln/>
        </p:spPr>
        <p:txBody>
          <a:bodyPr wrap="square" lIns="0" tIns="0" rIns="0" bIns="0" rtlCol="0" anchor="ctr"/>
          <a:lstStyle/>
          <a:p>
            <a:pPr>
              <a:lnSpc>
                <a:spcPct val="120000"/>
              </a:lnSpc>
            </a:pPr>
            <a:r>
              <a:rPr lang="en-US" sz="1374" b="1" dirty="0">
                <a:solidFill>
                  <a:srgbClr val="2E5A4C"/>
                </a:solidFill>
                <a:latin typeface="Liter" pitchFamily="34" charset="0"/>
                <a:ea typeface="Liter" pitchFamily="34" charset="-122"/>
                <a:cs typeface="Liter" pitchFamily="34" charset="-120"/>
              </a:rPr>
              <a:t>Customer Distribution</a:t>
            </a:r>
            <a:endParaRPr lang="en-US" sz="1600" dirty="0"/>
          </a:p>
        </p:txBody>
      </p:sp>
      <p:pic>
        <p:nvPicPr>
          <p:cNvPr id="33" name="Image 0" descr="https://kimi-img.moonshot.cn/pub/slides/26-03-07-00:30:44-d6lg2d4rhklalo1t4s2g.png">    </p:cNvPr>
          <p:cNvPicPr>
            <a:picLocks noChangeAspect="1"/>
          </p:cNvPicPr>
          <p:nvPr/>
        </p:nvPicPr>
        <p:blipFill>
          <a:blip r:embed="rId1"/>
          <a:srcRect l="50" r="50" t="0" b="0"/>
          <a:stretch/>
        </p:blipFill>
        <p:spPr>
          <a:xfrm>
            <a:off x="5247927" y="1989818"/>
            <a:ext cx="5812364" cy="2181818"/>
          </a:xfrm>
          <a:prstGeom prst="roundRect">
            <a:avLst>
              <a:gd name="adj" fmla="val 0"/>
            </a:avLst>
          </a:prstGeom>
        </p:spPr>
      </p:pic>
      <p:sp>
        <p:nvSpPr>
          <p:cNvPr id="34" name="Shape 31"/>
          <p:cNvSpPr/>
          <p:nvPr/>
        </p:nvSpPr>
        <p:spPr>
          <a:xfrm>
            <a:off x="5073382" y="4485818"/>
            <a:ext cx="3316364" cy="2373818"/>
          </a:xfrm>
          <a:custGeom>
            <a:avLst/>
            <a:gdLst/>
            <a:ahLst/>
            <a:cxnLst/>
            <a:rect l="l" t="t" r="r" b="b"/>
            <a:pathLst>
              <a:path w="3316364" h="2373818">
                <a:moveTo>
                  <a:pt x="104733" y="0"/>
                </a:moveTo>
                <a:lnTo>
                  <a:pt x="3211631" y="0"/>
                </a:lnTo>
                <a:cubicBezTo>
                  <a:pt x="3269473" y="0"/>
                  <a:pt x="3316364" y="46890"/>
                  <a:pt x="3316364" y="104733"/>
                </a:cubicBezTo>
                <a:lnTo>
                  <a:pt x="3316364" y="2269085"/>
                </a:lnTo>
                <a:cubicBezTo>
                  <a:pt x="3316364" y="2326928"/>
                  <a:pt x="3269473" y="2373818"/>
                  <a:pt x="3211631" y="2373818"/>
                </a:cubicBezTo>
                <a:lnTo>
                  <a:pt x="104733" y="2373818"/>
                </a:lnTo>
                <a:cubicBezTo>
                  <a:pt x="46890" y="2373818"/>
                  <a:pt x="0" y="2326928"/>
                  <a:pt x="0" y="2269085"/>
                </a:cubicBezTo>
                <a:lnTo>
                  <a:pt x="0" y="104733"/>
                </a:lnTo>
                <a:cubicBezTo>
                  <a:pt x="0" y="46929"/>
                  <a:pt x="46929" y="0"/>
                  <a:pt x="104733" y="0"/>
                </a:cubicBezTo>
                <a:close/>
              </a:path>
            </a:pathLst>
          </a:custGeom>
          <a:gradFill rotWithShape="1" flip="none">
            <a:gsLst>
              <a:gs pos="0">
                <a:srgbClr val="2E5A4C"/>
              </a:gs>
              <a:gs pos="100000">
                <a:srgbClr val="2E5A4C">
                  <a:alpha val="80000"/>
                </a:srgbClr>
              </a:gs>
            </a:gsLst>
            <a:lin ang="2700000" scaled="1"/>
          </a:gradFill>
          <a:ln/>
          <a:effectLst>
            <a:outerShdw sx="100000" sy="100000" kx="0" ky="0" algn="bl" rotWithShape="0" blurRad="130909" dist="87273" dir="5400000">
              <a:srgbClr val="000000">
                <a:alpha val="10196"/>
              </a:srgbClr>
            </a:outerShdw>
          </a:effectLst>
        </p:spPr>
      </p:sp>
      <p:sp>
        <p:nvSpPr>
          <p:cNvPr id="35" name="Shape 32"/>
          <p:cNvSpPr/>
          <p:nvPr/>
        </p:nvSpPr>
        <p:spPr>
          <a:xfrm>
            <a:off x="5259927" y="4704000"/>
            <a:ext cx="176727" cy="157091"/>
          </a:xfrm>
          <a:custGeom>
            <a:avLst/>
            <a:gdLst/>
            <a:ahLst/>
            <a:cxnLst/>
            <a:rect l="l" t="t" r="r" b="b"/>
            <a:pathLst>
              <a:path w="176727" h="157091">
                <a:moveTo>
                  <a:pt x="128710" y="29455"/>
                </a:moveTo>
                <a:cubicBezTo>
                  <a:pt x="123617" y="29455"/>
                  <a:pt x="118677" y="30835"/>
                  <a:pt x="114351" y="33351"/>
                </a:cubicBezTo>
                <a:cubicBezTo>
                  <a:pt x="109503" y="28442"/>
                  <a:pt x="103858" y="24331"/>
                  <a:pt x="97630" y="21232"/>
                </a:cubicBezTo>
                <a:cubicBezTo>
                  <a:pt x="106282" y="13868"/>
                  <a:pt x="117297" y="9818"/>
                  <a:pt x="128710" y="9818"/>
                </a:cubicBezTo>
                <a:cubicBezTo>
                  <a:pt x="155219" y="9818"/>
                  <a:pt x="176727" y="31295"/>
                  <a:pt x="176727" y="57835"/>
                </a:cubicBezTo>
                <a:cubicBezTo>
                  <a:pt x="176727" y="70568"/>
                  <a:pt x="171665" y="82780"/>
                  <a:pt x="162675" y="91769"/>
                </a:cubicBezTo>
                <a:lnTo>
                  <a:pt x="140860" y="113584"/>
                </a:lnTo>
                <a:cubicBezTo>
                  <a:pt x="131870" y="122574"/>
                  <a:pt x="119659" y="127636"/>
                  <a:pt x="106926" y="127636"/>
                </a:cubicBezTo>
                <a:cubicBezTo>
                  <a:pt x="80417" y="127636"/>
                  <a:pt x="58909" y="106159"/>
                  <a:pt x="58909" y="79619"/>
                </a:cubicBezTo>
                <a:cubicBezTo>
                  <a:pt x="58909" y="79159"/>
                  <a:pt x="58909" y="78699"/>
                  <a:pt x="58940" y="78239"/>
                </a:cubicBezTo>
                <a:cubicBezTo>
                  <a:pt x="59093" y="72808"/>
                  <a:pt x="63603" y="68543"/>
                  <a:pt x="69034" y="68697"/>
                </a:cubicBezTo>
                <a:cubicBezTo>
                  <a:pt x="74465" y="68850"/>
                  <a:pt x="78730" y="73360"/>
                  <a:pt x="78576" y="78791"/>
                </a:cubicBezTo>
                <a:cubicBezTo>
                  <a:pt x="78576" y="79067"/>
                  <a:pt x="78576" y="79343"/>
                  <a:pt x="78576" y="79589"/>
                </a:cubicBezTo>
                <a:cubicBezTo>
                  <a:pt x="78576" y="95267"/>
                  <a:pt x="91278" y="107969"/>
                  <a:pt x="106957" y="107969"/>
                </a:cubicBezTo>
                <a:cubicBezTo>
                  <a:pt x="114474" y="107969"/>
                  <a:pt x="121684" y="104993"/>
                  <a:pt x="127023" y="99655"/>
                </a:cubicBezTo>
                <a:lnTo>
                  <a:pt x="148838" y="77840"/>
                </a:lnTo>
                <a:cubicBezTo>
                  <a:pt x="154145" y="72532"/>
                  <a:pt x="157152" y="65291"/>
                  <a:pt x="157152" y="57774"/>
                </a:cubicBezTo>
                <a:cubicBezTo>
                  <a:pt x="157152" y="42095"/>
                  <a:pt x="144450" y="29393"/>
                  <a:pt x="128772" y="29393"/>
                </a:cubicBezTo>
                <a:close/>
                <a:moveTo>
                  <a:pt x="84436" y="53172"/>
                </a:moveTo>
                <a:cubicBezTo>
                  <a:pt x="83853" y="52926"/>
                  <a:pt x="83270" y="52589"/>
                  <a:pt x="82749" y="52220"/>
                </a:cubicBezTo>
                <a:cubicBezTo>
                  <a:pt x="78883" y="50226"/>
                  <a:pt x="74465" y="49091"/>
                  <a:pt x="69832" y="49091"/>
                </a:cubicBezTo>
                <a:cubicBezTo>
                  <a:pt x="62315" y="49091"/>
                  <a:pt x="55105" y="52067"/>
                  <a:pt x="49766" y="57406"/>
                </a:cubicBezTo>
                <a:lnTo>
                  <a:pt x="27951" y="79220"/>
                </a:lnTo>
                <a:cubicBezTo>
                  <a:pt x="22643" y="84528"/>
                  <a:pt x="19636" y="91769"/>
                  <a:pt x="19636" y="99286"/>
                </a:cubicBezTo>
                <a:cubicBezTo>
                  <a:pt x="19636" y="114965"/>
                  <a:pt x="32339" y="127667"/>
                  <a:pt x="48017" y="127667"/>
                </a:cubicBezTo>
                <a:cubicBezTo>
                  <a:pt x="53080" y="127667"/>
                  <a:pt x="58019" y="126317"/>
                  <a:pt x="62345" y="123801"/>
                </a:cubicBezTo>
                <a:cubicBezTo>
                  <a:pt x="67193" y="128710"/>
                  <a:pt x="72839" y="132822"/>
                  <a:pt x="79098" y="135920"/>
                </a:cubicBezTo>
                <a:cubicBezTo>
                  <a:pt x="70445" y="143253"/>
                  <a:pt x="59461" y="147334"/>
                  <a:pt x="48017" y="147334"/>
                </a:cubicBezTo>
                <a:cubicBezTo>
                  <a:pt x="21508" y="147334"/>
                  <a:pt x="0" y="125857"/>
                  <a:pt x="0" y="99317"/>
                </a:cubicBezTo>
                <a:cubicBezTo>
                  <a:pt x="0" y="86584"/>
                  <a:pt x="5063" y="74373"/>
                  <a:pt x="14052" y="65383"/>
                </a:cubicBezTo>
                <a:lnTo>
                  <a:pt x="35867" y="43568"/>
                </a:lnTo>
                <a:cubicBezTo>
                  <a:pt x="44857" y="34578"/>
                  <a:pt x="57068" y="29516"/>
                  <a:pt x="69801" y="29516"/>
                </a:cubicBezTo>
                <a:cubicBezTo>
                  <a:pt x="96372" y="29516"/>
                  <a:pt x="117818" y="51177"/>
                  <a:pt x="117818" y="77656"/>
                </a:cubicBezTo>
                <a:cubicBezTo>
                  <a:pt x="117818" y="78055"/>
                  <a:pt x="117818" y="78453"/>
                  <a:pt x="117818" y="78852"/>
                </a:cubicBezTo>
                <a:cubicBezTo>
                  <a:pt x="117695" y="84283"/>
                  <a:pt x="113185" y="88548"/>
                  <a:pt x="107755" y="88425"/>
                </a:cubicBezTo>
                <a:cubicBezTo>
                  <a:pt x="102324" y="88302"/>
                  <a:pt x="98059" y="83792"/>
                  <a:pt x="98182" y="78361"/>
                </a:cubicBezTo>
                <a:cubicBezTo>
                  <a:pt x="98182" y="78116"/>
                  <a:pt x="98182" y="77901"/>
                  <a:pt x="98182" y="77656"/>
                </a:cubicBezTo>
                <a:cubicBezTo>
                  <a:pt x="98182" y="67316"/>
                  <a:pt x="92659" y="58234"/>
                  <a:pt x="84436" y="53233"/>
                </a:cubicBezTo>
                <a:close/>
              </a:path>
            </a:pathLst>
          </a:custGeom>
          <a:solidFill>
            <a:srgbClr val="D4A574"/>
          </a:solidFill>
          <a:ln/>
        </p:spPr>
      </p:sp>
      <p:sp>
        <p:nvSpPr>
          <p:cNvPr id="36" name="Text 33"/>
          <p:cNvSpPr/>
          <p:nvPr/>
        </p:nvSpPr>
        <p:spPr>
          <a:xfrm>
            <a:off x="5448655" y="4660364"/>
            <a:ext cx="2845091" cy="244364"/>
          </a:xfrm>
          <a:prstGeom prst="rect">
            <a:avLst/>
          </a:prstGeom>
          <a:noFill/>
          <a:ln/>
        </p:spPr>
        <p:txBody>
          <a:bodyPr wrap="square" lIns="0" tIns="0" rIns="0" bIns="0" rtlCol="0" anchor="ctr"/>
          <a:lstStyle/>
          <a:p>
            <a:pPr>
              <a:lnSpc>
                <a:spcPct val="130000"/>
              </a:lnSpc>
            </a:pPr>
            <a:r>
              <a:rPr lang="en-US" sz="1237" b="1" dirty="0">
                <a:solidFill>
                  <a:srgbClr val="FFFFFF"/>
                </a:solidFill>
                <a:latin typeface="Liter" pitchFamily="34" charset="0"/>
                <a:ea typeface="Liter" pitchFamily="34" charset="-122"/>
                <a:cs typeface="Liter" pitchFamily="34" charset="-120"/>
              </a:rPr>
              <a:t>Subscription Correlation</a:t>
            </a:r>
            <a:endParaRPr lang="en-US" sz="1600" dirty="0"/>
          </a:p>
        </p:txBody>
      </p:sp>
      <p:sp>
        <p:nvSpPr>
          <p:cNvPr id="37" name="Shape 34"/>
          <p:cNvSpPr/>
          <p:nvPr/>
        </p:nvSpPr>
        <p:spPr>
          <a:xfrm>
            <a:off x="5247927" y="5009455"/>
            <a:ext cx="2967273" cy="802909"/>
          </a:xfrm>
          <a:custGeom>
            <a:avLst/>
            <a:gdLst/>
            <a:ahLst/>
            <a:cxnLst/>
            <a:rect l="l" t="t" r="r" b="b"/>
            <a:pathLst>
              <a:path w="2967273" h="802909">
                <a:moveTo>
                  <a:pt x="69821" y="0"/>
                </a:moveTo>
                <a:lnTo>
                  <a:pt x="2897452" y="0"/>
                </a:lnTo>
                <a:cubicBezTo>
                  <a:pt x="2936013" y="0"/>
                  <a:pt x="2967273" y="31260"/>
                  <a:pt x="2967273" y="69821"/>
                </a:cubicBezTo>
                <a:lnTo>
                  <a:pt x="2967273" y="733088"/>
                </a:lnTo>
                <a:cubicBezTo>
                  <a:pt x="2967273" y="771649"/>
                  <a:pt x="2936013" y="802909"/>
                  <a:pt x="2897452" y="802909"/>
                </a:cubicBezTo>
                <a:lnTo>
                  <a:pt x="69821" y="802909"/>
                </a:lnTo>
                <a:cubicBezTo>
                  <a:pt x="31260" y="802909"/>
                  <a:pt x="0" y="771649"/>
                  <a:pt x="0" y="733088"/>
                </a:cubicBezTo>
                <a:lnTo>
                  <a:pt x="0" y="69821"/>
                </a:lnTo>
                <a:cubicBezTo>
                  <a:pt x="0" y="31286"/>
                  <a:pt x="31286" y="0"/>
                  <a:pt x="69821" y="0"/>
                </a:cubicBezTo>
                <a:close/>
              </a:path>
            </a:pathLst>
          </a:custGeom>
          <a:solidFill>
            <a:srgbClr val="FFFFFF">
              <a:alpha val="10196"/>
            </a:srgbClr>
          </a:solidFill>
          <a:ln/>
        </p:spPr>
      </p:sp>
      <p:sp>
        <p:nvSpPr>
          <p:cNvPr id="38" name="Text 35"/>
          <p:cNvSpPr/>
          <p:nvPr/>
        </p:nvSpPr>
        <p:spPr>
          <a:xfrm>
            <a:off x="5352655" y="5114182"/>
            <a:ext cx="2818909" cy="174545"/>
          </a:xfrm>
          <a:prstGeom prst="rect">
            <a:avLst/>
          </a:prstGeom>
          <a:noFill/>
          <a:ln/>
        </p:spPr>
        <p:txBody>
          <a:bodyPr wrap="square" lIns="0" tIns="0" rIns="0" bIns="0" rtlCol="0" anchor="ctr"/>
          <a:lstStyle/>
          <a:p>
            <a:pPr>
              <a:lnSpc>
                <a:spcPct val="120000"/>
              </a:lnSpc>
            </a:pPr>
            <a:r>
              <a:rPr lang="en-US" sz="962" dirty="0">
                <a:solidFill>
                  <a:srgbClr val="FFFFFF"/>
                </a:solidFill>
                <a:latin typeface="Liter" pitchFamily="34" charset="0"/>
                <a:ea typeface="Liter" pitchFamily="34" charset="-122"/>
                <a:cs typeface="Liter" pitchFamily="34" charset="-120"/>
              </a:rPr>
              <a:t>Customers with 5+ Purchases</a:t>
            </a:r>
            <a:endParaRPr lang="en-US" sz="1600" dirty="0"/>
          </a:p>
        </p:txBody>
      </p:sp>
      <p:sp>
        <p:nvSpPr>
          <p:cNvPr id="39" name="Text 36"/>
          <p:cNvSpPr/>
          <p:nvPr/>
        </p:nvSpPr>
        <p:spPr>
          <a:xfrm>
            <a:off x="5352655" y="5288727"/>
            <a:ext cx="2862545" cy="279273"/>
          </a:xfrm>
          <a:prstGeom prst="rect">
            <a:avLst/>
          </a:prstGeom>
          <a:noFill/>
          <a:ln/>
        </p:spPr>
        <p:txBody>
          <a:bodyPr wrap="square" lIns="0" tIns="0" rIns="0" bIns="0" rtlCol="0" anchor="ctr"/>
          <a:lstStyle/>
          <a:p>
            <a:pPr>
              <a:lnSpc>
                <a:spcPct val="110000"/>
              </a:lnSpc>
            </a:pPr>
            <a:r>
              <a:rPr lang="en-US" sz="1649" b="1" dirty="0">
                <a:solidFill>
                  <a:srgbClr val="D4A574"/>
                </a:solidFill>
                <a:latin typeface="Oranienbaum" pitchFamily="34" charset="0"/>
                <a:ea typeface="Oranienbaum" pitchFamily="34" charset="-122"/>
                <a:cs typeface="Oranienbaum" pitchFamily="34" charset="-120"/>
              </a:rPr>
              <a:t>68%</a:t>
            </a:r>
            <a:endParaRPr lang="en-US" sz="1600" dirty="0"/>
          </a:p>
        </p:txBody>
      </p:sp>
      <p:sp>
        <p:nvSpPr>
          <p:cNvPr id="40" name="Text 37"/>
          <p:cNvSpPr/>
          <p:nvPr/>
        </p:nvSpPr>
        <p:spPr>
          <a:xfrm>
            <a:off x="5352655" y="5567893"/>
            <a:ext cx="2810182" cy="139636"/>
          </a:xfrm>
          <a:prstGeom prst="rect">
            <a:avLst/>
          </a:prstGeom>
          <a:noFill/>
          <a:ln/>
        </p:spPr>
        <p:txBody>
          <a:bodyPr wrap="square" lIns="0" tIns="0" rIns="0" bIns="0" rtlCol="0" anchor="ctr"/>
          <a:lstStyle/>
          <a:p>
            <a:pPr>
              <a:lnSpc>
                <a:spcPct val="110000"/>
              </a:lnSpc>
            </a:pPr>
            <a:r>
              <a:rPr lang="en-US" sz="825" dirty="0">
                <a:solidFill>
                  <a:srgbClr val="FFFFFF">
                    <a:alpha val="80000"/>
                  </a:srgbClr>
                </a:solidFill>
                <a:latin typeface="Quattrocento Sans" pitchFamily="34" charset="0"/>
                <a:ea typeface="Quattrocento Sans" pitchFamily="34" charset="-122"/>
                <a:cs typeface="Quattrocento Sans" pitchFamily="34" charset="-120"/>
              </a:rPr>
              <a:t>Subscription Rate</a:t>
            </a:r>
            <a:endParaRPr lang="en-US" sz="1600" dirty="0"/>
          </a:p>
        </p:txBody>
      </p:sp>
      <p:sp>
        <p:nvSpPr>
          <p:cNvPr id="41" name="Shape 38"/>
          <p:cNvSpPr/>
          <p:nvPr/>
        </p:nvSpPr>
        <p:spPr>
          <a:xfrm>
            <a:off x="5247927" y="5881964"/>
            <a:ext cx="2967273" cy="802909"/>
          </a:xfrm>
          <a:custGeom>
            <a:avLst/>
            <a:gdLst/>
            <a:ahLst/>
            <a:cxnLst/>
            <a:rect l="l" t="t" r="r" b="b"/>
            <a:pathLst>
              <a:path w="2967273" h="802909">
                <a:moveTo>
                  <a:pt x="69821" y="0"/>
                </a:moveTo>
                <a:lnTo>
                  <a:pt x="2897452" y="0"/>
                </a:lnTo>
                <a:cubicBezTo>
                  <a:pt x="2936013" y="0"/>
                  <a:pt x="2967273" y="31260"/>
                  <a:pt x="2967273" y="69821"/>
                </a:cubicBezTo>
                <a:lnTo>
                  <a:pt x="2967273" y="733088"/>
                </a:lnTo>
                <a:cubicBezTo>
                  <a:pt x="2967273" y="771649"/>
                  <a:pt x="2936013" y="802909"/>
                  <a:pt x="2897452" y="802909"/>
                </a:cubicBezTo>
                <a:lnTo>
                  <a:pt x="69821" y="802909"/>
                </a:lnTo>
                <a:cubicBezTo>
                  <a:pt x="31260" y="802909"/>
                  <a:pt x="0" y="771649"/>
                  <a:pt x="0" y="733088"/>
                </a:cubicBezTo>
                <a:lnTo>
                  <a:pt x="0" y="69821"/>
                </a:lnTo>
                <a:cubicBezTo>
                  <a:pt x="0" y="31286"/>
                  <a:pt x="31286" y="0"/>
                  <a:pt x="69821" y="0"/>
                </a:cubicBezTo>
                <a:close/>
              </a:path>
            </a:pathLst>
          </a:custGeom>
          <a:solidFill>
            <a:srgbClr val="FFFFFF">
              <a:alpha val="10196"/>
            </a:srgbClr>
          </a:solidFill>
          <a:ln/>
        </p:spPr>
      </p:sp>
      <p:sp>
        <p:nvSpPr>
          <p:cNvPr id="42" name="Text 39"/>
          <p:cNvSpPr/>
          <p:nvPr/>
        </p:nvSpPr>
        <p:spPr>
          <a:xfrm>
            <a:off x="5352655" y="5986692"/>
            <a:ext cx="2818909" cy="174545"/>
          </a:xfrm>
          <a:prstGeom prst="rect">
            <a:avLst/>
          </a:prstGeom>
          <a:noFill/>
          <a:ln/>
        </p:spPr>
        <p:txBody>
          <a:bodyPr wrap="square" lIns="0" tIns="0" rIns="0" bIns="0" rtlCol="0" anchor="ctr"/>
          <a:lstStyle/>
          <a:p>
            <a:pPr>
              <a:lnSpc>
                <a:spcPct val="120000"/>
              </a:lnSpc>
            </a:pPr>
            <a:r>
              <a:rPr lang="en-US" sz="962" dirty="0">
                <a:solidFill>
                  <a:srgbClr val="FFFFFF"/>
                </a:solidFill>
                <a:latin typeface="Liter" pitchFamily="34" charset="0"/>
                <a:ea typeface="Liter" pitchFamily="34" charset="-122"/>
                <a:cs typeface="Liter" pitchFamily="34" charset="-120"/>
              </a:rPr>
              <a:t>Customers with &lt;5 Purchases</a:t>
            </a:r>
            <a:endParaRPr lang="en-US" sz="1600" dirty="0"/>
          </a:p>
        </p:txBody>
      </p:sp>
      <p:sp>
        <p:nvSpPr>
          <p:cNvPr id="43" name="Text 40"/>
          <p:cNvSpPr/>
          <p:nvPr/>
        </p:nvSpPr>
        <p:spPr>
          <a:xfrm>
            <a:off x="5352655" y="6161237"/>
            <a:ext cx="2862545" cy="279273"/>
          </a:xfrm>
          <a:prstGeom prst="rect">
            <a:avLst/>
          </a:prstGeom>
          <a:noFill/>
          <a:ln/>
        </p:spPr>
        <p:txBody>
          <a:bodyPr wrap="square" lIns="0" tIns="0" rIns="0" bIns="0" rtlCol="0" anchor="ctr"/>
          <a:lstStyle/>
          <a:p>
            <a:pPr>
              <a:lnSpc>
                <a:spcPct val="110000"/>
              </a:lnSpc>
            </a:pPr>
            <a:r>
              <a:rPr lang="en-US" sz="1649" b="1" dirty="0">
                <a:solidFill>
                  <a:srgbClr val="FFFFFF"/>
                </a:solidFill>
                <a:latin typeface="Oranienbaum" pitchFamily="34" charset="0"/>
                <a:ea typeface="Oranienbaum" pitchFamily="34" charset="-122"/>
                <a:cs typeface="Oranienbaum" pitchFamily="34" charset="-120"/>
              </a:rPr>
              <a:t>32%</a:t>
            </a:r>
            <a:endParaRPr lang="en-US" sz="1600" dirty="0"/>
          </a:p>
        </p:txBody>
      </p:sp>
      <p:sp>
        <p:nvSpPr>
          <p:cNvPr id="44" name="Text 41"/>
          <p:cNvSpPr/>
          <p:nvPr/>
        </p:nvSpPr>
        <p:spPr>
          <a:xfrm>
            <a:off x="5352655" y="6440399"/>
            <a:ext cx="2810182" cy="139636"/>
          </a:xfrm>
          <a:prstGeom prst="rect">
            <a:avLst/>
          </a:prstGeom>
          <a:noFill/>
          <a:ln/>
        </p:spPr>
        <p:txBody>
          <a:bodyPr wrap="square" lIns="0" tIns="0" rIns="0" bIns="0" rtlCol="0" anchor="ctr"/>
          <a:lstStyle/>
          <a:p>
            <a:pPr>
              <a:lnSpc>
                <a:spcPct val="110000"/>
              </a:lnSpc>
            </a:pPr>
            <a:r>
              <a:rPr lang="en-US" sz="825" dirty="0">
                <a:solidFill>
                  <a:srgbClr val="FFFFFF">
                    <a:alpha val="80000"/>
                  </a:srgbClr>
                </a:solidFill>
                <a:latin typeface="Quattrocento Sans" pitchFamily="34" charset="0"/>
                <a:ea typeface="Quattrocento Sans" pitchFamily="34" charset="-122"/>
                <a:cs typeface="Quattrocento Sans" pitchFamily="34" charset="-120"/>
              </a:rPr>
              <a:t>Subscription Rate</a:t>
            </a:r>
            <a:endParaRPr lang="en-US" sz="1600" dirty="0"/>
          </a:p>
        </p:txBody>
      </p:sp>
      <p:sp>
        <p:nvSpPr>
          <p:cNvPr id="45" name="Shape 42"/>
          <p:cNvSpPr/>
          <p:nvPr/>
        </p:nvSpPr>
        <p:spPr>
          <a:xfrm>
            <a:off x="8529382" y="4485818"/>
            <a:ext cx="3316364" cy="2373818"/>
          </a:xfrm>
          <a:custGeom>
            <a:avLst/>
            <a:gdLst/>
            <a:ahLst/>
            <a:cxnLst/>
            <a:rect l="l" t="t" r="r" b="b"/>
            <a:pathLst>
              <a:path w="3316364" h="2373818">
                <a:moveTo>
                  <a:pt x="104733" y="0"/>
                </a:moveTo>
                <a:lnTo>
                  <a:pt x="3211631" y="0"/>
                </a:lnTo>
                <a:cubicBezTo>
                  <a:pt x="3269473" y="0"/>
                  <a:pt x="3316364" y="46890"/>
                  <a:pt x="3316364" y="104733"/>
                </a:cubicBezTo>
                <a:lnTo>
                  <a:pt x="3316364" y="2269085"/>
                </a:lnTo>
                <a:cubicBezTo>
                  <a:pt x="3316364" y="2326928"/>
                  <a:pt x="3269473" y="2373818"/>
                  <a:pt x="3211631" y="2373818"/>
                </a:cubicBezTo>
                <a:lnTo>
                  <a:pt x="104733" y="2373818"/>
                </a:lnTo>
                <a:cubicBezTo>
                  <a:pt x="46890" y="2373818"/>
                  <a:pt x="0" y="2326928"/>
                  <a:pt x="0" y="2269085"/>
                </a:cubicBezTo>
                <a:lnTo>
                  <a:pt x="0" y="104733"/>
                </a:lnTo>
                <a:cubicBezTo>
                  <a:pt x="0" y="46929"/>
                  <a:pt x="46929" y="0"/>
                  <a:pt x="104733" y="0"/>
                </a:cubicBezTo>
                <a:close/>
              </a:path>
            </a:pathLst>
          </a:custGeom>
          <a:solidFill>
            <a:srgbClr val="FFFFFF"/>
          </a:solidFill>
          <a:ln/>
          <a:effectLst>
            <a:outerShdw sx="100000" sy="100000" kx="0" ky="0" algn="bl" rotWithShape="0" blurRad="52364" dist="34909" dir="5400000">
              <a:srgbClr val="000000">
                <a:alpha val="10196"/>
              </a:srgbClr>
            </a:outerShdw>
          </a:effectLst>
        </p:spPr>
      </p:sp>
      <p:sp>
        <p:nvSpPr>
          <p:cNvPr id="46" name="Shape 43"/>
          <p:cNvSpPr/>
          <p:nvPr/>
        </p:nvSpPr>
        <p:spPr>
          <a:xfrm>
            <a:off x="8725746" y="4704000"/>
            <a:ext cx="157091" cy="157091"/>
          </a:xfrm>
          <a:custGeom>
            <a:avLst/>
            <a:gdLst/>
            <a:ahLst/>
            <a:cxnLst/>
            <a:rect l="l" t="t" r="r" b="b"/>
            <a:pathLst>
              <a:path w="157091" h="157091">
                <a:moveTo>
                  <a:pt x="44274" y="0"/>
                </a:moveTo>
                <a:lnTo>
                  <a:pt x="113001" y="0"/>
                </a:lnTo>
                <a:cubicBezTo>
                  <a:pt x="121132" y="0"/>
                  <a:pt x="127759" y="6689"/>
                  <a:pt x="127452" y="14789"/>
                </a:cubicBezTo>
                <a:cubicBezTo>
                  <a:pt x="127391" y="16415"/>
                  <a:pt x="127330" y="18041"/>
                  <a:pt x="127238" y="19636"/>
                </a:cubicBezTo>
                <a:lnTo>
                  <a:pt x="142456" y="19636"/>
                </a:lnTo>
                <a:cubicBezTo>
                  <a:pt x="150464" y="19636"/>
                  <a:pt x="157520" y="26264"/>
                  <a:pt x="156907" y="34916"/>
                </a:cubicBezTo>
                <a:cubicBezTo>
                  <a:pt x="154606" y="66733"/>
                  <a:pt x="138344" y="84222"/>
                  <a:pt x="120702" y="93365"/>
                </a:cubicBezTo>
                <a:cubicBezTo>
                  <a:pt x="115855" y="95881"/>
                  <a:pt x="110915" y="97752"/>
                  <a:pt x="106220" y="99133"/>
                </a:cubicBezTo>
                <a:cubicBezTo>
                  <a:pt x="100023" y="107908"/>
                  <a:pt x="93580" y="112541"/>
                  <a:pt x="88456" y="115026"/>
                </a:cubicBezTo>
                <a:lnTo>
                  <a:pt x="88456" y="137455"/>
                </a:lnTo>
                <a:lnTo>
                  <a:pt x="108092" y="137455"/>
                </a:lnTo>
                <a:cubicBezTo>
                  <a:pt x="113523" y="137455"/>
                  <a:pt x="117910" y="141842"/>
                  <a:pt x="117910" y="147273"/>
                </a:cubicBezTo>
                <a:cubicBezTo>
                  <a:pt x="117910" y="152703"/>
                  <a:pt x="113523" y="157091"/>
                  <a:pt x="108092" y="157091"/>
                </a:cubicBezTo>
                <a:lnTo>
                  <a:pt x="49183" y="157091"/>
                </a:lnTo>
                <a:cubicBezTo>
                  <a:pt x="43752" y="157091"/>
                  <a:pt x="39365" y="152703"/>
                  <a:pt x="39365" y="147273"/>
                </a:cubicBezTo>
                <a:cubicBezTo>
                  <a:pt x="39365" y="141842"/>
                  <a:pt x="43752" y="137455"/>
                  <a:pt x="49183" y="137455"/>
                </a:cubicBezTo>
                <a:lnTo>
                  <a:pt x="68819" y="137455"/>
                </a:lnTo>
                <a:lnTo>
                  <a:pt x="68819" y="115026"/>
                </a:lnTo>
                <a:cubicBezTo>
                  <a:pt x="63910" y="112664"/>
                  <a:pt x="57805" y="108276"/>
                  <a:pt x="51852" y="100207"/>
                </a:cubicBezTo>
                <a:cubicBezTo>
                  <a:pt x="46207" y="98734"/>
                  <a:pt x="40070" y="96494"/>
                  <a:pt x="34088" y="93119"/>
                </a:cubicBezTo>
                <a:cubicBezTo>
                  <a:pt x="17489" y="83823"/>
                  <a:pt x="2516" y="66303"/>
                  <a:pt x="368" y="34855"/>
                </a:cubicBezTo>
                <a:cubicBezTo>
                  <a:pt x="-215" y="26233"/>
                  <a:pt x="6811" y="19606"/>
                  <a:pt x="14819" y="19606"/>
                </a:cubicBezTo>
                <a:lnTo>
                  <a:pt x="30038" y="19606"/>
                </a:lnTo>
                <a:cubicBezTo>
                  <a:pt x="29945" y="18010"/>
                  <a:pt x="29884" y="16415"/>
                  <a:pt x="29823" y="14758"/>
                </a:cubicBezTo>
                <a:cubicBezTo>
                  <a:pt x="29516" y="6627"/>
                  <a:pt x="36143" y="-31"/>
                  <a:pt x="44274" y="-31"/>
                </a:cubicBezTo>
                <a:close/>
                <a:moveTo>
                  <a:pt x="31142" y="34364"/>
                </a:moveTo>
                <a:lnTo>
                  <a:pt x="15065" y="34364"/>
                </a:lnTo>
                <a:cubicBezTo>
                  <a:pt x="16967" y="60351"/>
                  <a:pt x="28902" y="73360"/>
                  <a:pt x="41206" y="80264"/>
                </a:cubicBezTo>
                <a:cubicBezTo>
                  <a:pt x="36788" y="68819"/>
                  <a:pt x="33136" y="53877"/>
                  <a:pt x="31142" y="34364"/>
                </a:cubicBezTo>
                <a:close/>
                <a:moveTo>
                  <a:pt x="116591" y="78791"/>
                </a:moveTo>
                <a:cubicBezTo>
                  <a:pt x="129017" y="71489"/>
                  <a:pt x="140247" y="58510"/>
                  <a:pt x="142149" y="34364"/>
                </a:cubicBezTo>
                <a:lnTo>
                  <a:pt x="126102" y="34364"/>
                </a:lnTo>
                <a:cubicBezTo>
                  <a:pt x="124200" y="53049"/>
                  <a:pt x="120764" y="67561"/>
                  <a:pt x="116591" y="78791"/>
                </a:cubicBezTo>
                <a:close/>
              </a:path>
            </a:pathLst>
          </a:custGeom>
          <a:solidFill>
            <a:srgbClr val="C75B39"/>
          </a:solidFill>
          <a:ln/>
        </p:spPr>
      </p:sp>
      <p:sp>
        <p:nvSpPr>
          <p:cNvPr id="47" name="Text 44"/>
          <p:cNvSpPr/>
          <p:nvPr/>
        </p:nvSpPr>
        <p:spPr>
          <a:xfrm>
            <a:off x="8904655" y="4660364"/>
            <a:ext cx="2845091" cy="244364"/>
          </a:xfrm>
          <a:prstGeom prst="rect">
            <a:avLst/>
          </a:prstGeom>
          <a:noFill/>
          <a:ln/>
        </p:spPr>
        <p:txBody>
          <a:bodyPr wrap="square" lIns="0" tIns="0" rIns="0" bIns="0" rtlCol="0" anchor="ctr"/>
          <a:lstStyle/>
          <a:p>
            <a:pPr>
              <a:lnSpc>
                <a:spcPct val="130000"/>
              </a:lnSpc>
            </a:pPr>
            <a:r>
              <a:rPr lang="en-US" sz="1237" b="1" dirty="0">
                <a:solidFill>
                  <a:srgbClr val="2E5A4C"/>
                </a:solidFill>
                <a:latin typeface="Liter" pitchFamily="34" charset="0"/>
                <a:ea typeface="Liter" pitchFamily="34" charset="-122"/>
                <a:cs typeface="Liter" pitchFamily="34" charset="-120"/>
              </a:rPr>
              <a:t>Key Insight</a:t>
            </a:r>
            <a:endParaRPr lang="en-US" sz="1600" dirty="0"/>
          </a:p>
        </p:txBody>
      </p:sp>
      <p:sp>
        <p:nvSpPr>
          <p:cNvPr id="48" name="Text 45"/>
          <p:cNvSpPr/>
          <p:nvPr/>
        </p:nvSpPr>
        <p:spPr>
          <a:xfrm>
            <a:off x="8703927" y="5009455"/>
            <a:ext cx="3028364" cy="593455"/>
          </a:xfrm>
          <a:prstGeom prst="rect">
            <a:avLst/>
          </a:prstGeom>
          <a:noFill/>
          <a:ln/>
        </p:spPr>
        <p:txBody>
          <a:bodyPr wrap="square" lIns="0" tIns="0" rIns="0" bIns="0" rtlCol="0" anchor="ctr"/>
          <a:lstStyle/>
          <a:p>
            <a:pPr>
              <a:lnSpc>
                <a:spcPct val="140000"/>
              </a:lnSpc>
            </a:pPr>
            <a:r>
              <a:rPr lang="en-US" sz="962" dirty="0">
                <a:solidFill>
                  <a:srgbClr val="2C3E50"/>
                </a:solidFill>
                <a:latin typeface="Quattrocento Sans" pitchFamily="34" charset="0"/>
                <a:ea typeface="Quattrocento Sans" pitchFamily="34" charset="-122"/>
                <a:cs typeface="Quattrocento Sans" pitchFamily="34" charset="-120"/>
              </a:rPr>
              <a:t>Customers with </a:t>
            </a:r>
            <a:pPr>
              <a:lnSpc>
                <a:spcPct val="140000"/>
              </a:lnSpc>
            </a:pPr>
            <a:r>
              <a:rPr lang="en-US" sz="962" b="1" dirty="0">
                <a:solidFill>
                  <a:srgbClr val="C75B39"/>
                </a:solidFill>
                <a:latin typeface="Quattrocento Sans" pitchFamily="34" charset="0"/>
                <a:ea typeface="Quattrocento Sans" pitchFamily="34" charset="-122"/>
                <a:cs typeface="Quattrocento Sans" pitchFamily="34" charset="-120"/>
              </a:rPr>
              <a:t>5+ purchases</a:t>
            </a:r>
            <a:pPr>
              <a:lnSpc>
                <a:spcPct val="140000"/>
              </a:lnSpc>
            </a:pPr>
            <a:r>
              <a:rPr lang="en-US" sz="962" dirty="0">
                <a:solidFill>
                  <a:srgbClr val="2C3E50"/>
                </a:solidFill>
                <a:latin typeface="Quattrocento Sans" pitchFamily="34" charset="0"/>
                <a:ea typeface="Quattrocento Sans" pitchFamily="34" charset="-122"/>
                <a:cs typeface="Quattrocento Sans" pitchFamily="34" charset="-120"/>
              </a:rPr>
              <a:t> show significantly higher subscription likelihood, validating the loyalty program approach.</a:t>
            </a:r>
            <a:endParaRPr lang="en-US" sz="1600" dirty="0"/>
          </a:p>
        </p:txBody>
      </p:sp>
      <p:sp>
        <p:nvSpPr>
          <p:cNvPr id="49" name="Shape 46"/>
          <p:cNvSpPr/>
          <p:nvPr/>
        </p:nvSpPr>
        <p:spPr>
          <a:xfrm>
            <a:off x="8703927" y="5709818"/>
            <a:ext cx="2967273" cy="349091"/>
          </a:xfrm>
          <a:custGeom>
            <a:avLst/>
            <a:gdLst/>
            <a:ahLst/>
            <a:cxnLst/>
            <a:rect l="l" t="t" r="r" b="b"/>
            <a:pathLst>
              <a:path w="2967273" h="349091">
                <a:moveTo>
                  <a:pt x="69818" y="0"/>
                </a:moveTo>
                <a:lnTo>
                  <a:pt x="2897455" y="0"/>
                </a:lnTo>
                <a:cubicBezTo>
                  <a:pt x="2936014" y="0"/>
                  <a:pt x="2967273" y="31259"/>
                  <a:pt x="2967273" y="69818"/>
                </a:cubicBezTo>
                <a:lnTo>
                  <a:pt x="2967273" y="279273"/>
                </a:lnTo>
                <a:cubicBezTo>
                  <a:pt x="2967273" y="317832"/>
                  <a:pt x="2936014" y="349091"/>
                  <a:pt x="2897455" y="349091"/>
                </a:cubicBezTo>
                <a:lnTo>
                  <a:pt x="69818" y="349091"/>
                </a:lnTo>
                <a:cubicBezTo>
                  <a:pt x="31259" y="349091"/>
                  <a:pt x="0" y="317832"/>
                  <a:pt x="0" y="279273"/>
                </a:cubicBezTo>
                <a:lnTo>
                  <a:pt x="0" y="69818"/>
                </a:lnTo>
                <a:cubicBezTo>
                  <a:pt x="0" y="31284"/>
                  <a:pt x="31284" y="0"/>
                  <a:pt x="69818" y="0"/>
                </a:cubicBezTo>
                <a:close/>
              </a:path>
            </a:pathLst>
          </a:custGeom>
          <a:solidFill>
            <a:srgbClr val="D4A574">
              <a:alpha val="10196"/>
            </a:srgbClr>
          </a:solidFill>
          <a:ln/>
        </p:spPr>
      </p:sp>
      <p:sp>
        <p:nvSpPr>
          <p:cNvPr id="50" name="Shape 47"/>
          <p:cNvSpPr/>
          <p:nvPr/>
        </p:nvSpPr>
        <p:spPr>
          <a:xfrm>
            <a:off x="8834836" y="5828510"/>
            <a:ext cx="78545" cy="104727"/>
          </a:xfrm>
          <a:custGeom>
            <a:avLst/>
            <a:gdLst/>
            <a:ahLst/>
            <a:cxnLst/>
            <a:rect l="l" t="t" r="r" b="b"/>
            <a:pathLst>
              <a:path w="78545" h="104727">
                <a:moveTo>
                  <a:pt x="59911" y="78545"/>
                </a:moveTo>
                <a:cubicBezTo>
                  <a:pt x="61405" y="73984"/>
                  <a:pt x="64391" y="69852"/>
                  <a:pt x="67766" y="66293"/>
                </a:cubicBezTo>
                <a:cubicBezTo>
                  <a:pt x="74455" y="59257"/>
                  <a:pt x="78545" y="49745"/>
                  <a:pt x="78545" y="39273"/>
                </a:cubicBezTo>
                <a:cubicBezTo>
                  <a:pt x="78545" y="17591"/>
                  <a:pt x="60955" y="0"/>
                  <a:pt x="39273" y="0"/>
                </a:cubicBezTo>
                <a:cubicBezTo>
                  <a:pt x="17591" y="0"/>
                  <a:pt x="0" y="17591"/>
                  <a:pt x="0" y="39273"/>
                </a:cubicBezTo>
                <a:cubicBezTo>
                  <a:pt x="0" y="49745"/>
                  <a:pt x="4091" y="59257"/>
                  <a:pt x="10780" y="66293"/>
                </a:cubicBezTo>
                <a:cubicBezTo>
                  <a:pt x="14155" y="69852"/>
                  <a:pt x="17161" y="73984"/>
                  <a:pt x="18634" y="78545"/>
                </a:cubicBezTo>
                <a:lnTo>
                  <a:pt x="59891" y="78545"/>
                </a:lnTo>
                <a:close/>
                <a:moveTo>
                  <a:pt x="58909" y="88364"/>
                </a:moveTo>
                <a:lnTo>
                  <a:pt x="19636" y="88364"/>
                </a:lnTo>
                <a:lnTo>
                  <a:pt x="19636" y="91636"/>
                </a:lnTo>
                <a:cubicBezTo>
                  <a:pt x="19636" y="100677"/>
                  <a:pt x="26959" y="108000"/>
                  <a:pt x="36000" y="108000"/>
                </a:cubicBezTo>
                <a:lnTo>
                  <a:pt x="42545" y="108000"/>
                </a:lnTo>
                <a:cubicBezTo>
                  <a:pt x="51586" y="108000"/>
                  <a:pt x="58909" y="100677"/>
                  <a:pt x="58909" y="91636"/>
                </a:cubicBezTo>
                <a:lnTo>
                  <a:pt x="58909" y="88364"/>
                </a:lnTo>
                <a:close/>
                <a:moveTo>
                  <a:pt x="37636" y="22909"/>
                </a:moveTo>
                <a:cubicBezTo>
                  <a:pt x="29495" y="22909"/>
                  <a:pt x="22909" y="29495"/>
                  <a:pt x="22909" y="37636"/>
                </a:cubicBezTo>
                <a:cubicBezTo>
                  <a:pt x="22909" y="40357"/>
                  <a:pt x="20720" y="42545"/>
                  <a:pt x="18000" y="42545"/>
                </a:cubicBezTo>
                <a:cubicBezTo>
                  <a:pt x="15280" y="42545"/>
                  <a:pt x="13091" y="40357"/>
                  <a:pt x="13091" y="37636"/>
                </a:cubicBezTo>
                <a:cubicBezTo>
                  <a:pt x="13091" y="24075"/>
                  <a:pt x="24075" y="13091"/>
                  <a:pt x="37636" y="13091"/>
                </a:cubicBezTo>
                <a:cubicBezTo>
                  <a:pt x="40357" y="13091"/>
                  <a:pt x="42545" y="15280"/>
                  <a:pt x="42545" y="18000"/>
                </a:cubicBezTo>
                <a:cubicBezTo>
                  <a:pt x="42545" y="20720"/>
                  <a:pt x="40357" y="22909"/>
                  <a:pt x="37636" y="22909"/>
                </a:cubicBezTo>
                <a:close/>
              </a:path>
            </a:pathLst>
          </a:custGeom>
          <a:solidFill>
            <a:srgbClr val="D4A574"/>
          </a:solidFill>
          <a:ln/>
        </p:spPr>
      </p:sp>
      <p:sp>
        <p:nvSpPr>
          <p:cNvPr id="51" name="Text 48"/>
          <p:cNvSpPr/>
          <p:nvPr/>
        </p:nvSpPr>
        <p:spPr>
          <a:xfrm>
            <a:off x="8963553" y="5814545"/>
            <a:ext cx="2655284" cy="139636"/>
          </a:xfrm>
          <a:prstGeom prst="rect">
            <a:avLst/>
          </a:prstGeom>
          <a:noFill/>
          <a:ln/>
        </p:spPr>
        <p:txBody>
          <a:bodyPr wrap="square" lIns="0" tIns="0" rIns="0" bIns="0" rtlCol="0" anchor="ctr"/>
          <a:lstStyle/>
          <a:p>
            <a:pPr>
              <a:lnSpc>
                <a:spcPct val="110000"/>
              </a:lnSpc>
            </a:pPr>
            <a:r>
              <a:rPr lang="en-US" sz="825" dirty="0">
                <a:solidFill>
                  <a:srgbClr val="2C3E50">
                    <a:alpha val="80000"/>
                  </a:srgbClr>
                </a:solidFill>
                <a:latin typeface="Quattrocento Sans" pitchFamily="34" charset="0"/>
                <a:ea typeface="Quattrocento Sans" pitchFamily="34" charset="-122"/>
                <a:cs typeface="Quattrocento Sans" pitchFamily="34" charset="-120"/>
              </a:rPr>
              <a:t>Focus on moving Returning customers to Loyal segment</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23395" y="388074"/>
            <a:ext cx="388074" cy="32340"/>
          </a:xfrm>
          <a:custGeom>
            <a:avLst/>
            <a:gdLst/>
            <a:ahLst/>
            <a:cxnLst/>
            <a:rect l="l" t="t" r="r" b="b"/>
            <a:pathLst>
              <a:path w="388074" h="32340">
                <a:moveTo>
                  <a:pt x="0" y="0"/>
                </a:moveTo>
                <a:lnTo>
                  <a:pt x="388074" y="0"/>
                </a:lnTo>
                <a:lnTo>
                  <a:pt x="388074" y="32340"/>
                </a:lnTo>
                <a:lnTo>
                  <a:pt x="0" y="32340"/>
                </a:lnTo>
                <a:lnTo>
                  <a:pt x="0" y="0"/>
                </a:lnTo>
                <a:close/>
              </a:path>
            </a:pathLst>
          </a:custGeom>
          <a:solidFill>
            <a:srgbClr val="C75B39"/>
          </a:solidFill>
          <a:ln/>
        </p:spPr>
      </p:sp>
      <p:sp>
        <p:nvSpPr>
          <p:cNvPr id="3" name="Text 1"/>
          <p:cNvSpPr/>
          <p:nvPr/>
        </p:nvSpPr>
        <p:spPr>
          <a:xfrm>
            <a:off x="808488" y="323395"/>
            <a:ext cx="808488" cy="161698"/>
          </a:xfrm>
          <a:prstGeom prst="rect">
            <a:avLst/>
          </a:prstGeom>
          <a:noFill/>
          <a:ln/>
        </p:spPr>
        <p:txBody>
          <a:bodyPr wrap="square" lIns="0" tIns="0" rIns="0" bIns="0" rtlCol="0" anchor="ctr"/>
          <a:lstStyle/>
          <a:p>
            <a:pPr>
              <a:lnSpc>
                <a:spcPct val="120000"/>
              </a:lnSpc>
            </a:pPr>
            <a:r>
              <a:rPr lang="en-US" sz="891" spc="89" kern="0" dirty="0">
                <a:solidFill>
                  <a:srgbClr val="C75B39"/>
                </a:solidFill>
                <a:latin typeface="Liter" pitchFamily="34" charset="0"/>
                <a:ea typeface="Liter" pitchFamily="34" charset="-122"/>
                <a:cs typeface="Liter" pitchFamily="34" charset="-120"/>
              </a:rPr>
              <a:t>Section 03</a:t>
            </a:r>
            <a:endParaRPr lang="en-US" sz="1600" dirty="0"/>
          </a:p>
        </p:txBody>
      </p:sp>
      <p:sp>
        <p:nvSpPr>
          <p:cNvPr id="4" name="Text 2"/>
          <p:cNvSpPr/>
          <p:nvPr/>
        </p:nvSpPr>
        <p:spPr>
          <a:xfrm>
            <a:off x="323395" y="582111"/>
            <a:ext cx="11690737" cy="323395"/>
          </a:xfrm>
          <a:prstGeom prst="rect">
            <a:avLst/>
          </a:prstGeom>
          <a:noFill/>
          <a:ln/>
        </p:spPr>
        <p:txBody>
          <a:bodyPr wrap="square" lIns="0" tIns="0" rIns="0" bIns="0" rtlCol="0" anchor="ctr"/>
          <a:lstStyle/>
          <a:p>
            <a:pPr>
              <a:lnSpc>
                <a:spcPct val="90000"/>
              </a:lnSpc>
            </a:pPr>
            <a:r>
              <a:rPr lang="en-US" sz="2292" b="1" dirty="0">
                <a:solidFill>
                  <a:srgbClr val="2E5A4C"/>
                </a:solidFill>
                <a:latin typeface="Oranienbaum" pitchFamily="34" charset="0"/>
                <a:ea typeface="Oranienbaum" pitchFamily="34" charset="-122"/>
                <a:cs typeface="Oranienbaum" pitchFamily="34" charset="-120"/>
              </a:rPr>
              <a:t>Product Performance</a:t>
            </a:r>
            <a:endParaRPr lang="en-US" sz="1600" dirty="0"/>
          </a:p>
        </p:txBody>
      </p:sp>
      <p:sp>
        <p:nvSpPr>
          <p:cNvPr id="5" name="Text 3"/>
          <p:cNvSpPr/>
          <p:nvPr/>
        </p:nvSpPr>
        <p:spPr>
          <a:xfrm>
            <a:off x="323395" y="937846"/>
            <a:ext cx="11617973" cy="226377"/>
          </a:xfrm>
          <a:prstGeom prst="rect">
            <a:avLst/>
          </a:prstGeom>
          <a:noFill/>
          <a:ln/>
        </p:spPr>
        <p:txBody>
          <a:bodyPr wrap="square" lIns="0" tIns="0" rIns="0" bIns="0" rtlCol="0" anchor="ctr"/>
          <a:lstStyle/>
          <a:p>
            <a:pPr>
              <a:lnSpc>
                <a:spcPct val="130000"/>
              </a:lnSpc>
            </a:pPr>
            <a:r>
              <a:rPr lang="en-US" sz="1146" dirty="0">
                <a:solidFill>
                  <a:srgbClr val="2C3E50">
                    <a:alpha val="70000"/>
                  </a:srgbClr>
                </a:solidFill>
                <a:latin typeface="Quattrocento Sans" pitchFamily="34" charset="0"/>
                <a:ea typeface="Quattrocento Sans" pitchFamily="34" charset="-122"/>
                <a:cs typeface="Quattrocento Sans" pitchFamily="34" charset="-120"/>
              </a:rPr>
              <a:t>Top-Rated &amp; Best-Selling Items</a:t>
            </a:r>
            <a:endParaRPr lang="en-US" sz="1600" dirty="0"/>
          </a:p>
        </p:txBody>
      </p:sp>
      <p:sp>
        <p:nvSpPr>
          <p:cNvPr id="6" name="Shape 4"/>
          <p:cNvSpPr/>
          <p:nvPr/>
        </p:nvSpPr>
        <p:spPr>
          <a:xfrm>
            <a:off x="323395" y="1358260"/>
            <a:ext cx="6807469" cy="2684180"/>
          </a:xfrm>
          <a:custGeom>
            <a:avLst/>
            <a:gdLst/>
            <a:ahLst/>
            <a:cxnLst/>
            <a:rect l="l" t="t" r="r" b="b"/>
            <a:pathLst>
              <a:path w="6807469" h="2684180">
                <a:moveTo>
                  <a:pt x="97006" y="0"/>
                </a:moveTo>
                <a:lnTo>
                  <a:pt x="6710463" y="0"/>
                </a:lnTo>
                <a:cubicBezTo>
                  <a:pt x="6764038" y="0"/>
                  <a:pt x="6807469" y="43431"/>
                  <a:pt x="6807469" y="97006"/>
                </a:cubicBezTo>
                <a:lnTo>
                  <a:pt x="6807469" y="2587174"/>
                </a:lnTo>
                <a:cubicBezTo>
                  <a:pt x="6807469" y="2640749"/>
                  <a:pt x="6764038" y="2684180"/>
                  <a:pt x="6710463" y="2684180"/>
                </a:cubicBezTo>
                <a:lnTo>
                  <a:pt x="97006" y="2684180"/>
                </a:lnTo>
                <a:cubicBezTo>
                  <a:pt x="43431" y="2684180"/>
                  <a:pt x="0" y="2640749"/>
                  <a:pt x="0" y="2587174"/>
                </a:cubicBezTo>
                <a:lnTo>
                  <a:pt x="0" y="97006"/>
                </a:lnTo>
                <a:cubicBezTo>
                  <a:pt x="0" y="43431"/>
                  <a:pt x="43431" y="0"/>
                  <a:pt x="97006" y="0"/>
                </a:cubicBezTo>
                <a:close/>
              </a:path>
            </a:pathLst>
          </a:custGeom>
          <a:solidFill>
            <a:srgbClr val="FFFFFF"/>
          </a:solidFill>
          <a:ln/>
          <a:effectLst>
            <a:outerShdw sx="100000" sy="100000" kx="0" ky="0" algn="bl" rotWithShape="0" blurRad="48509" dist="32340" dir="5400000">
              <a:srgbClr val="000000">
                <a:alpha val="10196"/>
              </a:srgbClr>
            </a:outerShdw>
          </a:effectLst>
        </p:spPr>
      </p:sp>
      <p:sp>
        <p:nvSpPr>
          <p:cNvPr id="7" name="Shape 5"/>
          <p:cNvSpPr/>
          <p:nvPr/>
        </p:nvSpPr>
        <p:spPr>
          <a:xfrm>
            <a:off x="495199" y="1552297"/>
            <a:ext cx="181910" cy="161698"/>
          </a:xfrm>
          <a:custGeom>
            <a:avLst/>
            <a:gdLst/>
            <a:ahLst/>
            <a:cxnLst/>
            <a:rect l="l" t="t" r="r" b="b"/>
            <a:pathLst>
              <a:path w="181910" h="161698">
                <a:moveTo>
                  <a:pt x="97745" y="-5969"/>
                </a:moveTo>
                <a:cubicBezTo>
                  <a:pt x="96450" y="-8495"/>
                  <a:pt x="93829" y="-10106"/>
                  <a:pt x="90986" y="-10106"/>
                </a:cubicBezTo>
                <a:cubicBezTo>
                  <a:pt x="88144" y="-10106"/>
                  <a:pt x="85523" y="-8495"/>
                  <a:pt x="84228" y="-5969"/>
                </a:cubicBezTo>
                <a:lnTo>
                  <a:pt x="60984" y="39572"/>
                </a:lnTo>
                <a:lnTo>
                  <a:pt x="10485" y="47593"/>
                </a:lnTo>
                <a:cubicBezTo>
                  <a:pt x="7674" y="48036"/>
                  <a:pt x="5337" y="50025"/>
                  <a:pt x="4453" y="52741"/>
                </a:cubicBezTo>
                <a:cubicBezTo>
                  <a:pt x="3569" y="55457"/>
                  <a:pt x="4295" y="58426"/>
                  <a:pt x="6285" y="60447"/>
                </a:cubicBezTo>
                <a:lnTo>
                  <a:pt x="42414" y="96608"/>
                </a:lnTo>
                <a:lnTo>
                  <a:pt x="34455" y="147107"/>
                </a:lnTo>
                <a:cubicBezTo>
                  <a:pt x="34013" y="149918"/>
                  <a:pt x="35182" y="152760"/>
                  <a:pt x="37487" y="154434"/>
                </a:cubicBezTo>
                <a:cubicBezTo>
                  <a:pt x="39793" y="156108"/>
                  <a:pt x="42825" y="156360"/>
                  <a:pt x="45383" y="155065"/>
                </a:cubicBezTo>
                <a:lnTo>
                  <a:pt x="90986" y="131885"/>
                </a:lnTo>
                <a:lnTo>
                  <a:pt x="136559" y="155065"/>
                </a:lnTo>
                <a:cubicBezTo>
                  <a:pt x="139085" y="156360"/>
                  <a:pt x="142149" y="156108"/>
                  <a:pt x="144454" y="154434"/>
                </a:cubicBezTo>
                <a:cubicBezTo>
                  <a:pt x="146760" y="152760"/>
                  <a:pt x="147928" y="149949"/>
                  <a:pt x="147486" y="147107"/>
                </a:cubicBezTo>
                <a:lnTo>
                  <a:pt x="139496" y="96608"/>
                </a:lnTo>
                <a:lnTo>
                  <a:pt x="175625" y="60447"/>
                </a:lnTo>
                <a:cubicBezTo>
                  <a:pt x="177646" y="58426"/>
                  <a:pt x="178341" y="55457"/>
                  <a:pt x="177457" y="52741"/>
                </a:cubicBezTo>
                <a:cubicBezTo>
                  <a:pt x="176573" y="50025"/>
                  <a:pt x="174267" y="48036"/>
                  <a:pt x="171425" y="47593"/>
                </a:cubicBezTo>
                <a:lnTo>
                  <a:pt x="120957" y="39572"/>
                </a:lnTo>
                <a:lnTo>
                  <a:pt x="97745" y="-5969"/>
                </a:lnTo>
                <a:close/>
              </a:path>
            </a:pathLst>
          </a:custGeom>
          <a:solidFill>
            <a:srgbClr val="D4A574"/>
          </a:solidFill>
          <a:ln/>
        </p:spPr>
      </p:sp>
      <p:sp>
        <p:nvSpPr>
          <p:cNvPr id="8" name="Text 6"/>
          <p:cNvSpPr/>
          <p:nvPr/>
        </p:nvSpPr>
        <p:spPr>
          <a:xfrm>
            <a:off x="687215" y="1519958"/>
            <a:ext cx="6362801" cy="226377"/>
          </a:xfrm>
          <a:prstGeom prst="rect">
            <a:avLst/>
          </a:prstGeom>
          <a:noFill/>
          <a:ln/>
        </p:spPr>
        <p:txBody>
          <a:bodyPr wrap="square" lIns="0" tIns="0" rIns="0" bIns="0" rtlCol="0" anchor="ctr"/>
          <a:lstStyle/>
          <a:p>
            <a:pPr>
              <a:lnSpc>
                <a:spcPct val="120000"/>
              </a:lnSpc>
            </a:pPr>
            <a:r>
              <a:rPr lang="en-US" sz="1273" b="1" dirty="0">
                <a:solidFill>
                  <a:srgbClr val="2E5A4C"/>
                </a:solidFill>
                <a:latin typeface="Liter" pitchFamily="34" charset="0"/>
                <a:ea typeface="Liter" pitchFamily="34" charset="-122"/>
                <a:cs typeface="Liter" pitchFamily="34" charset="-120"/>
              </a:rPr>
              <a:t>Top 5 Products by Average Rating</a:t>
            </a:r>
            <a:endParaRPr lang="en-US" sz="1600" dirty="0"/>
          </a:p>
        </p:txBody>
      </p:sp>
      <p:pic>
        <p:nvPicPr>
          <p:cNvPr id="9" name="Image 0" descr="https://kimi-img.moonshot.cn/pub/slides/26-03-07-00:30:45-d6lg2d8v0258u07imv6g.png">    </p:cNvPr>
          <p:cNvPicPr>
            <a:picLocks noChangeAspect="1"/>
          </p:cNvPicPr>
          <p:nvPr/>
        </p:nvPicPr>
        <p:blipFill>
          <a:blip r:embed="rId1"/>
          <a:srcRect l="0" r="0" t="30" b="30"/>
          <a:stretch/>
        </p:blipFill>
        <p:spPr>
          <a:xfrm>
            <a:off x="485093" y="1843353"/>
            <a:ext cx="5384531" cy="2037390"/>
          </a:xfrm>
          <a:prstGeom prst="roundRect">
            <a:avLst>
              <a:gd name="adj" fmla="val 0"/>
            </a:avLst>
          </a:prstGeom>
        </p:spPr>
      </p:pic>
      <p:sp>
        <p:nvSpPr>
          <p:cNvPr id="10" name="Shape 7"/>
          <p:cNvSpPr/>
          <p:nvPr/>
        </p:nvSpPr>
        <p:spPr>
          <a:xfrm>
            <a:off x="323395" y="4171798"/>
            <a:ext cx="6807469" cy="2684180"/>
          </a:xfrm>
          <a:custGeom>
            <a:avLst/>
            <a:gdLst/>
            <a:ahLst/>
            <a:cxnLst/>
            <a:rect l="l" t="t" r="r" b="b"/>
            <a:pathLst>
              <a:path w="6807469" h="2684180">
                <a:moveTo>
                  <a:pt x="97006" y="0"/>
                </a:moveTo>
                <a:lnTo>
                  <a:pt x="6710463" y="0"/>
                </a:lnTo>
                <a:cubicBezTo>
                  <a:pt x="6764038" y="0"/>
                  <a:pt x="6807469" y="43431"/>
                  <a:pt x="6807469" y="97006"/>
                </a:cubicBezTo>
                <a:lnTo>
                  <a:pt x="6807469" y="2587174"/>
                </a:lnTo>
                <a:cubicBezTo>
                  <a:pt x="6807469" y="2640749"/>
                  <a:pt x="6764038" y="2684180"/>
                  <a:pt x="6710463" y="2684180"/>
                </a:cubicBezTo>
                <a:lnTo>
                  <a:pt x="97006" y="2684180"/>
                </a:lnTo>
                <a:cubicBezTo>
                  <a:pt x="43431" y="2684180"/>
                  <a:pt x="0" y="2640749"/>
                  <a:pt x="0" y="2587174"/>
                </a:cubicBezTo>
                <a:lnTo>
                  <a:pt x="0" y="97006"/>
                </a:lnTo>
                <a:cubicBezTo>
                  <a:pt x="0" y="43431"/>
                  <a:pt x="43431" y="0"/>
                  <a:pt x="97006" y="0"/>
                </a:cubicBezTo>
                <a:close/>
              </a:path>
            </a:pathLst>
          </a:custGeom>
          <a:solidFill>
            <a:srgbClr val="FFFFFF"/>
          </a:solidFill>
          <a:ln/>
          <a:effectLst>
            <a:outerShdw sx="100000" sy="100000" kx="0" ky="0" algn="bl" rotWithShape="0" blurRad="48509" dist="32340" dir="5400000">
              <a:srgbClr val="000000">
                <a:alpha val="10196"/>
              </a:srgbClr>
            </a:outerShdw>
          </a:effectLst>
        </p:spPr>
      </p:sp>
      <p:sp>
        <p:nvSpPr>
          <p:cNvPr id="11" name="Shape 8"/>
          <p:cNvSpPr/>
          <p:nvPr/>
        </p:nvSpPr>
        <p:spPr>
          <a:xfrm>
            <a:off x="515411" y="4365836"/>
            <a:ext cx="141485" cy="161698"/>
          </a:xfrm>
          <a:custGeom>
            <a:avLst/>
            <a:gdLst/>
            <a:ahLst/>
            <a:cxnLst/>
            <a:rect l="l" t="t" r="r" b="b"/>
            <a:pathLst>
              <a:path w="141485" h="161698">
                <a:moveTo>
                  <a:pt x="50531" y="25265"/>
                </a:moveTo>
                <a:cubicBezTo>
                  <a:pt x="50531" y="14117"/>
                  <a:pt x="59594" y="5053"/>
                  <a:pt x="70743" y="5053"/>
                </a:cubicBezTo>
                <a:cubicBezTo>
                  <a:pt x="81891" y="5053"/>
                  <a:pt x="90955" y="14117"/>
                  <a:pt x="90955" y="25265"/>
                </a:cubicBezTo>
                <a:lnTo>
                  <a:pt x="90955" y="40424"/>
                </a:lnTo>
                <a:lnTo>
                  <a:pt x="50531" y="40424"/>
                </a:lnTo>
                <a:lnTo>
                  <a:pt x="50531" y="25265"/>
                </a:lnTo>
                <a:close/>
                <a:moveTo>
                  <a:pt x="35371" y="40424"/>
                </a:moveTo>
                <a:lnTo>
                  <a:pt x="15159" y="40424"/>
                </a:lnTo>
                <a:cubicBezTo>
                  <a:pt x="6790" y="40424"/>
                  <a:pt x="0" y="47214"/>
                  <a:pt x="0" y="55584"/>
                </a:cubicBezTo>
                <a:lnTo>
                  <a:pt x="0" y="121273"/>
                </a:lnTo>
                <a:cubicBezTo>
                  <a:pt x="0" y="138011"/>
                  <a:pt x="13580" y="151592"/>
                  <a:pt x="30318" y="151592"/>
                </a:cubicBezTo>
                <a:lnTo>
                  <a:pt x="111167" y="151592"/>
                </a:lnTo>
                <a:cubicBezTo>
                  <a:pt x="127905" y="151592"/>
                  <a:pt x="141485" y="138011"/>
                  <a:pt x="141485" y="121273"/>
                </a:cubicBezTo>
                <a:lnTo>
                  <a:pt x="141485" y="55584"/>
                </a:lnTo>
                <a:cubicBezTo>
                  <a:pt x="141485" y="47214"/>
                  <a:pt x="134695" y="40424"/>
                  <a:pt x="126326" y="40424"/>
                </a:cubicBezTo>
                <a:lnTo>
                  <a:pt x="106114" y="40424"/>
                </a:lnTo>
                <a:lnTo>
                  <a:pt x="106114" y="25265"/>
                </a:lnTo>
                <a:cubicBezTo>
                  <a:pt x="106114" y="5716"/>
                  <a:pt x="90292" y="-10106"/>
                  <a:pt x="70743" y="-10106"/>
                </a:cubicBezTo>
                <a:cubicBezTo>
                  <a:pt x="51194" y="-10106"/>
                  <a:pt x="35371" y="5716"/>
                  <a:pt x="35371" y="25265"/>
                </a:cubicBezTo>
                <a:lnTo>
                  <a:pt x="35371" y="40424"/>
                </a:lnTo>
                <a:close/>
                <a:moveTo>
                  <a:pt x="42951" y="55584"/>
                </a:moveTo>
                <a:cubicBezTo>
                  <a:pt x="47134" y="55584"/>
                  <a:pt x="50531" y="58980"/>
                  <a:pt x="50531" y="63163"/>
                </a:cubicBezTo>
                <a:cubicBezTo>
                  <a:pt x="50531" y="67346"/>
                  <a:pt x="47134" y="70743"/>
                  <a:pt x="42951" y="70743"/>
                </a:cubicBezTo>
                <a:cubicBezTo>
                  <a:pt x="38768" y="70743"/>
                  <a:pt x="35371" y="67346"/>
                  <a:pt x="35371" y="63163"/>
                </a:cubicBezTo>
                <a:cubicBezTo>
                  <a:pt x="35371" y="58980"/>
                  <a:pt x="38768" y="55584"/>
                  <a:pt x="42951" y="55584"/>
                </a:cubicBezTo>
                <a:close/>
                <a:moveTo>
                  <a:pt x="90955" y="63163"/>
                </a:moveTo>
                <a:cubicBezTo>
                  <a:pt x="90955" y="58980"/>
                  <a:pt x="94351" y="55584"/>
                  <a:pt x="98534" y="55584"/>
                </a:cubicBezTo>
                <a:cubicBezTo>
                  <a:pt x="102718" y="55584"/>
                  <a:pt x="106114" y="58980"/>
                  <a:pt x="106114" y="63163"/>
                </a:cubicBezTo>
                <a:cubicBezTo>
                  <a:pt x="106114" y="67346"/>
                  <a:pt x="102718" y="70743"/>
                  <a:pt x="98534" y="70743"/>
                </a:cubicBezTo>
                <a:cubicBezTo>
                  <a:pt x="94351" y="70743"/>
                  <a:pt x="90955" y="67346"/>
                  <a:pt x="90955" y="63163"/>
                </a:cubicBezTo>
                <a:close/>
              </a:path>
            </a:pathLst>
          </a:custGeom>
          <a:solidFill>
            <a:srgbClr val="C75B39"/>
          </a:solidFill>
          <a:ln/>
        </p:spPr>
      </p:sp>
      <p:sp>
        <p:nvSpPr>
          <p:cNvPr id="12" name="Text 9"/>
          <p:cNvSpPr/>
          <p:nvPr/>
        </p:nvSpPr>
        <p:spPr>
          <a:xfrm>
            <a:off x="687215" y="4333496"/>
            <a:ext cx="6362801" cy="226377"/>
          </a:xfrm>
          <a:prstGeom prst="rect">
            <a:avLst/>
          </a:prstGeom>
          <a:noFill/>
          <a:ln/>
        </p:spPr>
        <p:txBody>
          <a:bodyPr wrap="square" lIns="0" tIns="0" rIns="0" bIns="0" rtlCol="0" anchor="ctr"/>
          <a:lstStyle/>
          <a:p>
            <a:pPr>
              <a:lnSpc>
                <a:spcPct val="120000"/>
              </a:lnSpc>
            </a:pPr>
            <a:r>
              <a:rPr lang="en-US" sz="1273" b="1" dirty="0">
                <a:solidFill>
                  <a:srgbClr val="2E5A4C"/>
                </a:solidFill>
                <a:latin typeface="Liter" pitchFamily="34" charset="0"/>
                <a:ea typeface="Liter" pitchFamily="34" charset="-122"/>
                <a:cs typeface="Liter" pitchFamily="34" charset="-120"/>
              </a:rPr>
              <a:t>Top 3 Products per Category (Purchase Volume)</a:t>
            </a:r>
            <a:endParaRPr lang="en-US" sz="1600" dirty="0"/>
          </a:p>
        </p:txBody>
      </p:sp>
      <p:pic>
        <p:nvPicPr>
          <p:cNvPr id="13" name="Image 1" descr="https://kimi-img.moonshot.cn/pub/slides/26-03-07-00:30:45-d6lg2d9g6i8g9d6c1mmg.png">    </p:cNvPr>
          <p:cNvPicPr>
            <a:picLocks noChangeAspect="1"/>
          </p:cNvPicPr>
          <p:nvPr/>
        </p:nvPicPr>
        <p:blipFill>
          <a:blip r:embed="rId2"/>
          <a:srcRect l="0" r="0" t="30" b="30"/>
          <a:stretch/>
        </p:blipFill>
        <p:spPr>
          <a:xfrm>
            <a:off x="485093" y="4656891"/>
            <a:ext cx="5384531" cy="2037390"/>
          </a:xfrm>
          <a:prstGeom prst="roundRect">
            <a:avLst>
              <a:gd name="adj" fmla="val 0"/>
            </a:avLst>
          </a:prstGeom>
        </p:spPr>
      </p:pic>
      <p:sp>
        <p:nvSpPr>
          <p:cNvPr id="14" name="Shape 10"/>
          <p:cNvSpPr/>
          <p:nvPr/>
        </p:nvSpPr>
        <p:spPr>
          <a:xfrm>
            <a:off x="7325912" y="1358260"/>
            <a:ext cx="4535618" cy="4107119"/>
          </a:xfrm>
          <a:custGeom>
            <a:avLst/>
            <a:gdLst/>
            <a:ahLst/>
            <a:cxnLst/>
            <a:rect l="l" t="t" r="r" b="b"/>
            <a:pathLst>
              <a:path w="4535618" h="4107119">
                <a:moveTo>
                  <a:pt x="97010" y="0"/>
                </a:moveTo>
                <a:lnTo>
                  <a:pt x="4438608" y="0"/>
                </a:lnTo>
                <a:cubicBezTo>
                  <a:pt x="4492185" y="0"/>
                  <a:pt x="4535618" y="43433"/>
                  <a:pt x="4535618" y="97010"/>
                </a:cubicBezTo>
                <a:lnTo>
                  <a:pt x="4535618" y="4010109"/>
                </a:lnTo>
                <a:cubicBezTo>
                  <a:pt x="4535618" y="4063686"/>
                  <a:pt x="4492185" y="4107119"/>
                  <a:pt x="4438608" y="4107119"/>
                </a:cubicBezTo>
                <a:lnTo>
                  <a:pt x="97010" y="4107119"/>
                </a:lnTo>
                <a:cubicBezTo>
                  <a:pt x="43433" y="4107119"/>
                  <a:pt x="0" y="4063686"/>
                  <a:pt x="0" y="4010109"/>
                </a:cubicBezTo>
                <a:lnTo>
                  <a:pt x="0" y="97010"/>
                </a:lnTo>
                <a:cubicBezTo>
                  <a:pt x="0" y="43469"/>
                  <a:pt x="43469" y="0"/>
                  <a:pt x="97010" y="0"/>
                </a:cubicBezTo>
                <a:close/>
              </a:path>
            </a:pathLst>
          </a:custGeom>
          <a:gradFill rotWithShape="1" flip="none">
            <a:gsLst>
              <a:gs pos="0">
                <a:srgbClr val="C75B39"/>
              </a:gs>
              <a:gs pos="100000">
                <a:srgbClr val="C75B39">
                  <a:alpha val="80000"/>
                </a:srgbClr>
              </a:gs>
            </a:gsLst>
            <a:lin ang="2700000" scaled="1"/>
          </a:gradFill>
          <a:ln/>
          <a:effectLst>
            <a:outerShdw sx="100000" sy="100000" kx="0" ky="0" algn="bl" rotWithShape="0" blurRad="121273" dist="80849" dir="5400000">
              <a:srgbClr val="000000">
                <a:alpha val="10196"/>
              </a:srgbClr>
            </a:outerShdw>
          </a:effectLst>
        </p:spPr>
      </p:sp>
      <p:sp>
        <p:nvSpPr>
          <p:cNvPr id="15" name="Shape 11"/>
          <p:cNvSpPr/>
          <p:nvPr/>
        </p:nvSpPr>
        <p:spPr>
          <a:xfrm>
            <a:off x="7517928" y="1552297"/>
            <a:ext cx="141485" cy="161698"/>
          </a:xfrm>
          <a:custGeom>
            <a:avLst/>
            <a:gdLst/>
            <a:ahLst/>
            <a:cxnLst/>
            <a:rect l="l" t="t" r="r" b="b"/>
            <a:pathLst>
              <a:path w="141485" h="161698">
                <a:moveTo>
                  <a:pt x="60637" y="40424"/>
                </a:moveTo>
                <a:cubicBezTo>
                  <a:pt x="60637" y="23691"/>
                  <a:pt x="47051" y="10106"/>
                  <a:pt x="30318" y="10106"/>
                </a:cubicBezTo>
                <a:cubicBezTo>
                  <a:pt x="13585" y="10106"/>
                  <a:pt x="0" y="23691"/>
                  <a:pt x="0" y="40424"/>
                </a:cubicBezTo>
                <a:cubicBezTo>
                  <a:pt x="0" y="57158"/>
                  <a:pt x="13585" y="70743"/>
                  <a:pt x="30318" y="70743"/>
                </a:cubicBezTo>
                <a:cubicBezTo>
                  <a:pt x="47051" y="70743"/>
                  <a:pt x="60637" y="57158"/>
                  <a:pt x="60637" y="40424"/>
                </a:cubicBezTo>
                <a:close/>
                <a:moveTo>
                  <a:pt x="141485" y="121273"/>
                </a:moveTo>
                <a:cubicBezTo>
                  <a:pt x="141485" y="104540"/>
                  <a:pt x="127900" y="90955"/>
                  <a:pt x="111167" y="90955"/>
                </a:cubicBezTo>
                <a:cubicBezTo>
                  <a:pt x="94434" y="90955"/>
                  <a:pt x="80849" y="104540"/>
                  <a:pt x="80849" y="121273"/>
                </a:cubicBezTo>
                <a:cubicBezTo>
                  <a:pt x="80849" y="138006"/>
                  <a:pt x="94434" y="151592"/>
                  <a:pt x="111167" y="151592"/>
                </a:cubicBezTo>
                <a:cubicBezTo>
                  <a:pt x="127900" y="151592"/>
                  <a:pt x="141485" y="138006"/>
                  <a:pt x="141485" y="121273"/>
                </a:cubicBezTo>
                <a:close/>
                <a:moveTo>
                  <a:pt x="138517" y="27350"/>
                </a:moveTo>
                <a:cubicBezTo>
                  <a:pt x="142464" y="23402"/>
                  <a:pt x="142464" y="16991"/>
                  <a:pt x="138517" y="13043"/>
                </a:cubicBezTo>
                <a:cubicBezTo>
                  <a:pt x="134569" y="9095"/>
                  <a:pt x="128158" y="9095"/>
                  <a:pt x="124210" y="13043"/>
                </a:cubicBezTo>
                <a:lnTo>
                  <a:pt x="2937" y="134316"/>
                </a:lnTo>
                <a:cubicBezTo>
                  <a:pt x="-1011" y="138264"/>
                  <a:pt x="-1011" y="144675"/>
                  <a:pt x="2937" y="148623"/>
                </a:cubicBezTo>
                <a:cubicBezTo>
                  <a:pt x="6885" y="152571"/>
                  <a:pt x="13296" y="152571"/>
                  <a:pt x="17244" y="148623"/>
                </a:cubicBezTo>
                <a:lnTo>
                  <a:pt x="138517" y="27350"/>
                </a:lnTo>
                <a:close/>
              </a:path>
            </a:pathLst>
          </a:custGeom>
          <a:solidFill>
            <a:srgbClr val="D4A574"/>
          </a:solidFill>
          <a:ln/>
        </p:spPr>
      </p:sp>
      <p:sp>
        <p:nvSpPr>
          <p:cNvPr id="16" name="Text 12"/>
          <p:cNvSpPr/>
          <p:nvPr/>
        </p:nvSpPr>
        <p:spPr>
          <a:xfrm>
            <a:off x="7689732" y="1519958"/>
            <a:ext cx="4090950" cy="226377"/>
          </a:xfrm>
          <a:prstGeom prst="rect">
            <a:avLst/>
          </a:prstGeom>
          <a:noFill/>
          <a:ln/>
        </p:spPr>
        <p:txBody>
          <a:bodyPr wrap="square" lIns="0" tIns="0" rIns="0" bIns="0" rtlCol="0" anchor="ctr"/>
          <a:lstStyle/>
          <a:p>
            <a:pPr>
              <a:lnSpc>
                <a:spcPct val="120000"/>
              </a:lnSpc>
            </a:pPr>
            <a:r>
              <a:rPr lang="en-US" sz="1273" b="1" dirty="0">
                <a:solidFill>
                  <a:srgbClr val="FFFFFF"/>
                </a:solidFill>
                <a:latin typeface="Liter" pitchFamily="34" charset="0"/>
                <a:ea typeface="Liter" pitchFamily="34" charset="-122"/>
                <a:cs typeface="Liter" pitchFamily="34" charset="-120"/>
              </a:rPr>
              <a:t>Discount-Dependent Products</a:t>
            </a:r>
            <a:endParaRPr lang="en-US" sz="1600" dirty="0"/>
          </a:p>
        </p:txBody>
      </p:sp>
      <p:sp>
        <p:nvSpPr>
          <p:cNvPr id="17" name="Text 13"/>
          <p:cNvSpPr/>
          <p:nvPr/>
        </p:nvSpPr>
        <p:spPr>
          <a:xfrm>
            <a:off x="7487610" y="1875692"/>
            <a:ext cx="4268817" cy="323395"/>
          </a:xfrm>
          <a:prstGeom prst="rect">
            <a:avLst/>
          </a:prstGeom>
          <a:noFill/>
          <a:ln/>
        </p:spPr>
        <p:txBody>
          <a:bodyPr wrap="square" lIns="0" tIns="0" rIns="0" bIns="0" rtlCol="0" anchor="ctr"/>
          <a:lstStyle/>
          <a:p>
            <a:pPr>
              <a:lnSpc>
                <a:spcPct val="120000"/>
              </a:lnSpc>
            </a:pPr>
            <a:r>
              <a:rPr lang="en-US" sz="891" dirty="0">
                <a:solidFill>
                  <a:srgbClr val="FFFFFF">
                    <a:alpha val="90000"/>
                  </a:srgbClr>
                </a:solidFill>
                <a:latin typeface="Quattrocento Sans" pitchFamily="34" charset="0"/>
                <a:ea typeface="Quattrocento Sans" pitchFamily="34" charset="-122"/>
                <a:cs typeface="Quattrocento Sans" pitchFamily="34" charset="-120"/>
              </a:rPr>
              <a:t>Products with highest percentage of discounted purchases requiring pricing strategy review:</a:t>
            </a:r>
            <a:endParaRPr lang="en-US" sz="1600" dirty="0"/>
          </a:p>
        </p:txBody>
      </p:sp>
      <p:sp>
        <p:nvSpPr>
          <p:cNvPr id="18" name="Shape 14"/>
          <p:cNvSpPr/>
          <p:nvPr/>
        </p:nvSpPr>
        <p:spPr>
          <a:xfrm>
            <a:off x="7487610" y="2328446"/>
            <a:ext cx="4212223" cy="517432"/>
          </a:xfrm>
          <a:custGeom>
            <a:avLst/>
            <a:gdLst/>
            <a:ahLst/>
            <a:cxnLst/>
            <a:rect l="l" t="t" r="r" b="b"/>
            <a:pathLst>
              <a:path w="4212223" h="517432">
                <a:moveTo>
                  <a:pt x="64679" y="0"/>
                </a:moveTo>
                <a:lnTo>
                  <a:pt x="4147544" y="0"/>
                </a:lnTo>
                <a:cubicBezTo>
                  <a:pt x="4183265" y="0"/>
                  <a:pt x="4212223" y="28958"/>
                  <a:pt x="4212223" y="64679"/>
                </a:cubicBezTo>
                <a:lnTo>
                  <a:pt x="4212223" y="452753"/>
                </a:lnTo>
                <a:cubicBezTo>
                  <a:pt x="4212223" y="488475"/>
                  <a:pt x="4183265" y="517432"/>
                  <a:pt x="414754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alpha val="10196"/>
            </a:srgbClr>
          </a:solidFill>
          <a:ln/>
        </p:spPr>
      </p:sp>
      <p:sp>
        <p:nvSpPr>
          <p:cNvPr id="19" name="Text 15"/>
          <p:cNvSpPr/>
          <p:nvPr/>
        </p:nvSpPr>
        <p:spPr>
          <a:xfrm>
            <a:off x="7584629" y="2457804"/>
            <a:ext cx="549772" cy="161698"/>
          </a:xfrm>
          <a:prstGeom prst="rect">
            <a:avLst/>
          </a:prstGeom>
          <a:noFill/>
          <a:ln/>
        </p:spPr>
        <p:txBody>
          <a:bodyPr wrap="square" lIns="0" tIns="0" rIns="0" bIns="0" rtlCol="0" anchor="ctr"/>
          <a:lstStyle/>
          <a:p>
            <a:pPr>
              <a:lnSpc>
                <a:spcPct val="120000"/>
              </a:lnSpc>
            </a:pPr>
            <a:r>
              <a:rPr lang="en-US" sz="891" dirty="0">
                <a:solidFill>
                  <a:srgbClr val="FFFFFF"/>
                </a:solidFill>
                <a:latin typeface="Liter" pitchFamily="34" charset="0"/>
                <a:ea typeface="Liter" pitchFamily="34" charset="-122"/>
                <a:cs typeface="Liter" pitchFamily="34" charset="-120"/>
              </a:rPr>
              <a:t>Product A</a:t>
            </a:r>
            <a:endParaRPr lang="en-US" sz="1600" dirty="0"/>
          </a:p>
        </p:txBody>
      </p:sp>
      <p:sp>
        <p:nvSpPr>
          <p:cNvPr id="20" name="Text 16"/>
          <p:cNvSpPr/>
          <p:nvPr/>
        </p:nvSpPr>
        <p:spPr>
          <a:xfrm>
            <a:off x="11377246" y="2425464"/>
            <a:ext cx="299141" cy="226377"/>
          </a:xfrm>
          <a:prstGeom prst="rect">
            <a:avLst/>
          </a:prstGeom>
          <a:noFill/>
          <a:ln/>
        </p:spPr>
        <p:txBody>
          <a:bodyPr wrap="square" lIns="0" tIns="0" rIns="0" bIns="0" rtlCol="0" anchor="ctr"/>
          <a:lstStyle/>
          <a:p>
            <a:pPr>
              <a:lnSpc>
                <a:spcPct val="130000"/>
              </a:lnSpc>
            </a:pPr>
            <a:r>
              <a:rPr lang="en-US" sz="1146" b="1" dirty="0">
                <a:solidFill>
                  <a:srgbClr val="D4A574"/>
                </a:solidFill>
                <a:latin typeface="Oranienbaum" pitchFamily="34" charset="0"/>
                <a:ea typeface="Oranienbaum" pitchFamily="34" charset="-122"/>
                <a:cs typeface="Oranienbaum" pitchFamily="34" charset="-120"/>
              </a:rPr>
              <a:t>78%</a:t>
            </a:r>
            <a:endParaRPr lang="en-US" sz="1600" dirty="0"/>
          </a:p>
        </p:txBody>
      </p:sp>
      <p:sp>
        <p:nvSpPr>
          <p:cNvPr id="21" name="Shape 17"/>
          <p:cNvSpPr/>
          <p:nvPr/>
        </p:nvSpPr>
        <p:spPr>
          <a:xfrm>
            <a:off x="7584629" y="2684180"/>
            <a:ext cx="4018186" cy="64679"/>
          </a:xfrm>
          <a:custGeom>
            <a:avLst/>
            <a:gdLst/>
            <a:ahLst/>
            <a:cxnLst/>
            <a:rect l="l" t="t" r="r" b="b"/>
            <a:pathLst>
              <a:path w="4018186" h="64679">
                <a:moveTo>
                  <a:pt x="32340" y="0"/>
                </a:moveTo>
                <a:lnTo>
                  <a:pt x="3985846" y="0"/>
                </a:lnTo>
                <a:cubicBezTo>
                  <a:pt x="4003707" y="0"/>
                  <a:pt x="4018186" y="14479"/>
                  <a:pt x="4018186" y="32340"/>
                </a:cubicBezTo>
                <a:lnTo>
                  <a:pt x="4018186" y="32340"/>
                </a:lnTo>
                <a:cubicBezTo>
                  <a:pt x="4018186" y="50200"/>
                  <a:pt x="4003707" y="64679"/>
                  <a:pt x="3985846" y="64679"/>
                </a:cubicBezTo>
                <a:lnTo>
                  <a:pt x="32340" y="64679"/>
                </a:lnTo>
                <a:cubicBezTo>
                  <a:pt x="14491" y="64679"/>
                  <a:pt x="0" y="50188"/>
                  <a:pt x="0" y="32340"/>
                </a:cubicBezTo>
                <a:lnTo>
                  <a:pt x="0" y="32340"/>
                </a:lnTo>
                <a:cubicBezTo>
                  <a:pt x="0" y="14491"/>
                  <a:pt x="14491" y="0"/>
                  <a:pt x="32340" y="0"/>
                </a:cubicBezTo>
                <a:close/>
              </a:path>
            </a:pathLst>
          </a:custGeom>
          <a:solidFill>
            <a:srgbClr val="FFFFFF">
              <a:alpha val="20000"/>
            </a:srgbClr>
          </a:solidFill>
          <a:ln/>
        </p:spPr>
      </p:sp>
      <p:sp>
        <p:nvSpPr>
          <p:cNvPr id="22" name="Shape 18"/>
          <p:cNvSpPr/>
          <p:nvPr/>
        </p:nvSpPr>
        <p:spPr>
          <a:xfrm>
            <a:off x="7584629" y="2684180"/>
            <a:ext cx="3136934" cy="64679"/>
          </a:xfrm>
          <a:custGeom>
            <a:avLst/>
            <a:gdLst/>
            <a:ahLst/>
            <a:cxnLst/>
            <a:rect l="l" t="t" r="r" b="b"/>
            <a:pathLst>
              <a:path w="3136934" h="64679">
                <a:moveTo>
                  <a:pt x="32340" y="0"/>
                </a:moveTo>
                <a:lnTo>
                  <a:pt x="3104594" y="0"/>
                </a:lnTo>
                <a:cubicBezTo>
                  <a:pt x="3122455" y="0"/>
                  <a:pt x="3136934" y="14479"/>
                  <a:pt x="3136934" y="32340"/>
                </a:cubicBezTo>
                <a:lnTo>
                  <a:pt x="3136934" y="32340"/>
                </a:lnTo>
                <a:cubicBezTo>
                  <a:pt x="3136934" y="50200"/>
                  <a:pt x="3122455" y="64679"/>
                  <a:pt x="3104594" y="64679"/>
                </a:cubicBezTo>
                <a:lnTo>
                  <a:pt x="32340" y="64679"/>
                </a:lnTo>
                <a:cubicBezTo>
                  <a:pt x="14491" y="64679"/>
                  <a:pt x="0" y="50188"/>
                  <a:pt x="0" y="32340"/>
                </a:cubicBezTo>
                <a:lnTo>
                  <a:pt x="0" y="32340"/>
                </a:lnTo>
                <a:cubicBezTo>
                  <a:pt x="0" y="14491"/>
                  <a:pt x="14491" y="0"/>
                  <a:pt x="32340" y="0"/>
                </a:cubicBezTo>
                <a:close/>
              </a:path>
            </a:pathLst>
          </a:custGeom>
          <a:solidFill>
            <a:srgbClr val="D4A574"/>
          </a:solidFill>
          <a:ln/>
        </p:spPr>
      </p:sp>
      <p:sp>
        <p:nvSpPr>
          <p:cNvPr id="23" name="Shape 19"/>
          <p:cNvSpPr/>
          <p:nvPr/>
        </p:nvSpPr>
        <p:spPr>
          <a:xfrm>
            <a:off x="7487610" y="2942897"/>
            <a:ext cx="4212223" cy="517432"/>
          </a:xfrm>
          <a:custGeom>
            <a:avLst/>
            <a:gdLst/>
            <a:ahLst/>
            <a:cxnLst/>
            <a:rect l="l" t="t" r="r" b="b"/>
            <a:pathLst>
              <a:path w="4212223" h="517432">
                <a:moveTo>
                  <a:pt x="64679" y="0"/>
                </a:moveTo>
                <a:lnTo>
                  <a:pt x="4147544" y="0"/>
                </a:lnTo>
                <a:cubicBezTo>
                  <a:pt x="4183265" y="0"/>
                  <a:pt x="4212223" y="28958"/>
                  <a:pt x="4212223" y="64679"/>
                </a:cubicBezTo>
                <a:lnTo>
                  <a:pt x="4212223" y="452753"/>
                </a:lnTo>
                <a:cubicBezTo>
                  <a:pt x="4212223" y="488475"/>
                  <a:pt x="4183265" y="517432"/>
                  <a:pt x="414754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alpha val="10196"/>
            </a:srgbClr>
          </a:solidFill>
          <a:ln/>
        </p:spPr>
      </p:sp>
      <p:sp>
        <p:nvSpPr>
          <p:cNvPr id="24" name="Text 20"/>
          <p:cNvSpPr/>
          <p:nvPr/>
        </p:nvSpPr>
        <p:spPr>
          <a:xfrm>
            <a:off x="7584629" y="3072255"/>
            <a:ext cx="549772" cy="161698"/>
          </a:xfrm>
          <a:prstGeom prst="rect">
            <a:avLst/>
          </a:prstGeom>
          <a:noFill/>
          <a:ln/>
        </p:spPr>
        <p:txBody>
          <a:bodyPr wrap="square" lIns="0" tIns="0" rIns="0" bIns="0" rtlCol="0" anchor="ctr"/>
          <a:lstStyle/>
          <a:p>
            <a:pPr>
              <a:lnSpc>
                <a:spcPct val="120000"/>
              </a:lnSpc>
            </a:pPr>
            <a:r>
              <a:rPr lang="en-US" sz="891" dirty="0">
                <a:solidFill>
                  <a:srgbClr val="FFFFFF"/>
                </a:solidFill>
                <a:latin typeface="Liter" pitchFamily="34" charset="0"/>
                <a:ea typeface="Liter" pitchFamily="34" charset="-122"/>
                <a:cs typeface="Liter" pitchFamily="34" charset="-120"/>
              </a:rPr>
              <a:t>Product B</a:t>
            </a:r>
            <a:endParaRPr lang="en-US" sz="1600" dirty="0"/>
          </a:p>
        </p:txBody>
      </p:sp>
      <p:sp>
        <p:nvSpPr>
          <p:cNvPr id="25" name="Text 21"/>
          <p:cNvSpPr/>
          <p:nvPr/>
        </p:nvSpPr>
        <p:spPr>
          <a:xfrm>
            <a:off x="11382401" y="3039915"/>
            <a:ext cx="299141" cy="226377"/>
          </a:xfrm>
          <a:prstGeom prst="rect">
            <a:avLst/>
          </a:prstGeom>
          <a:noFill/>
          <a:ln/>
        </p:spPr>
        <p:txBody>
          <a:bodyPr wrap="square" lIns="0" tIns="0" rIns="0" bIns="0" rtlCol="0" anchor="ctr"/>
          <a:lstStyle/>
          <a:p>
            <a:pPr>
              <a:lnSpc>
                <a:spcPct val="130000"/>
              </a:lnSpc>
            </a:pPr>
            <a:r>
              <a:rPr lang="en-US" sz="1146" b="1" dirty="0">
                <a:solidFill>
                  <a:srgbClr val="D4A574"/>
                </a:solidFill>
                <a:latin typeface="Oranienbaum" pitchFamily="34" charset="0"/>
                <a:ea typeface="Oranienbaum" pitchFamily="34" charset="-122"/>
                <a:cs typeface="Oranienbaum" pitchFamily="34" charset="-120"/>
              </a:rPr>
              <a:t>72%</a:t>
            </a:r>
            <a:endParaRPr lang="en-US" sz="1600" dirty="0"/>
          </a:p>
        </p:txBody>
      </p:sp>
      <p:sp>
        <p:nvSpPr>
          <p:cNvPr id="26" name="Shape 22"/>
          <p:cNvSpPr/>
          <p:nvPr/>
        </p:nvSpPr>
        <p:spPr>
          <a:xfrm>
            <a:off x="7584629" y="3298631"/>
            <a:ext cx="4018186" cy="64679"/>
          </a:xfrm>
          <a:custGeom>
            <a:avLst/>
            <a:gdLst/>
            <a:ahLst/>
            <a:cxnLst/>
            <a:rect l="l" t="t" r="r" b="b"/>
            <a:pathLst>
              <a:path w="4018186" h="64679">
                <a:moveTo>
                  <a:pt x="32340" y="0"/>
                </a:moveTo>
                <a:lnTo>
                  <a:pt x="3985846" y="0"/>
                </a:lnTo>
                <a:cubicBezTo>
                  <a:pt x="4003707" y="0"/>
                  <a:pt x="4018186" y="14479"/>
                  <a:pt x="4018186" y="32340"/>
                </a:cubicBezTo>
                <a:lnTo>
                  <a:pt x="4018186" y="32340"/>
                </a:lnTo>
                <a:cubicBezTo>
                  <a:pt x="4018186" y="50200"/>
                  <a:pt x="4003707" y="64679"/>
                  <a:pt x="3985846" y="64679"/>
                </a:cubicBezTo>
                <a:lnTo>
                  <a:pt x="32340" y="64679"/>
                </a:lnTo>
                <a:cubicBezTo>
                  <a:pt x="14491" y="64679"/>
                  <a:pt x="0" y="50188"/>
                  <a:pt x="0" y="32340"/>
                </a:cubicBezTo>
                <a:lnTo>
                  <a:pt x="0" y="32340"/>
                </a:lnTo>
                <a:cubicBezTo>
                  <a:pt x="0" y="14491"/>
                  <a:pt x="14491" y="0"/>
                  <a:pt x="32340" y="0"/>
                </a:cubicBezTo>
                <a:close/>
              </a:path>
            </a:pathLst>
          </a:custGeom>
          <a:solidFill>
            <a:srgbClr val="FFFFFF">
              <a:alpha val="20000"/>
            </a:srgbClr>
          </a:solidFill>
          <a:ln/>
        </p:spPr>
      </p:sp>
      <p:sp>
        <p:nvSpPr>
          <p:cNvPr id="27" name="Shape 23"/>
          <p:cNvSpPr/>
          <p:nvPr/>
        </p:nvSpPr>
        <p:spPr>
          <a:xfrm>
            <a:off x="7584629" y="3298631"/>
            <a:ext cx="2894387" cy="64679"/>
          </a:xfrm>
          <a:custGeom>
            <a:avLst/>
            <a:gdLst/>
            <a:ahLst/>
            <a:cxnLst/>
            <a:rect l="l" t="t" r="r" b="b"/>
            <a:pathLst>
              <a:path w="2894387" h="64679">
                <a:moveTo>
                  <a:pt x="32340" y="0"/>
                </a:moveTo>
                <a:lnTo>
                  <a:pt x="2862048" y="0"/>
                </a:lnTo>
                <a:cubicBezTo>
                  <a:pt x="2879908" y="0"/>
                  <a:pt x="2894387" y="14479"/>
                  <a:pt x="2894387" y="32340"/>
                </a:cubicBezTo>
                <a:lnTo>
                  <a:pt x="2894387" y="32340"/>
                </a:lnTo>
                <a:cubicBezTo>
                  <a:pt x="2894387" y="50200"/>
                  <a:pt x="2879908" y="64679"/>
                  <a:pt x="2862048" y="64679"/>
                </a:cubicBezTo>
                <a:lnTo>
                  <a:pt x="32340" y="64679"/>
                </a:lnTo>
                <a:cubicBezTo>
                  <a:pt x="14491" y="64679"/>
                  <a:pt x="0" y="50188"/>
                  <a:pt x="0" y="32340"/>
                </a:cubicBezTo>
                <a:lnTo>
                  <a:pt x="0" y="32340"/>
                </a:lnTo>
                <a:cubicBezTo>
                  <a:pt x="0" y="14491"/>
                  <a:pt x="14491" y="0"/>
                  <a:pt x="32340" y="0"/>
                </a:cubicBezTo>
                <a:close/>
              </a:path>
            </a:pathLst>
          </a:custGeom>
          <a:solidFill>
            <a:srgbClr val="D4A574"/>
          </a:solidFill>
          <a:ln/>
        </p:spPr>
      </p:sp>
      <p:sp>
        <p:nvSpPr>
          <p:cNvPr id="28" name="Shape 24"/>
          <p:cNvSpPr/>
          <p:nvPr/>
        </p:nvSpPr>
        <p:spPr>
          <a:xfrm>
            <a:off x="7487610" y="3557347"/>
            <a:ext cx="4212223" cy="517432"/>
          </a:xfrm>
          <a:custGeom>
            <a:avLst/>
            <a:gdLst/>
            <a:ahLst/>
            <a:cxnLst/>
            <a:rect l="l" t="t" r="r" b="b"/>
            <a:pathLst>
              <a:path w="4212223" h="517432">
                <a:moveTo>
                  <a:pt x="64679" y="0"/>
                </a:moveTo>
                <a:lnTo>
                  <a:pt x="4147544" y="0"/>
                </a:lnTo>
                <a:cubicBezTo>
                  <a:pt x="4183265" y="0"/>
                  <a:pt x="4212223" y="28958"/>
                  <a:pt x="4212223" y="64679"/>
                </a:cubicBezTo>
                <a:lnTo>
                  <a:pt x="4212223" y="452753"/>
                </a:lnTo>
                <a:cubicBezTo>
                  <a:pt x="4212223" y="488475"/>
                  <a:pt x="4183265" y="517432"/>
                  <a:pt x="414754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alpha val="10196"/>
            </a:srgbClr>
          </a:solidFill>
          <a:ln/>
        </p:spPr>
      </p:sp>
      <p:sp>
        <p:nvSpPr>
          <p:cNvPr id="29" name="Text 25"/>
          <p:cNvSpPr/>
          <p:nvPr/>
        </p:nvSpPr>
        <p:spPr>
          <a:xfrm>
            <a:off x="7584629" y="3686706"/>
            <a:ext cx="557857" cy="161698"/>
          </a:xfrm>
          <a:prstGeom prst="rect">
            <a:avLst/>
          </a:prstGeom>
          <a:noFill/>
          <a:ln/>
        </p:spPr>
        <p:txBody>
          <a:bodyPr wrap="square" lIns="0" tIns="0" rIns="0" bIns="0" rtlCol="0" anchor="ctr"/>
          <a:lstStyle/>
          <a:p>
            <a:pPr>
              <a:lnSpc>
                <a:spcPct val="120000"/>
              </a:lnSpc>
            </a:pPr>
            <a:r>
              <a:rPr lang="en-US" sz="891" dirty="0">
                <a:solidFill>
                  <a:srgbClr val="FFFFFF"/>
                </a:solidFill>
                <a:latin typeface="Liter" pitchFamily="34" charset="0"/>
                <a:ea typeface="Liter" pitchFamily="34" charset="-122"/>
                <a:cs typeface="Liter" pitchFamily="34" charset="-120"/>
              </a:rPr>
              <a:t>Product C</a:t>
            </a:r>
            <a:endParaRPr lang="en-US" sz="1600" dirty="0"/>
          </a:p>
        </p:txBody>
      </p:sp>
      <p:sp>
        <p:nvSpPr>
          <p:cNvPr id="30" name="Text 26"/>
          <p:cNvSpPr/>
          <p:nvPr/>
        </p:nvSpPr>
        <p:spPr>
          <a:xfrm>
            <a:off x="11375529" y="3654366"/>
            <a:ext cx="307225" cy="226377"/>
          </a:xfrm>
          <a:prstGeom prst="rect">
            <a:avLst/>
          </a:prstGeom>
          <a:noFill/>
          <a:ln/>
        </p:spPr>
        <p:txBody>
          <a:bodyPr wrap="square" lIns="0" tIns="0" rIns="0" bIns="0" rtlCol="0" anchor="ctr"/>
          <a:lstStyle/>
          <a:p>
            <a:pPr>
              <a:lnSpc>
                <a:spcPct val="130000"/>
              </a:lnSpc>
            </a:pPr>
            <a:r>
              <a:rPr lang="en-US" sz="1146" b="1" dirty="0">
                <a:solidFill>
                  <a:srgbClr val="D4A574"/>
                </a:solidFill>
                <a:latin typeface="Oranienbaum" pitchFamily="34" charset="0"/>
                <a:ea typeface="Oranienbaum" pitchFamily="34" charset="-122"/>
                <a:cs typeface="Oranienbaum" pitchFamily="34" charset="-120"/>
              </a:rPr>
              <a:t>65%</a:t>
            </a:r>
            <a:endParaRPr lang="en-US" sz="1600" dirty="0"/>
          </a:p>
        </p:txBody>
      </p:sp>
      <p:sp>
        <p:nvSpPr>
          <p:cNvPr id="31" name="Shape 27"/>
          <p:cNvSpPr/>
          <p:nvPr/>
        </p:nvSpPr>
        <p:spPr>
          <a:xfrm>
            <a:off x="7584629" y="3913082"/>
            <a:ext cx="4018186" cy="64679"/>
          </a:xfrm>
          <a:custGeom>
            <a:avLst/>
            <a:gdLst/>
            <a:ahLst/>
            <a:cxnLst/>
            <a:rect l="l" t="t" r="r" b="b"/>
            <a:pathLst>
              <a:path w="4018186" h="64679">
                <a:moveTo>
                  <a:pt x="32340" y="0"/>
                </a:moveTo>
                <a:lnTo>
                  <a:pt x="3985846" y="0"/>
                </a:lnTo>
                <a:cubicBezTo>
                  <a:pt x="4003707" y="0"/>
                  <a:pt x="4018186" y="14479"/>
                  <a:pt x="4018186" y="32340"/>
                </a:cubicBezTo>
                <a:lnTo>
                  <a:pt x="4018186" y="32340"/>
                </a:lnTo>
                <a:cubicBezTo>
                  <a:pt x="4018186" y="50200"/>
                  <a:pt x="4003707" y="64679"/>
                  <a:pt x="3985846" y="64679"/>
                </a:cubicBezTo>
                <a:lnTo>
                  <a:pt x="32340" y="64679"/>
                </a:lnTo>
                <a:cubicBezTo>
                  <a:pt x="14491" y="64679"/>
                  <a:pt x="0" y="50188"/>
                  <a:pt x="0" y="32340"/>
                </a:cubicBezTo>
                <a:lnTo>
                  <a:pt x="0" y="32340"/>
                </a:lnTo>
                <a:cubicBezTo>
                  <a:pt x="0" y="14491"/>
                  <a:pt x="14491" y="0"/>
                  <a:pt x="32340" y="0"/>
                </a:cubicBezTo>
                <a:close/>
              </a:path>
            </a:pathLst>
          </a:custGeom>
          <a:solidFill>
            <a:srgbClr val="FFFFFF">
              <a:alpha val="20000"/>
            </a:srgbClr>
          </a:solidFill>
          <a:ln/>
        </p:spPr>
      </p:sp>
      <p:sp>
        <p:nvSpPr>
          <p:cNvPr id="32" name="Shape 28"/>
          <p:cNvSpPr/>
          <p:nvPr/>
        </p:nvSpPr>
        <p:spPr>
          <a:xfrm>
            <a:off x="7584629" y="3913082"/>
            <a:ext cx="2611416" cy="64679"/>
          </a:xfrm>
          <a:custGeom>
            <a:avLst/>
            <a:gdLst/>
            <a:ahLst/>
            <a:cxnLst/>
            <a:rect l="l" t="t" r="r" b="b"/>
            <a:pathLst>
              <a:path w="2611416" h="64679">
                <a:moveTo>
                  <a:pt x="32340" y="0"/>
                </a:moveTo>
                <a:lnTo>
                  <a:pt x="2579077" y="0"/>
                </a:lnTo>
                <a:cubicBezTo>
                  <a:pt x="2596938" y="0"/>
                  <a:pt x="2611416" y="14479"/>
                  <a:pt x="2611416" y="32340"/>
                </a:cubicBezTo>
                <a:lnTo>
                  <a:pt x="2611416" y="32340"/>
                </a:lnTo>
                <a:cubicBezTo>
                  <a:pt x="2611416" y="50200"/>
                  <a:pt x="2596938" y="64679"/>
                  <a:pt x="2579077" y="64679"/>
                </a:cubicBezTo>
                <a:lnTo>
                  <a:pt x="32340" y="64679"/>
                </a:lnTo>
                <a:cubicBezTo>
                  <a:pt x="14491" y="64679"/>
                  <a:pt x="0" y="50188"/>
                  <a:pt x="0" y="32340"/>
                </a:cubicBezTo>
                <a:lnTo>
                  <a:pt x="0" y="32340"/>
                </a:lnTo>
                <a:cubicBezTo>
                  <a:pt x="0" y="14491"/>
                  <a:pt x="14491" y="0"/>
                  <a:pt x="32340" y="0"/>
                </a:cubicBezTo>
                <a:close/>
              </a:path>
            </a:pathLst>
          </a:custGeom>
          <a:solidFill>
            <a:srgbClr val="D4A574"/>
          </a:solidFill>
          <a:ln/>
        </p:spPr>
      </p:sp>
      <p:sp>
        <p:nvSpPr>
          <p:cNvPr id="33" name="Shape 29"/>
          <p:cNvSpPr/>
          <p:nvPr/>
        </p:nvSpPr>
        <p:spPr>
          <a:xfrm>
            <a:off x="7487610" y="4171798"/>
            <a:ext cx="4212223" cy="517432"/>
          </a:xfrm>
          <a:custGeom>
            <a:avLst/>
            <a:gdLst/>
            <a:ahLst/>
            <a:cxnLst/>
            <a:rect l="l" t="t" r="r" b="b"/>
            <a:pathLst>
              <a:path w="4212223" h="517432">
                <a:moveTo>
                  <a:pt x="64679" y="0"/>
                </a:moveTo>
                <a:lnTo>
                  <a:pt x="4147544" y="0"/>
                </a:lnTo>
                <a:cubicBezTo>
                  <a:pt x="4183265" y="0"/>
                  <a:pt x="4212223" y="28958"/>
                  <a:pt x="4212223" y="64679"/>
                </a:cubicBezTo>
                <a:lnTo>
                  <a:pt x="4212223" y="452753"/>
                </a:lnTo>
                <a:cubicBezTo>
                  <a:pt x="4212223" y="488475"/>
                  <a:pt x="4183265" y="517432"/>
                  <a:pt x="414754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alpha val="10196"/>
            </a:srgbClr>
          </a:solidFill>
          <a:ln/>
        </p:spPr>
      </p:sp>
      <p:sp>
        <p:nvSpPr>
          <p:cNvPr id="34" name="Text 30"/>
          <p:cNvSpPr/>
          <p:nvPr/>
        </p:nvSpPr>
        <p:spPr>
          <a:xfrm>
            <a:off x="7584629" y="4301156"/>
            <a:ext cx="557857" cy="161698"/>
          </a:xfrm>
          <a:prstGeom prst="rect">
            <a:avLst/>
          </a:prstGeom>
          <a:noFill/>
          <a:ln/>
        </p:spPr>
        <p:txBody>
          <a:bodyPr wrap="square" lIns="0" tIns="0" rIns="0" bIns="0" rtlCol="0" anchor="ctr"/>
          <a:lstStyle/>
          <a:p>
            <a:pPr>
              <a:lnSpc>
                <a:spcPct val="120000"/>
              </a:lnSpc>
            </a:pPr>
            <a:r>
              <a:rPr lang="en-US" sz="891" dirty="0">
                <a:solidFill>
                  <a:srgbClr val="FFFFFF"/>
                </a:solidFill>
                <a:latin typeface="Liter" pitchFamily="34" charset="0"/>
                <a:ea typeface="Liter" pitchFamily="34" charset="-122"/>
                <a:cs typeface="Liter" pitchFamily="34" charset="-120"/>
              </a:rPr>
              <a:t>Product D</a:t>
            </a:r>
            <a:endParaRPr lang="en-US" sz="1600" dirty="0"/>
          </a:p>
        </p:txBody>
      </p:sp>
      <p:sp>
        <p:nvSpPr>
          <p:cNvPr id="35" name="Text 31"/>
          <p:cNvSpPr/>
          <p:nvPr/>
        </p:nvSpPr>
        <p:spPr>
          <a:xfrm>
            <a:off x="11401703" y="4268817"/>
            <a:ext cx="274886" cy="226377"/>
          </a:xfrm>
          <a:prstGeom prst="rect">
            <a:avLst/>
          </a:prstGeom>
          <a:noFill/>
          <a:ln/>
        </p:spPr>
        <p:txBody>
          <a:bodyPr wrap="square" lIns="0" tIns="0" rIns="0" bIns="0" rtlCol="0" anchor="ctr"/>
          <a:lstStyle/>
          <a:p>
            <a:pPr>
              <a:lnSpc>
                <a:spcPct val="130000"/>
              </a:lnSpc>
            </a:pPr>
            <a:r>
              <a:rPr lang="en-US" sz="1146" b="1" dirty="0">
                <a:solidFill>
                  <a:srgbClr val="D4A574"/>
                </a:solidFill>
                <a:latin typeface="Oranienbaum" pitchFamily="34" charset="0"/>
                <a:ea typeface="Oranienbaum" pitchFamily="34" charset="-122"/>
                <a:cs typeface="Oranienbaum" pitchFamily="34" charset="-120"/>
              </a:rPr>
              <a:t>61%</a:t>
            </a:r>
            <a:endParaRPr lang="en-US" sz="1600" dirty="0"/>
          </a:p>
        </p:txBody>
      </p:sp>
      <p:sp>
        <p:nvSpPr>
          <p:cNvPr id="36" name="Shape 32"/>
          <p:cNvSpPr/>
          <p:nvPr/>
        </p:nvSpPr>
        <p:spPr>
          <a:xfrm>
            <a:off x="7584629" y="4527533"/>
            <a:ext cx="4018186" cy="64679"/>
          </a:xfrm>
          <a:custGeom>
            <a:avLst/>
            <a:gdLst/>
            <a:ahLst/>
            <a:cxnLst/>
            <a:rect l="l" t="t" r="r" b="b"/>
            <a:pathLst>
              <a:path w="4018186" h="64679">
                <a:moveTo>
                  <a:pt x="32340" y="0"/>
                </a:moveTo>
                <a:lnTo>
                  <a:pt x="3985846" y="0"/>
                </a:lnTo>
                <a:cubicBezTo>
                  <a:pt x="4003707" y="0"/>
                  <a:pt x="4018186" y="14479"/>
                  <a:pt x="4018186" y="32340"/>
                </a:cubicBezTo>
                <a:lnTo>
                  <a:pt x="4018186" y="32340"/>
                </a:lnTo>
                <a:cubicBezTo>
                  <a:pt x="4018186" y="50200"/>
                  <a:pt x="4003707" y="64679"/>
                  <a:pt x="3985846" y="64679"/>
                </a:cubicBezTo>
                <a:lnTo>
                  <a:pt x="32340" y="64679"/>
                </a:lnTo>
                <a:cubicBezTo>
                  <a:pt x="14491" y="64679"/>
                  <a:pt x="0" y="50188"/>
                  <a:pt x="0" y="32340"/>
                </a:cubicBezTo>
                <a:lnTo>
                  <a:pt x="0" y="32340"/>
                </a:lnTo>
                <a:cubicBezTo>
                  <a:pt x="0" y="14491"/>
                  <a:pt x="14491" y="0"/>
                  <a:pt x="32340" y="0"/>
                </a:cubicBezTo>
                <a:close/>
              </a:path>
            </a:pathLst>
          </a:custGeom>
          <a:solidFill>
            <a:srgbClr val="FFFFFF">
              <a:alpha val="20000"/>
            </a:srgbClr>
          </a:solidFill>
          <a:ln/>
        </p:spPr>
      </p:sp>
      <p:sp>
        <p:nvSpPr>
          <p:cNvPr id="37" name="Shape 33"/>
          <p:cNvSpPr/>
          <p:nvPr/>
        </p:nvSpPr>
        <p:spPr>
          <a:xfrm>
            <a:off x="7584629" y="4527533"/>
            <a:ext cx="2449719" cy="64679"/>
          </a:xfrm>
          <a:custGeom>
            <a:avLst/>
            <a:gdLst/>
            <a:ahLst/>
            <a:cxnLst/>
            <a:rect l="l" t="t" r="r" b="b"/>
            <a:pathLst>
              <a:path w="2449719" h="64679">
                <a:moveTo>
                  <a:pt x="32340" y="0"/>
                </a:moveTo>
                <a:lnTo>
                  <a:pt x="2417379" y="0"/>
                </a:lnTo>
                <a:cubicBezTo>
                  <a:pt x="2435240" y="0"/>
                  <a:pt x="2449719" y="14479"/>
                  <a:pt x="2449719" y="32340"/>
                </a:cubicBezTo>
                <a:lnTo>
                  <a:pt x="2449719" y="32340"/>
                </a:lnTo>
                <a:cubicBezTo>
                  <a:pt x="2449719" y="50200"/>
                  <a:pt x="2435240" y="64679"/>
                  <a:pt x="2417379" y="64679"/>
                </a:cubicBezTo>
                <a:lnTo>
                  <a:pt x="32340" y="64679"/>
                </a:lnTo>
                <a:cubicBezTo>
                  <a:pt x="14491" y="64679"/>
                  <a:pt x="0" y="50188"/>
                  <a:pt x="0" y="32340"/>
                </a:cubicBezTo>
                <a:lnTo>
                  <a:pt x="0" y="32340"/>
                </a:lnTo>
                <a:cubicBezTo>
                  <a:pt x="0" y="14491"/>
                  <a:pt x="14491" y="0"/>
                  <a:pt x="32340" y="0"/>
                </a:cubicBezTo>
                <a:close/>
              </a:path>
            </a:pathLst>
          </a:custGeom>
          <a:solidFill>
            <a:srgbClr val="D4A574"/>
          </a:solidFill>
          <a:ln/>
        </p:spPr>
      </p:sp>
      <p:sp>
        <p:nvSpPr>
          <p:cNvPr id="38" name="Shape 34"/>
          <p:cNvSpPr/>
          <p:nvPr/>
        </p:nvSpPr>
        <p:spPr>
          <a:xfrm>
            <a:off x="7487610" y="4786249"/>
            <a:ext cx="4212223" cy="517432"/>
          </a:xfrm>
          <a:custGeom>
            <a:avLst/>
            <a:gdLst/>
            <a:ahLst/>
            <a:cxnLst/>
            <a:rect l="l" t="t" r="r" b="b"/>
            <a:pathLst>
              <a:path w="4212223" h="517432">
                <a:moveTo>
                  <a:pt x="64679" y="0"/>
                </a:moveTo>
                <a:lnTo>
                  <a:pt x="4147544" y="0"/>
                </a:lnTo>
                <a:cubicBezTo>
                  <a:pt x="4183265" y="0"/>
                  <a:pt x="4212223" y="28958"/>
                  <a:pt x="4212223" y="64679"/>
                </a:cubicBezTo>
                <a:lnTo>
                  <a:pt x="4212223" y="452753"/>
                </a:lnTo>
                <a:cubicBezTo>
                  <a:pt x="4212223" y="488475"/>
                  <a:pt x="4183265" y="517432"/>
                  <a:pt x="4147544" y="517432"/>
                </a:cubicBezTo>
                <a:lnTo>
                  <a:pt x="64679" y="517432"/>
                </a:lnTo>
                <a:cubicBezTo>
                  <a:pt x="28982" y="517432"/>
                  <a:pt x="0" y="488451"/>
                  <a:pt x="0" y="452753"/>
                </a:cubicBezTo>
                <a:lnTo>
                  <a:pt x="0" y="64679"/>
                </a:lnTo>
                <a:cubicBezTo>
                  <a:pt x="0" y="28982"/>
                  <a:pt x="28982" y="0"/>
                  <a:pt x="64679" y="0"/>
                </a:cubicBezTo>
                <a:close/>
              </a:path>
            </a:pathLst>
          </a:custGeom>
          <a:solidFill>
            <a:srgbClr val="FFFFFF">
              <a:alpha val="10196"/>
            </a:srgbClr>
          </a:solidFill>
          <a:ln/>
        </p:spPr>
      </p:sp>
      <p:sp>
        <p:nvSpPr>
          <p:cNvPr id="39" name="Text 35"/>
          <p:cNvSpPr/>
          <p:nvPr/>
        </p:nvSpPr>
        <p:spPr>
          <a:xfrm>
            <a:off x="7584629" y="4915607"/>
            <a:ext cx="541687" cy="161698"/>
          </a:xfrm>
          <a:prstGeom prst="rect">
            <a:avLst/>
          </a:prstGeom>
          <a:noFill/>
          <a:ln/>
        </p:spPr>
        <p:txBody>
          <a:bodyPr wrap="square" lIns="0" tIns="0" rIns="0" bIns="0" rtlCol="0" anchor="ctr"/>
          <a:lstStyle/>
          <a:p>
            <a:pPr>
              <a:lnSpc>
                <a:spcPct val="120000"/>
              </a:lnSpc>
            </a:pPr>
            <a:r>
              <a:rPr lang="en-US" sz="891" dirty="0">
                <a:solidFill>
                  <a:srgbClr val="FFFFFF"/>
                </a:solidFill>
                <a:latin typeface="Liter" pitchFamily="34" charset="0"/>
                <a:ea typeface="Liter" pitchFamily="34" charset="-122"/>
                <a:cs typeface="Liter" pitchFamily="34" charset="-120"/>
              </a:rPr>
              <a:t>Product E</a:t>
            </a:r>
            <a:endParaRPr lang="en-US" sz="1600" dirty="0"/>
          </a:p>
        </p:txBody>
      </p:sp>
      <p:sp>
        <p:nvSpPr>
          <p:cNvPr id="40" name="Text 36"/>
          <p:cNvSpPr/>
          <p:nvPr/>
        </p:nvSpPr>
        <p:spPr>
          <a:xfrm>
            <a:off x="11373406" y="4883268"/>
            <a:ext cx="307225" cy="226377"/>
          </a:xfrm>
          <a:prstGeom prst="rect">
            <a:avLst/>
          </a:prstGeom>
          <a:noFill/>
          <a:ln/>
        </p:spPr>
        <p:txBody>
          <a:bodyPr wrap="square" lIns="0" tIns="0" rIns="0" bIns="0" rtlCol="0" anchor="ctr"/>
          <a:lstStyle/>
          <a:p>
            <a:pPr>
              <a:lnSpc>
                <a:spcPct val="130000"/>
              </a:lnSpc>
            </a:pPr>
            <a:r>
              <a:rPr lang="en-US" sz="1146" b="1" dirty="0">
                <a:solidFill>
                  <a:srgbClr val="D4A574"/>
                </a:solidFill>
                <a:latin typeface="Oranienbaum" pitchFamily="34" charset="0"/>
                <a:ea typeface="Oranienbaum" pitchFamily="34" charset="-122"/>
                <a:cs typeface="Oranienbaum" pitchFamily="34" charset="-120"/>
              </a:rPr>
              <a:t>58%</a:t>
            </a:r>
            <a:endParaRPr lang="en-US" sz="1600" dirty="0"/>
          </a:p>
        </p:txBody>
      </p:sp>
      <p:sp>
        <p:nvSpPr>
          <p:cNvPr id="41" name="Shape 37"/>
          <p:cNvSpPr/>
          <p:nvPr/>
        </p:nvSpPr>
        <p:spPr>
          <a:xfrm>
            <a:off x="7584629" y="5141984"/>
            <a:ext cx="4018186" cy="64679"/>
          </a:xfrm>
          <a:custGeom>
            <a:avLst/>
            <a:gdLst/>
            <a:ahLst/>
            <a:cxnLst/>
            <a:rect l="l" t="t" r="r" b="b"/>
            <a:pathLst>
              <a:path w="4018186" h="64679">
                <a:moveTo>
                  <a:pt x="32340" y="0"/>
                </a:moveTo>
                <a:lnTo>
                  <a:pt x="3985846" y="0"/>
                </a:lnTo>
                <a:cubicBezTo>
                  <a:pt x="4003707" y="0"/>
                  <a:pt x="4018186" y="14479"/>
                  <a:pt x="4018186" y="32340"/>
                </a:cubicBezTo>
                <a:lnTo>
                  <a:pt x="4018186" y="32340"/>
                </a:lnTo>
                <a:cubicBezTo>
                  <a:pt x="4018186" y="50200"/>
                  <a:pt x="4003707" y="64679"/>
                  <a:pt x="3985846" y="64679"/>
                </a:cubicBezTo>
                <a:lnTo>
                  <a:pt x="32340" y="64679"/>
                </a:lnTo>
                <a:cubicBezTo>
                  <a:pt x="14491" y="64679"/>
                  <a:pt x="0" y="50188"/>
                  <a:pt x="0" y="32340"/>
                </a:cubicBezTo>
                <a:lnTo>
                  <a:pt x="0" y="32340"/>
                </a:lnTo>
                <a:cubicBezTo>
                  <a:pt x="0" y="14491"/>
                  <a:pt x="14491" y="0"/>
                  <a:pt x="32340" y="0"/>
                </a:cubicBezTo>
                <a:close/>
              </a:path>
            </a:pathLst>
          </a:custGeom>
          <a:solidFill>
            <a:srgbClr val="FFFFFF">
              <a:alpha val="20000"/>
            </a:srgbClr>
          </a:solidFill>
          <a:ln/>
        </p:spPr>
      </p:sp>
      <p:sp>
        <p:nvSpPr>
          <p:cNvPr id="42" name="Shape 38"/>
          <p:cNvSpPr/>
          <p:nvPr/>
        </p:nvSpPr>
        <p:spPr>
          <a:xfrm>
            <a:off x="7584629" y="5141984"/>
            <a:ext cx="2336531" cy="64679"/>
          </a:xfrm>
          <a:custGeom>
            <a:avLst/>
            <a:gdLst/>
            <a:ahLst/>
            <a:cxnLst/>
            <a:rect l="l" t="t" r="r" b="b"/>
            <a:pathLst>
              <a:path w="2336531" h="64679">
                <a:moveTo>
                  <a:pt x="32340" y="0"/>
                </a:moveTo>
                <a:lnTo>
                  <a:pt x="2304191" y="0"/>
                </a:lnTo>
                <a:cubicBezTo>
                  <a:pt x="2322052" y="0"/>
                  <a:pt x="2336531" y="14479"/>
                  <a:pt x="2336531" y="32340"/>
                </a:cubicBezTo>
                <a:lnTo>
                  <a:pt x="2336531" y="32340"/>
                </a:lnTo>
                <a:cubicBezTo>
                  <a:pt x="2336531" y="50200"/>
                  <a:pt x="2322052" y="64679"/>
                  <a:pt x="2304191" y="64679"/>
                </a:cubicBezTo>
                <a:lnTo>
                  <a:pt x="32340" y="64679"/>
                </a:lnTo>
                <a:cubicBezTo>
                  <a:pt x="14491" y="64679"/>
                  <a:pt x="0" y="50188"/>
                  <a:pt x="0" y="32340"/>
                </a:cubicBezTo>
                <a:lnTo>
                  <a:pt x="0" y="32340"/>
                </a:lnTo>
                <a:cubicBezTo>
                  <a:pt x="0" y="14491"/>
                  <a:pt x="14491" y="0"/>
                  <a:pt x="32340" y="0"/>
                </a:cubicBezTo>
                <a:close/>
              </a:path>
            </a:pathLst>
          </a:custGeom>
          <a:solidFill>
            <a:srgbClr val="D4A574"/>
          </a:solidFill>
          <a:ln/>
        </p:spPr>
      </p:sp>
      <p:sp>
        <p:nvSpPr>
          <p:cNvPr id="43" name="Shape 39"/>
          <p:cNvSpPr/>
          <p:nvPr/>
        </p:nvSpPr>
        <p:spPr>
          <a:xfrm>
            <a:off x="7325912" y="5594737"/>
            <a:ext cx="4535618" cy="1261241"/>
          </a:xfrm>
          <a:custGeom>
            <a:avLst/>
            <a:gdLst/>
            <a:ahLst/>
            <a:cxnLst/>
            <a:rect l="l" t="t" r="r" b="b"/>
            <a:pathLst>
              <a:path w="4535618" h="1261241">
                <a:moveTo>
                  <a:pt x="97015" y="0"/>
                </a:moveTo>
                <a:lnTo>
                  <a:pt x="4438603" y="0"/>
                </a:lnTo>
                <a:cubicBezTo>
                  <a:pt x="4492183" y="0"/>
                  <a:pt x="4535618" y="43435"/>
                  <a:pt x="4535618" y="97015"/>
                </a:cubicBezTo>
                <a:lnTo>
                  <a:pt x="4535618" y="1164227"/>
                </a:lnTo>
                <a:cubicBezTo>
                  <a:pt x="4535618" y="1217806"/>
                  <a:pt x="4492183" y="1261241"/>
                  <a:pt x="4438603" y="1261241"/>
                </a:cubicBezTo>
                <a:lnTo>
                  <a:pt x="97015" y="1261241"/>
                </a:lnTo>
                <a:cubicBezTo>
                  <a:pt x="43435" y="1261241"/>
                  <a:pt x="0" y="1217806"/>
                  <a:pt x="0" y="1164227"/>
                </a:cubicBezTo>
                <a:lnTo>
                  <a:pt x="0" y="97015"/>
                </a:lnTo>
                <a:cubicBezTo>
                  <a:pt x="0" y="43435"/>
                  <a:pt x="43435" y="0"/>
                  <a:pt x="97015" y="0"/>
                </a:cubicBezTo>
                <a:close/>
              </a:path>
            </a:pathLst>
          </a:custGeom>
          <a:solidFill>
            <a:srgbClr val="FFFFFF"/>
          </a:solidFill>
          <a:ln/>
          <a:effectLst>
            <a:outerShdw sx="100000" sy="100000" kx="0" ky="0" algn="bl" rotWithShape="0" blurRad="48509" dist="32340" dir="5400000">
              <a:srgbClr val="000000">
                <a:alpha val="10196"/>
              </a:srgbClr>
            </a:outerShdw>
          </a:effectLst>
        </p:spPr>
      </p:sp>
      <p:sp>
        <p:nvSpPr>
          <p:cNvPr id="44" name="Shape 40"/>
          <p:cNvSpPr/>
          <p:nvPr/>
        </p:nvSpPr>
        <p:spPr>
          <a:xfrm>
            <a:off x="7526013" y="5796859"/>
            <a:ext cx="109146" cy="145528"/>
          </a:xfrm>
          <a:custGeom>
            <a:avLst/>
            <a:gdLst/>
            <a:ahLst/>
            <a:cxnLst/>
            <a:rect l="l" t="t" r="r" b="b"/>
            <a:pathLst>
              <a:path w="109146" h="145528">
                <a:moveTo>
                  <a:pt x="83252" y="109146"/>
                </a:moveTo>
                <a:cubicBezTo>
                  <a:pt x="85327" y="102807"/>
                  <a:pt x="89477" y="97066"/>
                  <a:pt x="94167" y="92120"/>
                </a:cubicBezTo>
                <a:cubicBezTo>
                  <a:pt x="103461" y="82343"/>
                  <a:pt x="109146" y="69126"/>
                  <a:pt x="109146" y="54573"/>
                </a:cubicBezTo>
                <a:cubicBezTo>
                  <a:pt x="109146" y="24444"/>
                  <a:pt x="84702" y="0"/>
                  <a:pt x="54573" y="0"/>
                </a:cubicBezTo>
                <a:cubicBezTo>
                  <a:pt x="24444" y="0"/>
                  <a:pt x="0" y="24444"/>
                  <a:pt x="0" y="54573"/>
                </a:cubicBezTo>
                <a:cubicBezTo>
                  <a:pt x="0" y="69126"/>
                  <a:pt x="5685" y="82343"/>
                  <a:pt x="14979" y="92120"/>
                </a:cubicBezTo>
                <a:cubicBezTo>
                  <a:pt x="19669" y="97066"/>
                  <a:pt x="23847" y="102807"/>
                  <a:pt x="25894" y="109146"/>
                </a:cubicBezTo>
                <a:lnTo>
                  <a:pt x="83224" y="109146"/>
                </a:lnTo>
                <a:close/>
                <a:moveTo>
                  <a:pt x="81859" y="122789"/>
                </a:moveTo>
                <a:lnTo>
                  <a:pt x="27286" y="122789"/>
                </a:lnTo>
                <a:lnTo>
                  <a:pt x="27286" y="127337"/>
                </a:lnTo>
                <a:cubicBezTo>
                  <a:pt x="27286" y="139900"/>
                  <a:pt x="37462" y="150076"/>
                  <a:pt x="50025" y="150076"/>
                </a:cubicBezTo>
                <a:lnTo>
                  <a:pt x="59121" y="150076"/>
                </a:lnTo>
                <a:cubicBezTo>
                  <a:pt x="71684" y="150076"/>
                  <a:pt x="81859" y="139900"/>
                  <a:pt x="81859" y="127337"/>
                </a:cubicBezTo>
                <a:lnTo>
                  <a:pt x="81859" y="122789"/>
                </a:lnTo>
                <a:close/>
                <a:moveTo>
                  <a:pt x="52299" y="31834"/>
                </a:moveTo>
                <a:cubicBezTo>
                  <a:pt x="40987" y="31834"/>
                  <a:pt x="31834" y="40987"/>
                  <a:pt x="31834" y="52299"/>
                </a:cubicBezTo>
                <a:cubicBezTo>
                  <a:pt x="31834" y="56079"/>
                  <a:pt x="28793" y="59121"/>
                  <a:pt x="25013" y="59121"/>
                </a:cubicBezTo>
                <a:cubicBezTo>
                  <a:pt x="21232" y="59121"/>
                  <a:pt x="18191" y="56079"/>
                  <a:pt x="18191" y="52299"/>
                </a:cubicBezTo>
                <a:cubicBezTo>
                  <a:pt x="18191" y="33454"/>
                  <a:pt x="33454" y="18191"/>
                  <a:pt x="52299" y="18191"/>
                </a:cubicBezTo>
                <a:cubicBezTo>
                  <a:pt x="56079" y="18191"/>
                  <a:pt x="59121" y="21232"/>
                  <a:pt x="59121" y="25013"/>
                </a:cubicBezTo>
                <a:cubicBezTo>
                  <a:pt x="59121" y="28793"/>
                  <a:pt x="56079" y="31834"/>
                  <a:pt x="52299" y="31834"/>
                </a:cubicBezTo>
                <a:close/>
              </a:path>
            </a:pathLst>
          </a:custGeom>
          <a:solidFill>
            <a:srgbClr val="D4A574"/>
          </a:solidFill>
          <a:ln/>
        </p:spPr>
      </p:sp>
      <p:sp>
        <p:nvSpPr>
          <p:cNvPr id="45" name="Text 41"/>
          <p:cNvSpPr/>
          <p:nvPr/>
        </p:nvSpPr>
        <p:spPr>
          <a:xfrm>
            <a:off x="7673562" y="5756435"/>
            <a:ext cx="4099034" cy="226377"/>
          </a:xfrm>
          <a:prstGeom prst="rect">
            <a:avLst/>
          </a:prstGeom>
          <a:noFill/>
          <a:ln/>
        </p:spPr>
        <p:txBody>
          <a:bodyPr wrap="square" lIns="0" tIns="0" rIns="0" bIns="0" rtlCol="0" anchor="ctr"/>
          <a:lstStyle/>
          <a:p>
            <a:pPr>
              <a:lnSpc>
                <a:spcPct val="130000"/>
              </a:lnSpc>
            </a:pPr>
            <a:r>
              <a:rPr lang="en-US" sz="1146" b="1" dirty="0">
                <a:solidFill>
                  <a:srgbClr val="2E5A4C"/>
                </a:solidFill>
                <a:latin typeface="Liter" pitchFamily="34" charset="0"/>
                <a:ea typeface="Liter" pitchFamily="34" charset="-122"/>
                <a:cs typeface="Liter" pitchFamily="34" charset="-120"/>
              </a:rPr>
              <a:t>Strategic Actions</a:t>
            </a:r>
            <a:endParaRPr lang="en-US" sz="1600" dirty="0"/>
          </a:p>
        </p:txBody>
      </p:sp>
      <p:sp>
        <p:nvSpPr>
          <p:cNvPr id="46" name="Shape 42"/>
          <p:cNvSpPr/>
          <p:nvPr/>
        </p:nvSpPr>
        <p:spPr>
          <a:xfrm>
            <a:off x="7503780" y="6112170"/>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2E5A4C"/>
          </a:solidFill>
          <a:ln/>
        </p:spPr>
      </p:sp>
      <p:sp>
        <p:nvSpPr>
          <p:cNvPr id="47" name="Text 43"/>
          <p:cNvSpPr/>
          <p:nvPr/>
        </p:nvSpPr>
        <p:spPr>
          <a:xfrm>
            <a:off x="7713987" y="6079830"/>
            <a:ext cx="2635671" cy="161698"/>
          </a:xfrm>
          <a:prstGeom prst="rect">
            <a:avLst/>
          </a:prstGeom>
          <a:noFill/>
          <a:ln/>
        </p:spPr>
        <p:txBody>
          <a:bodyPr wrap="square" lIns="0" tIns="0" rIns="0" bIns="0" rtlCol="0" anchor="ctr"/>
          <a:lstStyle/>
          <a:p>
            <a:pPr>
              <a:lnSpc>
                <a:spcPct val="120000"/>
              </a:lnSpc>
            </a:pPr>
            <a:r>
              <a:rPr lang="en-US" sz="891" b="1" dirty="0">
                <a:solidFill>
                  <a:srgbClr val="2C3E50"/>
                </a:solidFill>
                <a:latin typeface="Quattrocento Sans" pitchFamily="34" charset="0"/>
                <a:ea typeface="Quattrocento Sans" pitchFamily="34" charset="-122"/>
                <a:cs typeface="Quattrocento Sans" pitchFamily="34" charset="-120"/>
              </a:rPr>
              <a:t>Promote Top-Rated:</a:t>
            </a:r>
            <a:pPr>
              <a:lnSpc>
                <a:spcPct val="120000"/>
              </a:lnSpc>
            </a:pPr>
            <a:r>
              <a:rPr lang="en-US" sz="891" dirty="0">
                <a:solidFill>
                  <a:srgbClr val="2C3E50"/>
                </a:solidFill>
                <a:latin typeface="Quattrocento Sans" pitchFamily="34" charset="0"/>
                <a:ea typeface="Quattrocento Sans" pitchFamily="34" charset="-122"/>
                <a:cs typeface="Quattrocento Sans" pitchFamily="34" charset="-120"/>
              </a:rPr>
              <a:t> Feature in marketing campaigns</a:t>
            </a:r>
            <a:endParaRPr lang="en-US" sz="1600" dirty="0"/>
          </a:p>
        </p:txBody>
      </p:sp>
      <p:sp>
        <p:nvSpPr>
          <p:cNvPr id="48" name="Shape 44"/>
          <p:cNvSpPr/>
          <p:nvPr/>
        </p:nvSpPr>
        <p:spPr>
          <a:xfrm>
            <a:off x="7503780" y="6338546"/>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2E5A4C"/>
          </a:solidFill>
          <a:ln/>
        </p:spPr>
      </p:sp>
      <p:sp>
        <p:nvSpPr>
          <p:cNvPr id="49" name="Text 45"/>
          <p:cNvSpPr/>
          <p:nvPr/>
        </p:nvSpPr>
        <p:spPr>
          <a:xfrm>
            <a:off x="7713987" y="6306207"/>
            <a:ext cx="2368870" cy="161698"/>
          </a:xfrm>
          <a:prstGeom prst="rect">
            <a:avLst/>
          </a:prstGeom>
          <a:noFill/>
          <a:ln/>
        </p:spPr>
        <p:txBody>
          <a:bodyPr wrap="square" lIns="0" tIns="0" rIns="0" bIns="0" rtlCol="0" anchor="ctr"/>
          <a:lstStyle/>
          <a:p>
            <a:pPr>
              <a:lnSpc>
                <a:spcPct val="120000"/>
              </a:lnSpc>
            </a:pPr>
            <a:r>
              <a:rPr lang="en-US" sz="891" b="1" dirty="0">
                <a:solidFill>
                  <a:srgbClr val="2C3E50"/>
                </a:solidFill>
                <a:latin typeface="Quattrocento Sans" pitchFamily="34" charset="0"/>
                <a:ea typeface="Quattrocento Sans" pitchFamily="34" charset="-122"/>
                <a:cs typeface="Quattrocento Sans" pitchFamily="34" charset="-120"/>
              </a:rPr>
              <a:t>Review Pricing:</a:t>
            </a:r>
            <a:pPr>
              <a:lnSpc>
                <a:spcPct val="120000"/>
              </a:lnSpc>
            </a:pPr>
            <a:r>
              <a:rPr lang="en-US" sz="891" dirty="0">
                <a:solidFill>
                  <a:srgbClr val="2C3E50"/>
                </a:solidFill>
                <a:latin typeface="Quattrocento Sans" pitchFamily="34" charset="0"/>
                <a:ea typeface="Quattrocento Sans" pitchFamily="34" charset="-122"/>
                <a:cs typeface="Quattrocento Sans" pitchFamily="34" charset="-120"/>
              </a:rPr>
              <a:t> Balance discounts with margins</a:t>
            </a:r>
            <a:endParaRPr lang="en-US" sz="1600" dirty="0"/>
          </a:p>
        </p:txBody>
      </p:sp>
      <p:sp>
        <p:nvSpPr>
          <p:cNvPr id="50" name="Shape 46"/>
          <p:cNvSpPr/>
          <p:nvPr/>
        </p:nvSpPr>
        <p:spPr>
          <a:xfrm>
            <a:off x="7503780" y="6564923"/>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2E5A4C"/>
          </a:solidFill>
          <a:ln/>
        </p:spPr>
      </p:sp>
      <p:sp>
        <p:nvSpPr>
          <p:cNvPr id="51" name="Text 47"/>
          <p:cNvSpPr/>
          <p:nvPr/>
        </p:nvSpPr>
        <p:spPr>
          <a:xfrm>
            <a:off x="7713987" y="6532584"/>
            <a:ext cx="2255682" cy="161698"/>
          </a:xfrm>
          <a:prstGeom prst="rect">
            <a:avLst/>
          </a:prstGeom>
          <a:noFill/>
          <a:ln/>
        </p:spPr>
        <p:txBody>
          <a:bodyPr wrap="square" lIns="0" tIns="0" rIns="0" bIns="0" rtlCol="0" anchor="ctr"/>
          <a:lstStyle/>
          <a:p>
            <a:pPr>
              <a:lnSpc>
                <a:spcPct val="120000"/>
              </a:lnSpc>
            </a:pPr>
            <a:r>
              <a:rPr lang="en-US" sz="891" b="1" dirty="0">
                <a:solidFill>
                  <a:srgbClr val="2C3E50"/>
                </a:solidFill>
                <a:latin typeface="Quattrocento Sans" pitchFamily="34" charset="0"/>
                <a:ea typeface="Quattrocento Sans" pitchFamily="34" charset="-122"/>
                <a:cs typeface="Quattrocento Sans" pitchFamily="34" charset="-120"/>
              </a:rPr>
              <a:t>Cross-Sell:</a:t>
            </a:r>
            <a:pPr>
              <a:lnSpc>
                <a:spcPct val="120000"/>
              </a:lnSpc>
            </a:pPr>
            <a:r>
              <a:rPr lang="en-US" sz="891" dirty="0">
                <a:solidFill>
                  <a:srgbClr val="2C3E50"/>
                </a:solidFill>
                <a:latin typeface="Quattrocento Sans" pitchFamily="34" charset="0"/>
                <a:ea typeface="Quattrocento Sans" pitchFamily="34" charset="-122"/>
                <a:cs typeface="Quattrocento Sans" pitchFamily="34" charset="-120"/>
              </a:rPr>
              <a:t> Pair bestsellers with related items</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54419" y="425302"/>
            <a:ext cx="425302" cy="35442"/>
          </a:xfrm>
          <a:custGeom>
            <a:avLst/>
            <a:gdLst/>
            <a:ahLst/>
            <a:cxnLst/>
            <a:rect l="l" t="t" r="r" b="b"/>
            <a:pathLst>
              <a:path w="425302" h="35442">
                <a:moveTo>
                  <a:pt x="0" y="0"/>
                </a:moveTo>
                <a:lnTo>
                  <a:pt x="425302" y="0"/>
                </a:lnTo>
                <a:lnTo>
                  <a:pt x="425302" y="35442"/>
                </a:lnTo>
                <a:lnTo>
                  <a:pt x="0" y="35442"/>
                </a:lnTo>
                <a:lnTo>
                  <a:pt x="0" y="0"/>
                </a:lnTo>
                <a:close/>
              </a:path>
            </a:pathLst>
          </a:custGeom>
          <a:solidFill>
            <a:srgbClr val="C75B39"/>
          </a:solidFill>
          <a:ln/>
        </p:spPr>
      </p:sp>
      <p:sp>
        <p:nvSpPr>
          <p:cNvPr id="3" name="Text 1"/>
          <p:cNvSpPr/>
          <p:nvPr/>
        </p:nvSpPr>
        <p:spPr>
          <a:xfrm>
            <a:off x="886047" y="354419"/>
            <a:ext cx="886047" cy="177209"/>
          </a:xfrm>
          <a:prstGeom prst="rect">
            <a:avLst/>
          </a:prstGeom>
          <a:noFill/>
          <a:ln/>
        </p:spPr>
        <p:txBody>
          <a:bodyPr wrap="square" lIns="0" tIns="0" rIns="0" bIns="0" rtlCol="0" anchor="ctr"/>
          <a:lstStyle/>
          <a:p>
            <a:pPr>
              <a:lnSpc>
                <a:spcPct val="120000"/>
              </a:lnSpc>
            </a:pPr>
            <a:r>
              <a:rPr lang="en-US" sz="977" spc="98" kern="0" dirty="0">
                <a:solidFill>
                  <a:srgbClr val="C75B39"/>
                </a:solidFill>
                <a:latin typeface="Liter" pitchFamily="34" charset="0"/>
                <a:ea typeface="Liter" pitchFamily="34" charset="-122"/>
                <a:cs typeface="Liter" pitchFamily="34" charset="-120"/>
              </a:rPr>
              <a:t>Section 03</a:t>
            </a:r>
            <a:endParaRPr lang="en-US" sz="1600" dirty="0"/>
          </a:p>
        </p:txBody>
      </p:sp>
      <p:sp>
        <p:nvSpPr>
          <p:cNvPr id="4" name="Text 2"/>
          <p:cNvSpPr/>
          <p:nvPr/>
        </p:nvSpPr>
        <p:spPr>
          <a:xfrm>
            <a:off x="354419" y="637953"/>
            <a:ext cx="11642651" cy="354419"/>
          </a:xfrm>
          <a:prstGeom prst="rect">
            <a:avLst/>
          </a:prstGeom>
          <a:noFill/>
          <a:ln/>
        </p:spPr>
        <p:txBody>
          <a:bodyPr wrap="square" lIns="0" tIns="0" rIns="0" bIns="0" rtlCol="0" anchor="ctr"/>
          <a:lstStyle/>
          <a:p>
            <a:pPr>
              <a:lnSpc>
                <a:spcPct val="90000"/>
              </a:lnSpc>
            </a:pPr>
            <a:r>
              <a:rPr lang="en-US" sz="2512" b="1" dirty="0">
                <a:solidFill>
                  <a:srgbClr val="2E5A4C"/>
                </a:solidFill>
                <a:latin typeface="Oranienbaum" pitchFamily="34" charset="0"/>
                <a:ea typeface="Oranienbaum" pitchFamily="34" charset="-122"/>
                <a:cs typeface="Oranienbaum" pitchFamily="34" charset="-120"/>
              </a:rPr>
              <a:t>Subscription &amp; Shipping Behavior</a:t>
            </a:r>
            <a:endParaRPr lang="en-US" sz="1600" dirty="0"/>
          </a:p>
        </p:txBody>
      </p:sp>
      <p:sp>
        <p:nvSpPr>
          <p:cNvPr id="5" name="Text 3"/>
          <p:cNvSpPr/>
          <p:nvPr/>
        </p:nvSpPr>
        <p:spPr>
          <a:xfrm>
            <a:off x="354419" y="1027814"/>
            <a:ext cx="11562907" cy="248093"/>
          </a:xfrm>
          <a:prstGeom prst="rect">
            <a:avLst/>
          </a:prstGeom>
          <a:noFill/>
          <a:ln/>
        </p:spPr>
        <p:txBody>
          <a:bodyPr wrap="square" lIns="0" tIns="0" rIns="0" bIns="0" rtlCol="0" anchor="ctr"/>
          <a:lstStyle/>
          <a:p>
            <a:pPr>
              <a:lnSpc>
                <a:spcPct val="130000"/>
              </a:lnSpc>
            </a:pPr>
            <a:r>
              <a:rPr lang="en-US" sz="1256" dirty="0">
                <a:solidFill>
                  <a:srgbClr val="2C3E50">
                    <a:alpha val="70000"/>
                  </a:srgbClr>
                </a:solidFill>
                <a:latin typeface="Quattrocento Sans" pitchFamily="34" charset="0"/>
                <a:ea typeface="Quattrocento Sans" pitchFamily="34" charset="-122"/>
                <a:cs typeface="Quattrocento Sans" pitchFamily="34" charset="-120"/>
              </a:rPr>
              <a:t>Value Analysis &amp; Premium Service Insights</a:t>
            </a:r>
            <a:endParaRPr lang="en-US" sz="1600" dirty="0"/>
          </a:p>
        </p:txBody>
      </p:sp>
      <p:sp>
        <p:nvSpPr>
          <p:cNvPr id="6" name="Shape 4"/>
          <p:cNvSpPr/>
          <p:nvPr/>
        </p:nvSpPr>
        <p:spPr>
          <a:xfrm>
            <a:off x="354419" y="1488558"/>
            <a:ext cx="5635256" cy="5369442"/>
          </a:xfrm>
          <a:custGeom>
            <a:avLst/>
            <a:gdLst/>
            <a:ahLst/>
            <a:cxnLst/>
            <a:rect l="l" t="t" r="r" b="b"/>
            <a:pathLst>
              <a:path w="5635256" h="5369442">
                <a:moveTo>
                  <a:pt x="106315" y="0"/>
                </a:moveTo>
                <a:lnTo>
                  <a:pt x="5528941" y="0"/>
                </a:lnTo>
                <a:cubicBezTo>
                  <a:pt x="5587657" y="0"/>
                  <a:pt x="5635256" y="47599"/>
                  <a:pt x="5635256" y="106315"/>
                </a:cubicBezTo>
                <a:lnTo>
                  <a:pt x="5635256" y="5263127"/>
                </a:lnTo>
                <a:cubicBezTo>
                  <a:pt x="5635256" y="5321843"/>
                  <a:pt x="5587657" y="5369442"/>
                  <a:pt x="5528941" y="5369442"/>
                </a:cubicBezTo>
                <a:lnTo>
                  <a:pt x="106315" y="5369442"/>
                </a:lnTo>
                <a:cubicBezTo>
                  <a:pt x="47599" y="5369442"/>
                  <a:pt x="0" y="5321843"/>
                  <a:pt x="0" y="5263127"/>
                </a:cubicBezTo>
                <a:lnTo>
                  <a:pt x="0" y="106315"/>
                </a:lnTo>
                <a:cubicBezTo>
                  <a:pt x="0" y="47638"/>
                  <a:pt x="47638" y="0"/>
                  <a:pt x="106315" y="0"/>
                </a:cubicBezTo>
                <a:close/>
              </a:path>
            </a:pathLst>
          </a:custGeom>
          <a:gradFill rotWithShape="1" flip="none">
            <a:gsLst>
              <a:gs pos="0">
                <a:srgbClr val="2E5A4C"/>
              </a:gs>
              <a:gs pos="100000">
                <a:srgbClr val="2E5A4C">
                  <a:alpha val="90000"/>
                </a:srgbClr>
              </a:gs>
            </a:gsLst>
            <a:lin ang="2700000" scaled="1"/>
          </a:gradFill>
          <a:ln/>
          <a:effectLst>
            <a:outerShdw sx="100000" sy="100000" kx="0" ky="0" algn="bl" rotWithShape="0" blurRad="132907" dist="88605" dir="5400000">
              <a:srgbClr val="000000">
                <a:alpha val="10196"/>
              </a:srgbClr>
            </a:outerShdw>
          </a:effectLst>
        </p:spPr>
      </p:sp>
      <p:sp>
        <p:nvSpPr>
          <p:cNvPr id="7" name="Shape 5"/>
          <p:cNvSpPr/>
          <p:nvPr/>
        </p:nvSpPr>
        <p:spPr>
          <a:xfrm>
            <a:off x="580360" y="1736543"/>
            <a:ext cx="239233" cy="212651"/>
          </a:xfrm>
          <a:custGeom>
            <a:avLst/>
            <a:gdLst/>
            <a:ahLst/>
            <a:cxnLst/>
            <a:rect l="l" t="t" r="r" b="b"/>
            <a:pathLst>
              <a:path w="239233" h="212651">
                <a:moveTo>
                  <a:pt x="130000" y="36217"/>
                </a:moveTo>
                <a:cubicBezTo>
                  <a:pt x="133821" y="33185"/>
                  <a:pt x="136230" y="28492"/>
                  <a:pt x="136230" y="23259"/>
                </a:cubicBezTo>
                <a:cubicBezTo>
                  <a:pt x="136230" y="14080"/>
                  <a:pt x="128795" y="6645"/>
                  <a:pt x="119616" y="6645"/>
                </a:cubicBezTo>
                <a:cubicBezTo>
                  <a:pt x="110437" y="6645"/>
                  <a:pt x="103003" y="14080"/>
                  <a:pt x="103003" y="23259"/>
                </a:cubicBezTo>
                <a:cubicBezTo>
                  <a:pt x="103003" y="28492"/>
                  <a:pt x="105453" y="33185"/>
                  <a:pt x="109233" y="36217"/>
                </a:cubicBezTo>
                <a:lnTo>
                  <a:pt x="80824" y="80907"/>
                </a:lnTo>
                <a:cubicBezTo>
                  <a:pt x="76671" y="87428"/>
                  <a:pt x="67824" y="89048"/>
                  <a:pt x="61636" y="84396"/>
                </a:cubicBezTo>
                <a:lnTo>
                  <a:pt x="36923" y="65914"/>
                </a:lnTo>
                <a:cubicBezTo>
                  <a:pt x="38792" y="63255"/>
                  <a:pt x="39872" y="59974"/>
                  <a:pt x="39872" y="56485"/>
                </a:cubicBezTo>
                <a:cubicBezTo>
                  <a:pt x="39872" y="47307"/>
                  <a:pt x="32438" y="39872"/>
                  <a:pt x="23259" y="39872"/>
                </a:cubicBezTo>
                <a:cubicBezTo>
                  <a:pt x="14080" y="39872"/>
                  <a:pt x="6645" y="47307"/>
                  <a:pt x="6645" y="56485"/>
                </a:cubicBezTo>
                <a:cubicBezTo>
                  <a:pt x="6645" y="65540"/>
                  <a:pt x="13914" y="72933"/>
                  <a:pt x="22926" y="73099"/>
                </a:cubicBezTo>
                <a:lnTo>
                  <a:pt x="36466" y="163434"/>
                </a:lnTo>
                <a:cubicBezTo>
                  <a:pt x="38418" y="176434"/>
                  <a:pt x="49591" y="186070"/>
                  <a:pt x="62757" y="186070"/>
                </a:cubicBezTo>
                <a:lnTo>
                  <a:pt x="176476" y="186070"/>
                </a:lnTo>
                <a:cubicBezTo>
                  <a:pt x="189642" y="186070"/>
                  <a:pt x="200814" y="176434"/>
                  <a:pt x="202766" y="163434"/>
                </a:cubicBezTo>
                <a:lnTo>
                  <a:pt x="216306" y="73099"/>
                </a:lnTo>
                <a:cubicBezTo>
                  <a:pt x="225319" y="72933"/>
                  <a:pt x="232587" y="65540"/>
                  <a:pt x="232587" y="56485"/>
                </a:cubicBezTo>
                <a:cubicBezTo>
                  <a:pt x="232587" y="47307"/>
                  <a:pt x="225153" y="39872"/>
                  <a:pt x="215974" y="39872"/>
                </a:cubicBezTo>
                <a:cubicBezTo>
                  <a:pt x="206795" y="39872"/>
                  <a:pt x="199360" y="47307"/>
                  <a:pt x="199360" y="56485"/>
                </a:cubicBezTo>
                <a:cubicBezTo>
                  <a:pt x="199360" y="59974"/>
                  <a:pt x="200440" y="63255"/>
                  <a:pt x="202309" y="65914"/>
                </a:cubicBezTo>
                <a:lnTo>
                  <a:pt x="177638" y="84437"/>
                </a:lnTo>
                <a:cubicBezTo>
                  <a:pt x="171450" y="89089"/>
                  <a:pt x="162603" y="87469"/>
                  <a:pt x="158450" y="80949"/>
                </a:cubicBezTo>
                <a:lnTo>
                  <a:pt x="130000" y="36217"/>
                </a:lnTo>
                <a:close/>
              </a:path>
            </a:pathLst>
          </a:custGeom>
          <a:solidFill>
            <a:srgbClr val="D4A574"/>
          </a:solidFill>
          <a:ln/>
        </p:spPr>
      </p:sp>
      <p:sp>
        <p:nvSpPr>
          <p:cNvPr id="8" name="Text 6"/>
          <p:cNvSpPr/>
          <p:nvPr/>
        </p:nvSpPr>
        <p:spPr>
          <a:xfrm>
            <a:off x="832884" y="1701209"/>
            <a:ext cx="5050465" cy="283535"/>
          </a:xfrm>
          <a:prstGeom prst="rect">
            <a:avLst/>
          </a:prstGeom>
          <a:noFill/>
          <a:ln/>
        </p:spPr>
        <p:txBody>
          <a:bodyPr wrap="square" lIns="0" tIns="0" rIns="0" bIns="0" rtlCol="0" anchor="ctr"/>
          <a:lstStyle/>
          <a:p>
            <a:pPr>
              <a:lnSpc>
                <a:spcPct val="110000"/>
              </a:lnSpc>
            </a:pPr>
            <a:r>
              <a:rPr lang="en-US" sz="1674" b="1" dirty="0">
                <a:solidFill>
                  <a:srgbClr val="FFFFFF"/>
                </a:solidFill>
                <a:latin typeface="Liter" pitchFamily="34" charset="0"/>
                <a:ea typeface="Liter" pitchFamily="34" charset="-122"/>
                <a:cs typeface="Liter" pitchFamily="34" charset="-120"/>
              </a:rPr>
              <a:t>Subscribers vs Non-Subscribers</a:t>
            </a:r>
            <a:endParaRPr lang="en-US" sz="1600" dirty="0"/>
          </a:p>
        </p:txBody>
      </p:sp>
      <p:sp>
        <p:nvSpPr>
          <p:cNvPr id="9" name="Shape 7"/>
          <p:cNvSpPr/>
          <p:nvPr/>
        </p:nvSpPr>
        <p:spPr>
          <a:xfrm>
            <a:off x="567070" y="2454349"/>
            <a:ext cx="5209953" cy="1594884"/>
          </a:xfrm>
          <a:custGeom>
            <a:avLst/>
            <a:gdLst/>
            <a:ahLst/>
            <a:cxnLst/>
            <a:rect l="l" t="t" r="r" b="b"/>
            <a:pathLst>
              <a:path w="5209953" h="1594884">
                <a:moveTo>
                  <a:pt x="70877" y="0"/>
                </a:moveTo>
                <a:lnTo>
                  <a:pt x="5139077" y="0"/>
                </a:lnTo>
                <a:cubicBezTo>
                  <a:pt x="5178221" y="0"/>
                  <a:pt x="5209953" y="31733"/>
                  <a:pt x="5209953" y="70877"/>
                </a:cubicBezTo>
                <a:lnTo>
                  <a:pt x="5209953" y="1524007"/>
                </a:lnTo>
                <a:cubicBezTo>
                  <a:pt x="5209953" y="1563151"/>
                  <a:pt x="5178221" y="1594884"/>
                  <a:pt x="5139077" y="1594884"/>
                </a:cubicBezTo>
                <a:lnTo>
                  <a:pt x="70877" y="1594884"/>
                </a:lnTo>
                <a:cubicBezTo>
                  <a:pt x="31733" y="1594884"/>
                  <a:pt x="0" y="1563151"/>
                  <a:pt x="0" y="1524007"/>
                </a:cubicBezTo>
                <a:lnTo>
                  <a:pt x="0" y="70877"/>
                </a:lnTo>
                <a:cubicBezTo>
                  <a:pt x="0" y="31759"/>
                  <a:pt x="31759" y="0"/>
                  <a:pt x="70877" y="0"/>
                </a:cubicBezTo>
                <a:close/>
              </a:path>
            </a:pathLst>
          </a:custGeom>
          <a:solidFill>
            <a:srgbClr val="FFFFFF">
              <a:alpha val="10196"/>
            </a:srgbClr>
          </a:solidFill>
          <a:ln/>
        </p:spPr>
      </p:sp>
      <p:sp>
        <p:nvSpPr>
          <p:cNvPr id="10" name="Shape 8"/>
          <p:cNvSpPr/>
          <p:nvPr/>
        </p:nvSpPr>
        <p:spPr>
          <a:xfrm>
            <a:off x="744279" y="2631558"/>
            <a:ext cx="425302" cy="425302"/>
          </a:xfrm>
          <a:custGeom>
            <a:avLst/>
            <a:gdLst/>
            <a:ahLst/>
            <a:cxnLst/>
            <a:rect l="l" t="t" r="r" b="b"/>
            <a:pathLst>
              <a:path w="425302" h="425302">
                <a:moveTo>
                  <a:pt x="212651" y="0"/>
                </a:moveTo>
                <a:lnTo>
                  <a:pt x="212651" y="0"/>
                </a:lnTo>
                <a:cubicBezTo>
                  <a:pt x="330017" y="0"/>
                  <a:pt x="425302" y="95286"/>
                  <a:pt x="425302" y="212651"/>
                </a:cubicBezTo>
                <a:lnTo>
                  <a:pt x="425302" y="212651"/>
                </a:lnTo>
                <a:cubicBezTo>
                  <a:pt x="425302" y="330017"/>
                  <a:pt x="330017" y="425302"/>
                  <a:pt x="212651" y="425302"/>
                </a:cubicBezTo>
                <a:lnTo>
                  <a:pt x="212651" y="425302"/>
                </a:lnTo>
                <a:cubicBezTo>
                  <a:pt x="95286" y="425302"/>
                  <a:pt x="0" y="330017"/>
                  <a:pt x="0" y="212651"/>
                </a:cubicBezTo>
                <a:lnTo>
                  <a:pt x="0" y="212651"/>
                </a:lnTo>
                <a:cubicBezTo>
                  <a:pt x="0" y="95286"/>
                  <a:pt x="95286" y="0"/>
                  <a:pt x="212651" y="0"/>
                </a:cubicBezTo>
                <a:close/>
              </a:path>
            </a:pathLst>
          </a:custGeom>
          <a:solidFill>
            <a:srgbClr val="D4A574"/>
          </a:solidFill>
          <a:ln/>
        </p:spPr>
      </p:sp>
      <p:sp>
        <p:nvSpPr>
          <p:cNvPr id="11" name="Shape 9"/>
          <p:cNvSpPr/>
          <p:nvPr/>
        </p:nvSpPr>
        <p:spPr>
          <a:xfrm>
            <a:off x="857250" y="2755605"/>
            <a:ext cx="199360" cy="177209"/>
          </a:xfrm>
          <a:custGeom>
            <a:avLst/>
            <a:gdLst/>
            <a:ahLst/>
            <a:cxnLst/>
            <a:rect l="l" t="t" r="r" b="b"/>
            <a:pathLst>
              <a:path w="199360" h="177209">
                <a:moveTo>
                  <a:pt x="108333" y="30181"/>
                </a:moveTo>
                <a:cubicBezTo>
                  <a:pt x="111517" y="27654"/>
                  <a:pt x="113525" y="23743"/>
                  <a:pt x="113525" y="19382"/>
                </a:cubicBezTo>
                <a:cubicBezTo>
                  <a:pt x="113525" y="11733"/>
                  <a:pt x="107329" y="5538"/>
                  <a:pt x="99680" y="5538"/>
                </a:cubicBezTo>
                <a:cubicBezTo>
                  <a:pt x="92031" y="5538"/>
                  <a:pt x="85836" y="11733"/>
                  <a:pt x="85836" y="19382"/>
                </a:cubicBezTo>
                <a:cubicBezTo>
                  <a:pt x="85836" y="23743"/>
                  <a:pt x="87878" y="27654"/>
                  <a:pt x="91027" y="30181"/>
                </a:cubicBezTo>
                <a:lnTo>
                  <a:pt x="67353" y="67423"/>
                </a:lnTo>
                <a:cubicBezTo>
                  <a:pt x="63892" y="72857"/>
                  <a:pt x="56520" y="74206"/>
                  <a:pt x="51363" y="70330"/>
                </a:cubicBezTo>
                <a:lnTo>
                  <a:pt x="30769" y="54928"/>
                </a:lnTo>
                <a:cubicBezTo>
                  <a:pt x="32327" y="52713"/>
                  <a:pt x="33227" y="49979"/>
                  <a:pt x="33227" y="47071"/>
                </a:cubicBezTo>
                <a:cubicBezTo>
                  <a:pt x="33227" y="39422"/>
                  <a:pt x="27031" y="33227"/>
                  <a:pt x="19382" y="33227"/>
                </a:cubicBezTo>
                <a:cubicBezTo>
                  <a:pt x="11733" y="33227"/>
                  <a:pt x="5538" y="39422"/>
                  <a:pt x="5538" y="47071"/>
                </a:cubicBezTo>
                <a:cubicBezTo>
                  <a:pt x="5538" y="54616"/>
                  <a:pt x="11595" y="60777"/>
                  <a:pt x="19105" y="60916"/>
                </a:cubicBezTo>
                <a:lnTo>
                  <a:pt x="30389" y="136195"/>
                </a:lnTo>
                <a:cubicBezTo>
                  <a:pt x="32015" y="147028"/>
                  <a:pt x="41326" y="155058"/>
                  <a:pt x="52298" y="155058"/>
                </a:cubicBezTo>
                <a:lnTo>
                  <a:pt x="147063" y="155058"/>
                </a:lnTo>
                <a:cubicBezTo>
                  <a:pt x="158035" y="155058"/>
                  <a:pt x="167345" y="147028"/>
                  <a:pt x="168972" y="136195"/>
                </a:cubicBezTo>
                <a:lnTo>
                  <a:pt x="180255" y="60916"/>
                </a:lnTo>
                <a:cubicBezTo>
                  <a:pt x="187766" y="60777"/>
                  <a:pt x="193823" y="54616"/>
                  <a:pt x="193823" y="47071"/>
                </a:cubicBezTo>
                <a:cubicBezTo>
                  <a:pt x="193823" y="39422"/>
                  <a:pt x="187627" y="33227"/>
                  <a:pt x="179978" y="33227"/>
                </a:cubicBezTo>
                <a:cubicBezTo>
                  <a:pt x="172329" y="33227"/>
                  <a:pt x="166134" y="39422"/>
                  <a:pt x="166134" y="47071"/>
                </a:cubicBezTo>
                <a:cubicBezTo>
                  <a:pt x="166134" y="49979"/>
                  <a:pt x="167034" y="52713"/>
                  <a:pt x="168591" y="54928"/>
                </a:cubicBezTo>
                <a:lnTo>
                  <a:pt x="148032" y="70365"/>
                </a:lnTo>
                <a:cubicBezTo>
                  <a:pt x="142875" y="74241"/>
                  <a:pt x="135503" y="72891"/>
                  <a:pt x="132042" y="67457"/>
                </a:cubicBezTo>
                <a:lnTo>
                  <a:pt x="108333" y="30181"/>
                </a:lnTo>
                <a:close/>
              </a:path>
            </a:pathLst>
          </a:custGeom>
          <a:solidFill>
            <a:srgbClr val="FFFFFF"/>
          </a:solidFill>
          <a:ln/>
        </p:spPr>
      </p:sp>
      <p:sp>
        <p:nvSpPr>
          <p:cNvPr id="12" name="Text 10"/>
          <p:cNvSpPr/>
          <p:nvPr/>
        </p:nvSpPr>
        <p:spPr>
          <a:xfrm>
            <a:off x="1275907" y="2631558"/>
            <a:ext cx="939209" cy="248093"/>
          </a:xfrm>
          <a:prstGeom prst="rect">
            <a:avLst/>
          </a:prstGeom>
          <a:noFill/>
          <a:ln/>
        </p:spPr>
        <p:txBody>
          <a:bodyPr wrap="square" lIns="0" tIns="0" rIns="0" bIns="0" rtlCol="0" anchor="ctr"/>
          <a:lstStyle/>
          <a:p>
            <a:pPr>
              <a:lnSpc>
                <a:spcPct val="130000"/>
              </a:lnSpc>
            </a:pPr>
            <a:r>
              <a:rPr lang="en-US" sz="1256" b="1" dirty="0">
                <a:solidFill>
                  <a:srgbClr val="FFFFFF"/>
                </a:solidFill>
                <a:latin typeface="Liter" pitchFamily="34" charset="0"/>
                <a:ea typeface="Liter" pitchFamily="34" charset="-122"/>
                <a:cs typeface="Liter" pitchFamily="34" charset="-120"/>
              </a:rPr>
              <a:t>Subscribers</a:t>
            </a:r>
            <a:endParaRPr lang="en-US" sz="1600" dirty="0"/>
          </a:p>
        </p:txBody>
      </p:sp>
      <p:sp>
        <p:nvSpPr>
          <p:cNvPr id="13" name="Text 11"/>
          <p:cNvSpPr/>
          <p:nvPr/>
        </p:nvSpPr>
        <p:spPr>
          <a:xfrm>
            <a:off x="1275907" y="2879651"/>
            <a:ext cx="921488" cy="177209"/>
          </a:xfrm>
          <a:prstGeom prst="rect">
            <a:avLst/>
          </a:prstGeom>
          <a:noFill/>
          <a:ln/>
        </p:spPr>
        <p:txBody>
          <a:bodyPr wrap="square" lIns="0" tIns="0" rIns="0" bIns="0" rtlCol="0" anchor="ctr"/>
          <a:lstStyle/>
          <a:p>
            <a:pP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1,456 customers</a:t>
            </a:r>
            <a:endParaRPr lang="en-US" sz="1600" dirty="0"/>
          </a:p>
        </p:txBody>
      </p:sp>
      <p:sp>
        <p:nvSpPr>
          <p:cNvPr id="14" name="Shape 12"/>
          <p:cNvSpPr/>
          <p:nvPr/>
        </p:nvSpPr>
        <p:spPr>
          <a:xfrm>
            <a:off x="744279" y="3163186"/>
            <a:ext cx="2374605" cy="708837"/>
          </a:xfrm>
          <a:custGeom>
            <a:avLst/>
            <a:gdLst/>
            <a:ahLst/>
            <a:cxnLst/>
            <a:rect l="l" t="t" r="r" b="b"/>
            <a:pathLst>
              <a:path w="2374605" h="708837">
                <a:moveTo>
                  <a:pt x="70884" y="0"/>
                </a:moveTo>
                <a:lnTo>
                  <a:pt x="2303721" y="0"/>
                </a:lnTo>
                <a:cubicBezTo>
                  <a:pt x="2342869" y="0"/>
                  <a:pt x="2374605" y="31736"/>
                  <a:pt x="2374605" y="70884"/>
                </a:cubicBezTo>
                <a:lnTo>
                  <a:pt x="2374605" y="637953"/>
                </a:lnTo>
                <a:cubicBezTo>
                  <a:pt x="2374605" y="677101"/>
                  <a:pt x="2342869" y="708837"/>
                  <a:pt x="2303721" y="708837"/>
                </a:cubicBezTo>
                <a:lnTo>
                  <a:pt x="70884" y="708837"/>
                </a:lnTo>
                <a:cubicBezTo>
                  <a:pt x="31736" y="708837"/>
                  <a:pt x="0" y="677101"/>
                  <a:pt x="0" y="637953"/>
                </a:cubicBezTo>
                <a:lnTo>
                  <a:pt x="0" y="70884"/>
                </a:lnTo>
                <a:cubicBezTo>
                  <a:pt x="0" y="31762"/>
                  <a:pt x="31762" y="0"/>
                  <a:pt x="70884" y="0"/>
                </a:cubicBezTo>
                <a:close/>
              </a:path>
            </a:pathLst>
          </a:custGeom>
          <a:solidFill>
            <a:srgbClr val="FFFFFF">
              <a:alpha val="10196"/>
            </a:srgbClr>
          </a:solidFill>
          <a:ln/>
        </p:spPr>
      </p:sp>
      <p:sp>
        <p:nvSpPr>
          <p:cNvPr id="15" name="Text 13"/>
          <p:cNvSpPr/>
          <p:nvPr/>
        </p:nvSpPr>
        <p:spPr>
          <a:xfrm>
            <a:off x="819593" y="3269512"/>
            <a:ext cx="2223977" cy="177209"/>
          </a:xfrm>
          <a:prstGeom prst="rect">
            <a:avLst/>
          </a:prstGeom>
          <a:noFill/>
          <a:ln/>
        </p:spPr>
        <p:txBody>
          <a:bodyPr wrap="square" lIns="0" tIns="0" rIns="0" bIns="0" rtlCol="0" anchor="ctr"/>
          <a:lstStyle/>
          <a:p>
            <a:pPr algn="ct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Avg Spend</a:t>
            </a:r>
            <a:endParaRPr lang="en-US" sz="1600" dirty="0"/>
          </a:p>
        </p:txBody>
      </p:sp>
      <p:sp>
        <p:nvSpPr>
          <p:cNvPr id="16" name="Text 14"/>
          <p:cNvSpPr/>
          <p:nvPr/>
        </p:nvSpPr>
        <p:spPr>
          <a:xfrm>
            <a:off x="797442" y="3482163"/>
            <a:ext cx="2268279" cy="283535"/>
          </a:xfrm>
          <a:prstGeom prst="rect">
            <a:avLst/>
          </a:prstGeom>
          <a:noFill/>
          <a:ln/>
        </p:spPr>
        <p:txBody>
          <a:bodyPr wrap="square" lIns="0" tIns="0" rIns="0" bIns="0" rtlCol="0" anchor="ctr"/>
          <a:lstStyle/>
          <a:p>
            <a:pPr algn="ctr">
              <a:lnSpc>
                <a:spcPct val="110000"/>
              </a:lnSpc>
            </a:pPr>
            <a:r>
              <a:rPr lang="en-US" sz="1674" b="1" dirty="0">
                <a:solidFill>
                  <a:srgbClr val="D4A574"/>
                </a:solidFill>
                <a:latin typeface="Oranienbaum" pitchFamily="34" charset="0"/>
                <a:ea typeface="Oranienbaum" pitchFamily="34" charset="-122"/>
                <a:cs typeface="Oranienbaum" pitchFamily="34" charset="-120"/>
              </a:rPr>
              <a:t>$142</a:t>
            </a:r>
            <a:endParaRPr lang="en-US" sz="1600" dirty="0"/>
          </a:p>
        </p:txBody>
      </p:sp>
      <p:sp>
        <p:nvSpPr>
          <p:cNvPr id="17" name="Shape 15"/>
          <p:cNvSpPr/>
          <p:nvPr/>
        </p:nvSpPr>
        <p:spPr>
          <a:xfrm>
            <a:off x="3225209" y="3163186"/>
            <a:ext cx="2374605" cy="708837"/>
          </a:xfrm>
          <a:custGeom>
            <a:avLst/>
            <a:gdLst/>
            <a:ahLst/>
            <a:cxnLst/>
            <a:rect l="l" t="t" r="r" b="b"/>
            <a:pathLst>
              <a:path w="2374605" h="708837">
                <a:moveTo>
                  <a:pt x="70884" y="0"/>
                </a:moveTo>
                <a:lnTo>
                  <a:pt x="2303721" y="0"/>
                </a:lnTo>
                <a:cubicBezTo>
                  <a:pt x="2342869" y="0"/>
                  <a:pt x="2374605" y="31736"/>
                  <a:pt x="2374605" y="70884"/>
                </a:cubicBezTo>
                <a:lnTo>
                  <a:pt x="2374605" y="637953"/>
                </a:lnTo>
                <a:cubicBezTo>
                  <a:pt x="2374605" y="677101"/>
                  <a:pt x="2342869" y="708837"/>
                  <a:pt x="2303721" y="708837"/>
                </a:cubicBezTo>
                <a:lnTo>
                  <a:pt x="70884" y="708837"/>
                </a:lnTo>
                <a:cubicBezTo>
                  <a:pt x="31736" y="708837"/>
                  <a:pt x="0" y="677101"/>
                  <a:pt x="0" y="637953"/>
                </a:cubicBezTo>
                <a:lnTo>
                  <a:pt x="0" y="70884"/>
                </a:lnTo>
                <a:cubicBezTo>
                  <a:pt x="0" y="31762"/>
                  <a:pt x="31762" y="0"/>
                  <a:pt x="70884" y="0"/>
                </a:cubicBezTo>
                <a:close/>
              </a:path>
            </a:pathLst>
          </a:custGeom>
          <a:solidFill>
            <a:srgbClr val="FFFFFF">
              <a:alpha val="10196"/>
            </a:srgbClr>
          </a:solidFill>
          <a:ln/>
        </p:spPr>
      </p:sp>
      <p:sp>
        <p:nvSpPr>
          <p:cNvPr id="18" name="Text 16"/>
          <p:cNvSpPr/>
          <p:nvPr/>
        </p:nvSpPr>
        <p:spPr>
          <a:xfrm>
            <a:off x="3300523" y="3269512"/>
            <a:ext cx="2223977" cy="177209"/>
          </a:xfrm>
          <a:prstGeom prst="rect">
            <a:avLst/>
          </a:prstGeom>
          <a:noFill/>
          <a:ln/>
        </p:spPr>
        <p:txBody>
          <a:bodyPr wrap="square" lIns="0" tIns="0" rIns="0" bIns="0" rtlCol="0" anchor="ctr"/>
          <a:lstStyle/>
          <a:p>
            <a:pPr algn="ct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Total Revenue</a:t>
            </a:r>
            <a:endParaRPr lang="en-US" sz="1600" dirty="0"/>
          </a:p>
        </p:txBody>
      </p:sp>
      <p:sp>
        <p:nvSpPr>
          <p:cNvPr id="19" name="Text 17"/>
          <p:cNvSpPr/>
          <p:nvPr/>
        </p:nvSpPr>
        <p:spPr>
          <a:xfrm>
            <a:off x="3287233" y="3482163"/>
            <a:ext cx="2250558" cy="248093"/>
          </a:xfrm>
          <a:prstGeom prst="rect">
            <a:avLst/>
          </a:prstGeom>
          <a:noFill/>
          <a:ln/>
        </p:spPr>
        <p:txBody>
          <a:bodyPr wrap="square" lIns="0" tIns="0" rIns="0" bIns="0" rtlCol="0" anchor="ctr"/>
          <a:lstStyle/>
          <a:p>
            <a:pPr algn="ctr">
              <a:lnSpc>
                <a:spcPct val="120000"/>
              </a:lnSpc>
            </a:pPr>
            <a:r>
              <a:rPr lang="en-US" sz="1395" b="1" dirty="0">
                <a:solidFill>
                  <a:srgbClr val="FFFFFF"/>
                </a:solidFill>
                <a:latin typeface="Oranienbaum" pitchFamily="34" charset="0"/>
                <a:ea typeface="Oranienbaum" pitchFamily="34" charset="-122"/>
                <a:cs typeface="Oranienbaum" pitchFamily="34" charset="-120"/>
              </a:rPr>
              <a:t>$206,752</a:t>
            </a:r>
            <a:endParaRPr lang="en-US" sz="1600" dirty="0"/>
          </a:p>
        </p:txBody>
      </p:sp>
      <p:sp>
        <p:nvSpPr>
          <p:cNvPr id="20" name="Shape 18"/>
          <p:cNvSpPr/>
          <p:nvPr/>
        </p:nvSpPr>
        <p:spPr>
          <a:xfrm>
            <a:off x="567070" y="4190892"/>
            <a:ext cx="5209953" cy="1594884"/>
          </a:xfrm>
          <a:custGeom>
            <a:avLst/>
            <a:gdLst/>
            <a:ahLst/>
            <a:cxnLst/>
            <a:rect l="l" t="t" r="r" b="b"/>
            <a:pathLst>
              <a:path w="5209953" h="1594884">
                <a:moveTo>
                  <a:pt x="70877" y="0"/>
                </a:moveTo>
                <a:lnTo>
                  <a:pt x="5139077" y="0"/>
                </a:lnTo>
                <a:cubicBezTo>
                  <a:pt x="5178221" y="0"/>
                  <a:pt x="5209953" y="31733"/>
                  <a:pt x="5209953" y="70877"/>
                </a:cubicBezTo>
                <a:lnTo>
                  <a:pt x="5209953" y="1524007"/>
                </a:lnTo>
                <a:cubicBezTo>
                  <a:pt x="5209953" y="1563151"/>
                  <a:pt x="5178221" y="1594884"/>
                  <a:pt x="5139077" y="1594884"/>
                </a:cubicBezTo>
                <a:lnTo>
                  <a:pt x="70877" y="1594884"/>
                </a:lnTo>
                <a:cubicBezTo>
                  <a:pt x="31733" y="1594884"/>
                  <a:pt x="0" y="1563151"/>
                  <a:pt x="0" y="1524007"/>
                </a:cubicBezTo>
                <a:lnTo>
                  <a:pt x="0" y="70877"/>
                </a:lnTo>
                <a:cubicBezTo>
                  <a:pt x="0" y="31759"/>
                  <a:pt x="31759" y="0"/>
                  <a:pt x="70877" y="0"/>
                </a:cubicBezTo>
                <a:close/>
              </a:path>
            </a:pathLst>
          </a:custGeom>
          <a:solidFill>
            <a:srgbClr val="FFFFFF">
              <a:alpha val="10196"/>
            </a:srgbClr>
          </a:solidFill>
          <a:ln/>
        </p:spPr>
      </p:sp>
      <p:sp>
        <p:nvSpPr>
          <p:cNvPr id="21" name="Shape 19"/>
          <p:cNvSpPr/>
          <p:nvPr/>
        </p:nvSpPr>
        <p:spPr>
          <a:xfrm>
            <a:off x="744279" y="4368101"/>
            <a:ext cx="425302" cy="425302"/>
          </a:xfrm>
          <a:custGeom>
            <a:avLst/>
            <a:gdLst/>
            <a:ahLst/>
            <a:cxnLst/>
            <a:rect l="l" t="t" r="r" b="b"/>
            <a:pathLst>
              <a:path w="425302" h="425302">
                <a:moveTo>
                  <a:pt x="212651" y="0"/>
                </a:moveTo>
                <a:lnTo>
                  <a:pt x="212651" y="0"/>
                </a:lnTo>
                <a:cubicBezTo>
                  <a:pt x="330017" y="0"/>
                  <a:pt x="425302" y="95286"/>
                  <a:pt x="425302" y="212651"/>
                </a:cubicBezTo>
                <a:lnTo>
                  <a:pt x="425302" y="212651"/>
                </a:lnTo>
                <a:cubicBezTo>
                  <a:pt x="425302" y="330017"/>
                  <a:pt x="330017" y="425302"/>
                  <a:pt x="212651" y="425302"/>
                </a:cubicBezTo>
                <a:lnTo>
                  <a:pt x="212651" y="425302"/>
                </a:lnTo>
                <a:cubicBezTo>
                  <a:pt x="95286" y="425302"/>
                  <a:pt x="0" y="330017"/>
                  <a:pt x="0" y="212651"/>
                </a:cubicBezTo>
                <a:lnTo>
                  <a:pt x="0" y="212651"/>
                </a:lnTo>
                <a:cubicBezTo>
                  <a:pt x="0" y="95286"/>
                  <a:pt x="95286" y="0"/>
                  <a:pt x="212651" y="0"/>
                </a:cubicBezTo>
                <a:close/>
              </a:path>
            </a:pathLst>
          </a:custGeom>
          <a:solidFill>
            <a:srgbClr val="FFFFFF">
              <a:alpha val="20000"/>
            </a:srgbClr>
          </a:solidFill>
          <a:ln/>
        </p:spPr>
      </p:sp>
      <p:sp>
        <p:nvSpPr>
          <p:cNvPr id="22" name="Shape 20"/>
          <p:cNvSpPr/>
          <p:nvPr/>
        </p:nvSpPr>
        <p:spPr>
          <a:xfrm>
            <a:off x="879401" y="4492148"/>
            <a:ext cx="155058" cy="177209"/>
          </a:xfrm>
          <a:custGeom>
            <a:avLst/>
            <a:gdLst/>
            <a:ahLst/>
            <a:cxnLst/>
            <a:rect l="l" t="t" r="r" b="b"/>
            <a:pathLst>
              <a:path w="155058" h="177209">
                <a:moveTo>
                  <a:pt x="77529" y="85836"/>
                </a:moveTo>
                <a:cubicBezTo>
                  <a:pt x="100452" y="85836"/>
                  <a:pt x="119063" y="67225"/>
                  <a:pt x="119063" y="44302"/>
                </a:cubicBezTo>
                <a:cubicBezTo>
                  <a:pt x="119063" y="21379"/>
                  <a:pt x="100452" y="2769"/>
                  <a:pt x="77529" y="2769"/>
                </a:cubicBezTo>
                <a:cubicBezTo>
                  <a:pt x="54606" y="2769"/>
                  <a:pt x="35996" y="21379"/>
                  <a:pt x="35996" y="44302"/>
                </a:cubicBezTo>
                <a:cubicBezTo>
                  <a:pt x="35996" y="67225"/>
                  <a:pt x="54606" y="85836"/>
                  <a:pt x="77529" y="85836"/>
                </a:cubicBezTo>
                <a:close/>
                <a:moveTo>
                  <a:pt x="67250" y="105218"/>
                </a:moveTo>
                <a:cubicBezTo>
                  <a:pt x="33158" y="105218"/>
                  <a:pt x="5538" y="132838"/>
                  <a:pt x="5538" y="166930"/>
                </a:cubicBezTo>
                <a:cubicBezTo>
                  <a:pt x="5538" y="172606"/>
                  <a:pt x="10141" y="177209"/>
                  <a:pt x="15817" y="177209"/>
                </a:cubicBezTo>
                <a:lnTo>
                  <a:pt x="139241" y="177209"/>
                </a:lnTo>
                <a:cubicBezTo>
                  <a:pt x="144917" y="177209"/>
                  <a:pt x="149520" y="172606"/>
                  <a:pt x="149520" y="166930"/>
                </a:cubicBezTo>
                <a:cubicBezTo>
                  <a:pt x="149520" y="132838"/>
                  <a:pt x="121901" y="105218"/>
                  <a:pt x="87809" y="105218"/>
                </a:cubicBezTo>
                <a:lnTo>
                  <a:pt x="67250" y="105218"/>
                </a:lnTo>
                <a:close/>
              </a:path>
            </a:pathLst>
          </a:custGeom>
          <a:solidFill>
            <a:srgbClr val="FFFFFF"/>
          </a:solidFill>
          <a:ln/>
        </p:spPr>
      </p:sp>
      <p:sp>
        <p:nvSpPr>
          <p:cNvPr id="23" name="Text 21"/>
          <p:cNvSpPr/>
          <p:nvPr/>
        </p:nvSpPr>
        <p:spPr>
          <a:xfrm>
            <a:off x="1275907" y="4368101"/>
            <a:ext cx="1275907" cy="248093"/>
          </a:xfrm>
          <a:prstGeom prst="rect">
            <a:avLst/>
          </a:prstGeom>
          <a:noFill/>
          <a:ln/>
        </p:spPr>
        <p:txBody>
          <a:bodyPr wrap="square" lIns="0" tIns="0" rIns="0" bIns="0" rtlCol="0" anchor="ctr"/>
          <a:lstStyle/>
          <a:p>
            <a:pPr>
              <a:lnSpc>
                <a:spcPct val="130000"/>
              </a:lnSpc>
            </a:pPr>
            <a:r>
              <a:rPr lang="en-US" sz="1256" b="1" dirty="0">
                <a:solidFill>
                  <a:srgbClr val="FFFFFF"/>
                </a:solidFill>
                <a:latin typeface="Liter" pitchFamily="34" charset="0"/>
                <a:ea typeface="Liter" pitchFamily="34" charset="-122"/>
                <a:cs typeface="Liter" pitchFamily="34" charset="-120"/>
              </a:rPr>
              <a:t>Non-Subscribers</a:t>
            </a:r>
            <a:endParaRPr lang="en-US" sz="1600" dirty="0"/>
          </a:p>
        </p:txBody>
      </p:sp>
      <p:sp>
        <p:nvSpPr>
          <p:cNvPr id="24" name="Text 22"/>
          <p:cNvSpPr/>
          <p:nvPr/>
        </p:nvSpPr>
        <p:spPr>
          <a:xfrm>
            <a:off x="1275907" y="4616194"/>
            <a:ext cx="1258186" cy="177209"/>
          </a:xfrm>
          <a:prstGeom prst="rect">
            <a:avLst/>
          </a:prstGeom>
          <a:noFill/>
          <a:ln/>
        </p:spPr>
        <p:txBody>
          <a:bodyPr wrap="square" lIns="0" tIns="0" rIns="0" bIns="0" rtlCol="0" anchor="ctr"/>
          <a:lstStyle/>
          <a:p>
            <a:pP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2,444 customers</a:t>
            </a:r>
            <a:endParaRPr lang="en-US" sz="1600" dirty="0"/>
          </a:p>
        </p:txBody>
      </p:sp>
      <p:sp>
        <p:nvSpPr>
          <p:cNvPr id="25" name="Shape 23"/>
          <p:cNvSpPr/>
          <p:nvPr/>
        </p:nvSpPr>
        <p:spPr>
          <a:xfrm>
            <a:off x="744279" y="4899729"/>
            <a:ext cx="2374605" cy="708837"/>
          </a:xfrm>
          <a:custGeom>
            <a:avLst/>
            <a:gdLst/>
            <a:ahLst/>
            <a:cxnLst/>
            <a:rect l="l" t="t" r="r" b="b"/>
            <a:pathLst>
              <a:path w="2374605" h="708837">
                <a:moveTo>
                  <a:pt x="70884" y="0"/>
                </a:moveTo>
                <a:lnTo>
                  <a:pt x="2303721" y="0"/>
                </a:lnTo>
                <a:cubicBezTo>
                  <a:pt x="2342869" y="0"/>
                  <a:pt x="2374605" y="31736"/>
                  <a:pt x="2374605" y="70884"/>
                </a:cubicBezTo>
                <a:lnTo>
                  <a:pt x="2374605" y="637953"/>
                </a:lnTo>
                <a:cubicBezTo>
                  <a:pt x="2374605" y="677101"/>
                  <a:pt x="2342869" y="708837"/>
                  <a:pt x="2303721" y="708837"/>
                </a:cubicBezTo>
                <a:lnTo>
                  <a:pt x="70884" y="708837"/>
                </a:lnTo>
                <a:cubicBezTo>
                  <a:pt x="31736" y="708837"/>
                  <a:pt x="0" y="677101"/>
                  <a:pt x="0" y="637953"/>
                </a:cubicBezTo>
                <a:lnTo>
                  <a:pt x="0" y="70884"/>
                </a:lnTo>
                <a:cubicBezTo>
                  <a:pt x="0" y="31762"/>
                  <a:pt x="31762" y="0"/>
                  <a:pt x="70884" y="0"/>
                </a:cubicBezTo>
                <a:close/>
              </a:path>
            </a:pathLst>
          </a:custGeom>
          <a:solidFill>
            <a:srgbClr val="FFFFFF">
              <a:alpha val="10196"/>
            </a:srgbClr>
          </a:solidFill>
          <a:ln/>
        </p:spPr>
      </p:sp>
      <p:sp>
        <p:nvSpPr>
          <p:cNvPr id="26" name="Text 24"/>
          <p:cNvSpPr/>
          <p:nvPr/>
        </p:nvSpPr>
        <p:spPr>
          <a:xfrm>
            <a:off x="819593" y="5006055"/>
            <a:ext cx="2223977" cy="177209"/>
          </a:xfrm>
          <a:prstGeom prst="rect">
            <a:avLst/>
          </a:prstGeom>
          <a:noFill/>
          <a:ln/>
        </p:spPr>
        <p:txBody>
          <a:bodyPr wrap="square" lIns="0" tIns="0" rIns="0" bIns="0" rtlCol="0" anchor="ctr"/>
          <a:lstStyle/>
          <a:p>
            <a:pPr algn="ct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Avg Spend</a:t>
            </a:r>
            <a:endParaRPr lang="en-US" sz="1600" dirty="0"/>
          </a:p>
        </p:txBody>
      </p:sp>
      <p:sp>
        <p:nvSpPr>
          <p:cNvPr id="27" name="Text 25"/>
          <p:cNvSpPr/>
          <p:nvPr/>
        </p:nvSpPr>
        <p:spPr>
          <a:xfrm>
            <a:off x="797442" y="5218706"/>
            <a:ext cx="2268279" cy="283535"/>
          </a:xfrm>
          <a:prstGeom prst="rect">
            <a:avLst/>
          </a:prstGeom>
          <a:noFill/>
          <a:ln/>
        </p:spPr>
        <p:txBody>
          <a:bodyPr wrap="square" lIns="0" tIns="0" rIns="0" bIns="0" rtlCol="0" anchor="ctr"/>
          <a:lstStyle/>
          <a:p>
            <a:pPr algn="ctr">
              <a:lnSpc>
                <a:spcPct val="110000"/>
              </a:lnSpc>
            </a:pPr>
            <a:r>
              <a:rPr lang="en-US" sz="1674" b="1" dirty="0">
                <a:solidFill>
                  <a:srgbClr val="FFFFFF"/>
                </a:solidFill>
                <a:latin typeface="Oranienbaum" pitchFamily="34" charset="0"/>
                <a:ea typeface="Oranienbaum" pitchFamily="34" charset="-122"/>
                <a:cs typeface="Oranienbaum" pitchFamily="34" charset="-120"/>
              </a:rPr>
              <a:t>$98</a:t>
            </a:r>
            <a:endParaRPr lang="en-US" sz="1600" dirty="0"/>
          </a:p>
        </p:txBody>
      </p:sp>
      <p:sp>
        <p:nvSpPr>
          <p:cNvPr id="28" name="Shape 26"/>
          <p:cNvSpPr/>
          <p:nvPr/>
        </p:nvSpPr>
        <p:spPr>
          <a:xfrm>
            <a:off x="3225209" y="4899729"/>
            <a:ext cx="2374605" cy="708837"/>
          </a:xfrm>
          <a:custGeom>
            <a:avLst/>
            <a:gdLst/>
            <a:ahLst/>
            <a:cxnLst/>
            <a:rect l="l" t="t" r="r" b="b"/>
            <a:pathLst>
              <a:path w="2374605" h="708837">
                <a:moveTo>
                  <a:pt x="70884" y="0"/>
                </a:moveTo>
                <a:lnTo>
                  <a:pt x="2303721" y="0"/>
                </a:lnTo>
                <a:cubicBezTo>
                  <a:pt x="2342869" y="0"/>
                  <a:pt x="2374605" y="31736"/>
                  <a:pt x="2374605" y="70884"/>
                </a:cubicBezTo>
                <a:lnTo>
                  <a:pt x="2374605" y="637953"/>
                </a:lnTo>
                <a:cubicBezTo>
                  <a:pt x="2374605" y="677101"/>
                  <a:pt x="2342869" y="708837"/>
                  <a:pt x="2303721" y="708837"/>
                </a:cubicBezTo>
                <a:lnTo>
                  <a:pt x="70884" y="708837"/>
                </a:lnTo>
                <a:cubicBezTo>
                  <a:pt x="31736" y="708837"/>
                  <a:pt x="0" y="677101"/>
                  <a:pt x="0" y="637953"/>
                </a:cubicBezTo>
                <a:lnTo>
                  <a:pt x="0" y="70884"/>
                </a:lnTo>
                <a:cubicBezTo>
                  <a:pt x="0" y="31762"/>
                  <a:pt x="31762" y="0"/>
                  <a:pt x="70884" y="0"/>
                </a:cubicBezTo>
                <a:close/>
              </a:path>
            </a:pathLst>
          </a:custGeom>
          <a:solidFill>
            <a:srgbClr val="FFFFFF">
              <a:alpha val="10196"/>
            </a:srgbClr>
          </a:solidFill>
          <a:ln/>
        </p:spPr>
      </p:sp>
      <p:sp>
        <p:nvSpPr>
          <p:cNvPr id="29" name="Text 27"/>
          <p:cNvSpPr/>
          <p:nvPr/>
        </p:nvSpPr>
        <p:spPr>
          <a:xfrm>
            <a:off x="3300523" y="5006055"/>
            <a:ext cx="2223977" cy="177209"/>
          </a:xfrm>
          <a:prstGeom prst="rect">
            <a:avLst/>
          </a:prstGeom>
          <a:noFill/>
          <a:ln/>
        </p:spPr>
        <p:txBody>
          <a:bodyPr wrap="square" lIns="0" tIns="0" rIns="0" bIns="0" rtlCol="0" anchor="ctr"/>
          <a:lstStyle/>
          <a:p>
            <a:pPr algn="ctr">
              <a:lnSpc>
                <a:spcPct val="120000"/>
              </a:lnSpc>
            </a:pPr>
            <a:r>
              <a:rPr lang="en-US" sz="977" dirty="0">
                <a:solidFill>
                  <a:srgbClr val="FFFFFF">
                    <a:alpha val="80000"/>
                  </a:srgbClr>
                </a:solidFill>
                <a:latin typeface="Quattrocento Sans" pitchFamily="34" charset="0"/>
                <a:ea typeface="Quattrocento Sans" pitchFamily="34" charset="-122"/>
                <a:cs typeface="Quattrocento Sans" pitchFamily="34" charset="-120"/>
              </a:rPr>
              <a:t>Total Revenue</a:t>
            </a:r>
            <a:endParaRPr lang="en-US" sz="1600" dirty="0"/>
          </a:p>
        </p:txBody>
      </p:sp>
      <p:sp>
        <p:nvSpPr>
          <p:cNvPr id="30" name="Text 28"/>
          <p:cNvSpPr/>
          <p:nvPr/>
        </p:nvSpPr>
        <p:spPr>
          <a:xfrm>
            <a:off x="3287233" y="5218706"/>
            <a:ext cx="2250558" cy="248093"/>
          </a:xfrm>
          <a:prstGeom prst="rect">
            <a:avLst/>
          </a:prstGeom>
          <a:noFill/>
          <a:ln/>
        </p:spPr>
        <p:txBody>
          <a:bodyPr wrap="square" lIns="0" tIns="0" rIns="0" bIns="0" rtlCol="0" anchor="ctr"/>
          <a:lstStyle/>
          <a:p>
            <a:pPr algn="ctr">
              <a:lnSpc>
                <a:spcPct val="120000"/>
              </a:lnSpc>
            </a:pPr>
            <a:r>
              <a:rPr lang="en-US" sz="1395" b="1" dirty="0">
                <a:solidFill>
                  <a:srgbClr val="FFFFFF"/>
                </a:solidFill>
                <a:latin typeface="Oranienbaum" pitchFamily="34" charset="0"/>
                <a:ea typeface="Oranienbaum" pitchFamily="34" charset="-122"/>
                <a:cs typeface="Oranienbaum" pitchFamily="34" charset="-120"/>
              </a:rPr>
              <a:t>$239,512</a:t>
            </a:r>
            <a:endParaRPr lang="en-US" sz="1600" dirty="0"/>
          </a:p>
        </p:txBody>
      </p:sp>
      <p:sp>
        <p:nvSpPr>
          <p:cNvPr id="31" name="Shape 29"/>
          <p:cNvSpPr/>
          <p:nvPr/>
        </p:nvSpPr>
        <p:spPr>
          <a:xfrm>
            <a:off x="567070" y="6255380"/>
            <a:ext cx="5209953" cy="389860"/>
          </a:xfrm>
          <a:custGeom>
            <a:avLst/>
            <a:gdLst/>
            <a:ahLst/>
            <a:cxnLst/>
            <a:rect l="l" t="t" r="r" b="b"/>
            <a:pathLst>
              <a:path w="5209953" h="389860">
                <a:moveTo>
                  <a:pt x="70884" y="0"/>
                </a:moveTo>
                <a:lnTo>
                  <a:pt x="5139069" y="0"/>
                </a:lnTo>
                <a:cubicBezTo>
                  <a:pt x="5178217" y="0"/>
                  <a:pt x="5209953" y="31736"/>
                  <a:pt x="5209953" y="70884"/>
                </a:cubicBezTo>
                <a:lnTo>
                  <a:pt x="5209953" y="318976"/>
                </a:lnTo>
                <a:cubicBezTo>
                  <a:pt x="5209953" y="358098"/>
                  <a:pt x="5178191" y="389860"/>
                  <a:pt x="5139069" y="389860"/>
                </a:cubicBezTo>
                <a:lnTo>
                  <a:pt x="70884" y="389860"/>
                </a:lnTo>
                <a:cubicBezTo>
                  <a:pt x="31762" y="389860"/>
                  <a:pt x="0" y="358098"/>
                  <a:pt x="0" y="318976"/>
                </a:cubicBezTo>
                <a:lnTo>
                  <a:pt x="0" y="70884"/>
                </a:lnTo>
                <a:cubicBezTo>
                  <a:pt x="0" y="31762"/>
                  <a:pt x="31762" y="0"/>
                  <a:pt x="70884" y="0"/>
                </a:cubicBezTo>
                <a:close/>
              </a:path>
            </a:pathLst>
          </a:custGeom>
          <a:solidFill>
            <a:srgbClr val="FFFFFF">
              <a:alpha val="10196"/>
            </a:srgbClr>
          </a:solidFill>
          <a:ln/>
        </p:spPr>
      </p:sp>
      <p:sp>
        <p:nvSpPr>
          <p:cNvPr id="32" name="Shape 30"/>
          <p:cNvSpPr/>
          <p:nvPr/>
        </p:nvSpPr>
        <p:spPr>
          <a:xfrm>
            <a:off x="1955948" y="6390057"/>
            <a:ext cx="124047" cy="124047"/>
          </a:xfrm>
          <a:custGeom>
            <a:avLst/>
            <a:gdLst/>
            <a:ahLst/>
            <a:cxnLst/>
            <a:rect l="l" t="t" r="r" b="b"/>
            <a:pathLst>
              <a:path w="124047" h="124047">
                <a:moveTo>
                  <a:pt x="15506" y="15506"/>
                </a:moveTo>
                <a:cubicBezTo>
                  <a:pt x="15506" y="11217"/>
                  <a:pt x="12041" y="7753"/>
                  <a:pt x="7753" y="7753"/>
                </a:cubicBezTo>
                <a:cubicBezTo>
                  <a:pt x="3465" y="7753"/>
                  <a:pt x="0" y="11217"/>
                  <a:pt x="0" y="15506"/>
                </a:cubicBezTo>
                <a:lnTo>
                  <a:pt x="0" y="96911"/>
                </a:lnTo>
                <a:cubicBezTo>
                  <a:pt x="0" y="107620"/>
                  <a:pt x="8674" y="116294"/>
                  <a:pt x="19382" y="116294"/>
                </a:cubicBezTo>
                <a:lnTo>
                  <a:pt x="116294" y="116294"/>
                </a:lnTo>
                <a:cubicBezTo>
                  <a:pt x="120582" y="116294"/>
                  <a:pt x="124047" y="112829"/>
                  <a:pt x="124047" y="108541"/>
                </a:cubicBezTo>
                <a:cubicBezTo>
                  <a:pt x="124047" y="104252"/>
                  <a:pt x="120582" y="100788"/>
                  <a:pt x="116294" y="100788"/>
                </a:cubicBezTo>
                <a:lnTo>
                  <a:pt x="19382" y="100788"/>
                </a:lnTo>
                <a:cubicBezTo>
                  <a:pt x="17250" y="100788"/>
                  <a:pt x="15506" y="99043"/>
                  <a:pt x="15506" y="96911"/>
                </a:cubicBezTo>
                <a:lnTo>
                  <a:pt x="15506" y="15506"/>
                </a:lnTo>
                <a:close/>
                <a:moveTo>
                  <a:pt x="114016" y="36487"/>
                </a:moveTo>
                <a:cubicBezTo>
                  <a:pt x="117045" y="33459"/>
                  <a:pt x="117045" y="28540"/>
                  <a:pt x="114016" y="25512"/>
                </a:cubicBezTo>
                <a:cubicBezTo>
                  <a:pt x="110988" y="22483"/>
                  <a:pt x="106069" y="22483"/>
                  <a:pt x="103041" y="25512"/>
                </a:cubicBezTo>
                <a:lnTo>
                  <a:pt x="77529" y="51048"/>
                </a:lnTo>
                <a:lnTo>
                  <a:pt x="63622" y="37165"/>
                </a:lnTo>
                <a:cubicBezTo>
                  <a:pt x="60594" y="34137"/>
                  <a:pt x="55676" y="34137"/>
                  <a:pt x="52647" y="37165"/>
                </a:cubicBezTo>
                <a:lnTo>
                  <a:pt x="29388" y="60424"/>
                </a:lnTo>
                <a:cubicBezTo>
                  <a:pt x="26360" y="63453"/>
                  <a:pt x="26360" y="68371"/>
                  <a:pt x="29388" y="71399"/>
                </a:cubicBezTo>
                <a:cubicBezTo>
                  <a:pt x="32417" y="74428"/>
                  <a:pt x="37335" y="74428"/>
                  <a:pt x="40364" y="71399"/>
                </a:cubicBezTo>
                <a:lnTo>
                  <a:pt x="58147" y="53616"/>
                </a:lnTo>
                <a:lnTo>
                  <a:pt x="72054" y="67523"/>
                </a:lnTo>
                <a:cubicBezTo>
                  <a:pt x="75082" y="70551"/>
                  <a:pt x="80000" y="70551"/>
                  <a:pt x="83029" y="67523"/>
                </a:cubicBezTo>
                <a:lnTo>
                  <a:pt x="114040" y="36511"/>
                </a:lnTo>
                <a:close/>
              </a:path>
            </a:pathLst>
          </a:custGeom>
          <a:solidFill>
            <a:srgbClr val="D4A574"/>
          </a:solidFill>
          <a:ln/>
        </p:spPr>
      </p:sp>
      <p:sp>
        <p:nvSpPr>
          <p:cNvPr id="33" name="Text 31"/>
          <p:cNvSpPr/>
          <p:nvPr/>
        </p:nvSpPr>
        <p:spPr>
          <a:xfrm>
            <a:off x="851326" y="6361706"/>
            <a:ext cx="4850383" cy="177209"/>
          </a:xfrm>
          <a:prstGeom prst="rect">
            <a:avLst/>
          </a:prstGeom>
          <a:noFill/>
          <a:ln/>
        </p:spPr>
        <p:txBody>
          <a:bodyPr wrap="square" lIns="0" tIns="0" rIns="0" bIns="0" rtlCol="0" anchor="ctr"/>
          <a:lstStyle/>
          <a:p>
            <a:pPr algn="ctr">
              <a:lnSpc>
                <a:spcPct val="120000"/>
              </a:lnSpc>
            </a:pPr>
            <a:r>
              <a:rPr lang="en-US" sz="977" dirty="0">
                <a:solidFill>
                  <a:srgbClr val="FFFFFF"/>
                </a:solidFill>
                <a:latin typeface="Liter" pitchFamily="34" charset="0"/>
                <a:ea typeface="Liter" pitchFamily="34" charset="-122"/>
                <a:cs typeface="Liter" pitchFamily="34" charset="-120"/>
              </a:rPr>
              <a:t>Subscribers spend </a:t>
            </a:r>
            <a:pPr algn="ctr">
              <a:lnSpc>
                <a:spcPct val="120000"/>
              </a:lnSpc>
            </a:pPr>
            <a:r>
              <a:rPr lang="en-US" sz="977" b="1" dirty="0">
                <a:solidFill>
                  <a:srgbClr val="D4A574"/>
                </a:solidFill>
                <a:latin typeface="Liter" pitchFamily="34" charset="0"/>
                <a:ea typeface="Liter" pitchFamily="34" charset="-122"/>
                <a:cs typeface="Liter" pitchFamily="34" charset="-120"/>
              </a:rPr>
              <a:t>45% more</a:t>
            </a:r>
            <a:pPr algn="ctr">
              <a:lnSpc>
                <a:spcPct val="120000"/>
              </a:lnSpc>
            </a:pPr>
            <a:r>
              <a:rPr lang="en-US" sz="977" dirty="0">
                <a:solidFill>
                  <a:srgbClr val="FFFFFF"/>
                </a:solidFill>
                <a:latin typeface="Liter" pitchFamily="34" charset="0"/>
                <a:ea typeface="Liter" pitchFamily="34" charset="-122"/>
                <a:cs typeface="Liter" pitchFamily="34" charset="-120"/>
              </a:rPr>
              <a:t> on average</a:t>
            </a:r>
            <a:endParaRPr lang="en-US" sz="1600" dirty="0"/>
          </a:p>
        </p:txBody>
      </p:sp>
      <p:sp>
        <p:nvSpPr>
          <p:cNvPr id="34" name="Shape 32"/>
          <p:cNvSpPr/>
          <p:nvPr/>
        </p:nvSpPr>
        <p:spPr>
          <a:xfrm>
            <a:off x="6202326" y="1488558"/>
            <a:ext cx="5635256" cy="3065721"/>
          </a:xfrm>
          <a:custGeom>
            <a:avLst/>
            <a:gdLst/>
            <a:ahLst/>
            <a:cxnLst/>
            <a:rect l="l" t="t" r="r" b="b"/>
            <a:pathLst>
              <a:path w="5635256" h="3065721">
                <a:moveTo>
                  <a:pt x="106319" y="0"/>
                </a:moveTo>
                <a:lnTo>
                  <a:pt x="5528937" y="0"/>
                </a:lnTo>
                <a:cubicBezTo>
                  <a:pt x="5587655" y="0"/>
                  <a:pt x="5635256" y="47601"/>
                  <a:pt x="5635256" y="106319"/>
                </a:cubicBezTo>
                <a:lnTo>
                  <a:pt x="5635256" y="2959402"/>
                </a:lnTo>
                <a:cubicBezTo>
                  <a:pt x="5635256" y="3018120"/>
                  <a:pt x="5587655" y="3065721"/>
                  <a:pt x="5528937" y="3065721"/>
                </a:cubicBezTo>
                <a:lnTo>
                  <a:pt x="106319" y="3065721"/>
                </a:lnTo>
                <a:cubicBezTo>
                  <a:pt x="47601" y="3065721"/>
                  <a:pt x="0" y="3018120"/>
                  <a:pt x="0" y="2959402"/>
                </a:cubicBezTo>
                <a:lnTo>
                  <a:pt x="0" y="106319"/>
                </a:lnTo>
                <a:cubicBezTo>
                  <a:pt x="0" y="47640"/>
                  <a:pt x="47640" y="0"/>
                  <a:pt x="106319" y="0"/>
                </a:cubicBezTo>
                <a:close/>
              </a:path>
            </a:pathLst>
          </a:custGeom>
          <a:solidFill>
            <a:srgbClr val="FFFFFF"/>
          </a:solidFill>
          <a:ln/>
          <a:effectLst>
            <a:outerShdw sx="100000" sy="100000" kx="0" ky="0" algn="bl" rotWithShape="0" blurRad="53163" dist="35442" dir="5400000">
              <a:srgbClr val="000000">
                <a:alpha val="10196"/>
              </a:srgbClr>
            </a:outerShdw>
          </a:effectLst>
        </p:spPr>
      </p:sp>
      <p:sp>
        <p:nvSpPr>
          <p:cNvPr id="35" name="Shape 33"/>
          <p:cNvSpPr/>
          <p:nvPr/>
        </p:nvSpPr>
        <p:spPr>
          <a:xfrm>
            <a:off x="6414977" y="1736543"/>
            <a:ext cx="265814" cy="212651"/>
          </a:xfrm>
          <a:custGeom>
            <a:avLst/>
            <a:gdLst/>
            <a:ahLst/>
            <a:cxnLst/>
            <a:rect l="l" t="t" r="r" b="b"/>
            <a:pathLst>
              <a:path w="265814" h="212651">
                <a:moveTo>
                  <a:pt x="26581" y="39872"/>
                </a:moveTo>
                <a:cubicBezTo>
                  <a:pt x="26581" y="25211"/>
                  <a:pt x="38501" y="13291"/>
                  <a:pt x="53163" y="13291"/>
                </a:cubicBezTo>
                <a:lnTo>
                  <a:pt x="172779" y="13291"/>
                </a:lnTo>
                <a:cubicBezTo>
                  <a:pt x="187440" y="13291"/>
                  <a:pt x="199360" y="25211"/>
                  <a:pt x="199360" y="39872"/>
                </a:cubicBezTo>
                <a:lnTo>
                  <a:pt x="199360" y="53163"/>
                </a:lnTo>
                <a:lnTo>
                  <a:pt x="220418" y="53163"/>
                </a:lnTo>
                <a:cubicBezTo>
                  <a:pt x="227479" y="53163"/>
                  <a:pt x="234249" y="55946"/>
                  <a:pt x="239233" y="60930"/>
                </a:cubicBezTo>
                <a:lnTo>
                  <a:pt x="258047" y="79744"/>
                </a:lnTo>
                <a:cubicBezTo>
                  <a:pt x="263031" y="84728"/>
                  <a:pt x="265814" y="91498"/>
                  <a:pt x="265814" y="98559"/>
                </a:cubicBezTo>
                <a:lnTo>
                  <a:pt x="265814" y="159488"/>
                </a:lnTo>
                <a:cubicBezTo>
                  <a:pt x="265814" y="174150"/>
                  <a:pt x="253894" y="186070"/>
                  <a:pt x="239233" y="186070"/>
                </a:cubicBezTo>
                <a:lnTo>
                  <a:pt x="237862" y="186070"/>
                </a:lnTo>
                <a:cubicBezTo>
                  <a:pt x="233542" y="201396"/>
                  <a:pt x="219421" y="212651"/>
                  <a:pt x="202683" y="212651"/>
                </a:cubicBezTo>
                <a:cubicBezTo>
                  <a:pt x="185945" y="212651"/>
                  <a:pt x="171865" y="201396"/>
                  <a:pt x="167504" y="186070"/>
                </a:cubicBezTo>
                <a:lnTo>
                  <a:pt x="124891" y="186070"/>
                </a:lnTo>
                <a:cubicBezTo>
                  <a:pt x="120572" y="201396"/>
                  <a:pt x="106450" y="212651"/>
                  <a:pt x="89712" y="212651"/>
                </a:cubicBezTo>
                <a:cubicBezTo>
                  <a:pt x="72974" y="212651"/>
                  <a:pt x="58894" y="201396"/>
                  <a:pt x="54533" y="186070"/>
                </a:cubicBezTo>
                <a:lnTo>
                  <a:pt x="53163" y="186070"/>
                </a:lnTo>
                <a:cubicBezTo>
                  <a:pt x="38501" y="186070"/>
                  <a:pt x="26581" y="174150"/>
                  <a:pt x="26581" y="159488"/>
                </a:cubicBezTo>
                <a:lnTo>
                  <a:pt x="26581" y="139552"/>
                </a:lnTo>
                <a:lnTo>
                  <a:pt x="9968" y="139552"/>
                </a:lnTo>
                <a:cubicBezTo>
                  <a:pt x="4444" y="139552"/>
                  <a:pt x="0" y="135108"/>
                  <a:pt x="0" y="129584"/>
                </a:cubicBezTo>
                <a:cubicBezTo>
                  <a:pt x="0" y="124060"/>
                  <a:pt x="4444" y="119616"/>
                  <a:pt x="9968" y="119616"/>
                </a:cubicBezTo>
                <a:lnTo>
                  <a:pt x="56485" y="119616"/>
                </a:lnTo>
                <a:cubicBezTo>
                  <a:pt x="62009" y="119616"/>
                  <a:pt x="66453" y="115172"/>
                  <a:pt x="66453" y="109648"/>
                </a:cubicBezTo>
                <a:cubicBezTo>
                  <a:pt x="66453" y="104124"/>
                  <a:pt x="62009" y="99680"/>
                  <a:pt x="56485" y="99680"/>
                </a:cubicBezTo>
                <a:lnTo>
                  <a:pt x="9968" y="99680"/>
                </a:lnTo>
                <a:cubicBezTo>
                  <a:pt x="4444" y="99680"/>
                  <a:pt x="0" y="95236"/>
                  <a:pt x="0" y="89712"/>
                </a:cubicBezTo>
                <a:cubicBezTo>
                  <a:pt x="0" y="84188"/>
                  <a:pt x="4444" y="79744"/>
                  <a:pt x="9968" y="79744"/>
                </a:cubicBezTo>
                <a:lnTo>
                  <a:pt x="83067" y="79744"/>
                </a:lnTo>
                <a:cubicBezTo>
                  <a:pt x="88591" y="79744"/>
                  <a:pt x="93035" y="75300"/>
                  <a:pt x="93035" y="69776"/>
                </a:cubicBezTo>
                <a:cubicBezTo>
                  <a:pt x="93035" y="64252"/>
                  <a:pt x="88591" y="59808"/>
                  <a:pt x="83067" y="59808"/>
                </a:cubicBezTo>
                <a:lnTo>
                  <a:pt x="9968" y="59808"/>
                </a:lnTo>
                <a:cubicBezTo>
                  <a:pt x="4444" y="59808"/>
                  <a:pt x="0" y="55364"/>
                  <a:pt x="0" y="49840"/>
                </a:cubicBezTo>
                <a:cubicBezTo>
                  <a:pt x="0" y="44316"/>
                  <a:pt x="4444" y="39872"/>
                  <a:pt x="9968" y="39872"/>
                </a:cubicBezTo>
                <a:lnTo>
                  <a:pt x="26581" y="39872"/>
                </a:lnTo>
                <a:close/>
                <a:moveTo>
                  <a:pt x="239233" y="119616"/>
                </a:moveTo>
                <a:lnTo>
                  <a:pt x="239233" y="98559"/>
                </a:lnTo>
                <a:lnTo>
                  <a:pt x="220418" y="79744"/>
                </a:lnTo>
                <a:lnTo>
                  <a:pt x="199360" y="79744"/>
                </a:lnTo>
                <a:lnTo>
                  <a:pt x="199360" y="119616"/>
                </a:lnTo>
                <a:lnTo>
                  <a:pt x="239233" y="119616"/>
                </a:lnTo>
                <a:close/>
                <a:moveTo>
                  <a:pt x="106326" y="176102"/>
                </a:moveTo>
                <a:cubicBezTo>
                  <a:pt x="106326" y="166933"/>
                  <a:pt x="98881" y="159488"/>
                  <a:pt x="89712" y="159488"/>
                </a:cubicBezTo>
                <a:cubicBezTo>
                  <a:pt x="80543" y="159488"/>
                  <a:pt x="73099" y="166933"/>
                  <a:pt x="73099" y="176102"/>
                </a:cubicBezTo>
                <a:cubicBezTo>
                  <a:pt x="73099" y="185271"/>
                  <a:pt x="80543" y="192715"/>
                  <a:pt x="89712" y="192715"/>
                </a:cubicBezTo>
                <a:cubicBezTo>
                  <a:pt x="98881" y="192715"/>
                  <a:pt x="106326" y="185271"/>
                  <a:pt x="106326" y="176102"/>
                </a:cubicBezTo>
                <a:close/>
                <a:moveTo>
                  <a:pt x="202683" y="192715"/>
                </a:moveTo>
                <a:cubicBezTo>
                  <a:pt x="211852" y="192715"/>
                  <a:pt x="219297" y="185271"/>
                  <a:pt x="219297" y="176102"/>
                </a:cubicBezTo>
                <a:cubicBezTo>
                  <a:pt x="219297" y="166933"/>
                  <a:pt x="211852" y="159488"/>
                  <a:pt x="202683" y="159488"/>
                </a:cubicBezTo>
                <a:cubicBezTo>
                  <a:pt x="193514" y="159488"/>
                  <a:pt x="186070" y="166933"/>
                  <a:pt x="186070" y="176102"/>
                </a:cubicBezTo>
                <a:cubicBezTo>
                  <a:pt x="186070" y="185271"/>
                  <a:pt x="193514" y="192715"/>
                  <a:pt x="202683" y="192715"/>
                </a:cubicBezTo>
                <a:close/>
              </a:path>
            </a:pathLst>
          </a:custGeom>
          <a:solidFill>
            <a:srgbClr val="D4A574"/>
          </a:solidFill>
          <a:ln/>
        </p:spPr>
      </p:sp>
      <p:sp>
        <p:nvSpPr>
          <p:cNvPr id="36" name="Text 34"/>
          <p:cNvSpPr/>
          <p:nvPr/>
        </p:nvSpPr>
        <p:spPr>
          <a:xfrm>
            <a:off x="6680791" y="1701209"/>
            <a:ext cx="5050465" cy="283535"/>
          </a:xfrm>
          <a:prstGeom prst="rect">
            <a:avLst/>
          </a:prstGeom>
          <a:noFill/>
          <a:ln/>
        </p:spPr>
        <p:txBody>
          <a:bodyPr wrap="square" lIns="0" tIns="0" rIns="0" bIns="0" rtlCol="0" anchor="ctr"/>
          <a:lstStyle/>
          <a:p>
            <a:pPr>
              <a:lnSpc>
                <a:spcPct val="110000"/>
              </a:lnSpc>
            </a:pPr>
            <a:r>
              <a:rPr lang="en-US" sz="1674" b="1" dirty="0">
                <a:solidFill>
                  <a:srgbClr val="2E5A4C"/>
                </a:solidFill>
                <a:latin typeface="Liter" pitchFamily="34" charset="0"/>
                <a:ea typeface="Liter" pitchFamily="34" charset="-122"/>
                <a:cs typeface="Liter" pitchFamily="34" charset="-120"/>
              </a:rPr>
              <a:t>Shipping Type Comparison</a:t>
            </a:r>
            <a:endParaRPr lang="en-US" sz="1600" dirty="0"/>
          </a:p>
        </p:txBody>
      </p:sp>
      <p:pic>
        <p:nvPicPr>
          <p:cNvPr id="37" name="Image 0" descr="https://kimi-img.moonshot.cn/pub/slides/26-03-07-00:30:45-d6lg2d9l51jeti29cph0.png">    </p:cNvPr>
          <p:cNvPicPr>
            <a:picLocks noChangeAspect="1"/>
          </p:cNvPicPr>
          <p:nvPr/>
        </p:nvPicPr>
        <p:blipFill>
          <a:blip r:embed="rId1"/>
          <a:srcRect l="80" r="80" t="0" b="0"/>
          <a:stretch/>
        </p:blipFill>
        <p:spPr>
          <a:xfrm>
            <a:off x="6414977" y="2126403"/>
            <a:ext cx="4784651" cy="2215116"/>
          </a:xfrm>
          <a:prstGeom prst="roundRect">
            <a:avLst>
              <a:gd name="adj" fmla="val 0"/>
            </a:avLst>
          </a:prstGeom>
        </p:spPr>
      </p:pic>
      <p:sp>
        <p:nvSpPr>
          <p:cNvPr id="38" name="Shape 35"/>
          <p:cNvSpPr/>
          <p:nvPr/>
        </p:nvSpPr>
        <p:spPr>
          <a:xfrm>
            <a:off x="6202326" y="4695938"/>
            <a:ext cx="5635256" cy="1382233"/>
          </a:xfrm>
          <a:custGeom>
            <a:avLst/>
            <a:gdLst/>
            <a:ahLst/>
            <a:cxnLst/>
            <a:rect l="l" t="t" r="r" b="b"/>
            <a:pathLst>
              <a:path w="5635256" h="1382233">
                <a:moveTo>
                  <a:pt x="106321" y="0"/>
                </a:moveTo>
                <a:lnTo>
                  <a:pt x="5528934" y="0"/>
                </a:lnTo>
                <a:cubicBezTo>
                  <a:pt x="5587654" y="0"/>
                  <a:pt x="5635256" y="47602"/>
                  <a:pt x="5635256" y="106321"/>
                </a:cubicBezTo>
                <a:lnTo>
                  <a:pt x="5635256" y="1275911"/>
                </a:lnTo>
                <a:cubicBezTo>
                  <a:pt x="5635256" y="1334631"/>
                  <a:pt x="5587654" y="1382233"/>
                  <a:pt x="5528934" y="1382233"/>
                </a:cubicBezTo>
                <a:lnTo>
                  <a:pt x="106321" y="1382233"/>
                </a:lnTo>
                <a:cubicBezTo>
                  <a:pt x="47602" y="1382233"/>
                  <a:pt x="0" y="1334631"/>
                  <a:pt x="0" y="1275911"/>
                </a:cubicBezTo>
                <a:lnTo>
                  <a:pt x="0" y="106321"/>
                </a:lnTo>
                <a:cubicBezTo>
                  <a:pt x="0" y="47602"/>
                  <a:pt x="47602" y="0"/>
                  <a:pt x="106321" y="0"/>
                </a:cubicBezTo>
                <a:close/>
              </a:path>
            </a:pathLst>
          </a:custGeom>
          <a:solidFill>
            <a:srgbClr val="FFFFFF"/>
          </a:solidFill>
          <a:ln/>
          <a:effectLst>
            <a:outerShdw sx="100000" sy="100000" kx="0" ky="0" algn="bl" rotWithShape="0" blurRad="53163" dist="35442" dir="5400000">
              <a:srgbClr val="000000">
                <a:alpha val="10196"/>
              </a:srgbClr>
            </a:outerShdw>
          </a:effectLst>
        </p:spPr>
      </p:sp>
      <p:sp>
        <p:nvSpPr>
          <p:cNvPr id="39" name="Shape 36"/>
          <p:cNvSpPr/>
          <p:nvPr/>
        </p:nvSpPr>
        <p:spPr>
          <a:xfrm>
            <a:off x="6421622" y="4917450"/>
            <a:ext cx="119616" cy="159488"/>
          </a:xfrm>
          <a:custGeom>
            <a:avLst/>
            <a:gdLst/>
            <a:ahLst/>
            <a:cxnLst/>
            <a:rect l="l" t="t" r="r" b="b"/>
            <a:pathLst>
              <a:path w="119616" h="159488">
                <a:moveTo>
                  <a:pt x="91239" y="119616"/>
                </a:moveTo>
                <a:cubicBezTo>
                  <a:pt x="93513" y="112670"/>
                  <a:pt x="98060" y="106377"/>
                  <a:pt x="103200" y="100957"/>
                </a:cubicBezTo>
                <a:cubicBezTo>
                  <a:pt x="113386" y="90242"/>
                  <a:pt x="119616" y="75757"/>
                  <a:pt x="119616" y="59808"/>
                </a:cubicBezTo>
                <a:cubicBezTo>
                  <a:pt x="119616" y="26789"/>
                  <a:pt x="92827" y="0"/>
                  <a:pt x="59808" y="0"/>
                </a:cubicBezTo>
                <a:cubicBezTo>
                  <a:pt x="26789" y="0"/>
                  <a:pt x="0" y="26789"/>
                  <a:pt x="0" y="59808"/>
                </a:cubicBezTo>
                <a:cubicBezTo>
                  <a:pt x="0" y="75757"/>
                  <a:pt x="6230" y="90242"/>
                  <a:pt x="16416" y="100957"/>
                </a:cubicBezTo>
                <a:cubicBezTo>
                  <a:pt x="21556" y="106377"/>
                  <a:pt x="26135" y="112670"/>
                  <a:pt x="28378" y="119616"/>
                </a:cubicBezTo>
                <a:lnTo>
                  <a:pt x="91207" y="119616"/>
                </a:lnTo>
                <a:close/>
                <a:moveTo>
                  <a:pt x="89712" y="134568"/>
                </a:moveTo>
                <a:lnTo>
                  <a:pt x="29904" y="134568"/>
                </a:lnTo>
                <a:lnTo>
                  <a:pt x="29904" y="139552"/>
                </a:lnTo>
                <a:cubicBezTo>
                  <a:pt x="29904" y="153321"/>
                  <a:pt x="41056" y="164472"/>
                  <a:pt x="54824" y="164472"/>
                </a:cubicBezTo>
                <a:lnTo>
                  <a:pt x="64792" y="164472"/>
                </a:lnTo>
                <a:cubicBezTo>
                  <a:pt x="78560" y="164472"/>
                  <a:pt x="89712" y="153321"/>
                  <a:pt x="89712" y="139552"/>
                </a:cubicBezTo>
                <a:lnTo>
                  <a:pt x="89712" y="134568"/>
                </a:lnTo>
                <a:close/>
                <a:moveTo>
                  <a:pt x="57316" y="34888"/>
                </a:moveTo>
                <a:cubicBezTo>
                  <a:pt x="44918" y="34888"/>
                  <a:pt x="34888" y="44918"/>
                  <a:pt x="34888" y="57316"/>
                </a:cubicBezTo>
                <a:cubicBezTo>
                  <a:pt x="34888" y="61459"/>
                  <a:pt x="31555" y="64792"/>
                  <a:pt x="27412" y="64792"/>
                </a:cubicBezTo>
                <a:cubicBezTo>
                  <a:pt x="23269" y="64792"/>
                  <a:pt x="19936" y="61459"/>
                  <a:pt x="19936" y="57316"/>
                </a:cubicBezTo>
                <a:cubicBezTo>
                  <a:pt x="19936" y="36664"/>
                  <a:pt x="36664" y="19936"/>
                  <a:pt x="57316" y="19936"/>
                </a:cubicBezTo>
                <a:cubicBezTo>
                  <a:pt x="61459" y="19936"/>
                  <a:pt x="64792" y="23269"/>
                  <a:pt x="64792" y="27412"/>
                </a:cubicBezTo>
                <a:cubicBezTo>
                  <a:pt x="64792" y="31555"/>
                  <a:pt x="61459" y="34888"/>
                  <a:pt x="57316" y="34888"/>
                </a:cubicBezTo>
                <a:close/>
              </a:path>
            </a:pathLst>
          </a:custGeom>
          <a:solidFill>
            <a:srgbClr val="C75B39"/>
          </a:solidFill>
          <a:ln/>
        </p:spPr>
      </p:sp>
      <p:sp>
        <p:nvSpPr>
          <p:cNvPr id="40" name="Text 37"/>
          <p:cNvSpPr/>
          <p:nvPr/>
        </p:nvSpPr>
        <p:spPr>
          <a:xfrm>
            <a:off x="6583326" y="4873148"/>
            <a:ext cx="5156791" cy="248093"/>
          </a:xfrm>
          <a:prstGeom prst="rect">
            <a:avLst/>
          </a:prstGeom>
          <a:noFill/>
          <a:ln/>
        </p:spPr>
        <p:txBody>
          <a:bodyPr wrap="square" lIns="0" tIns="0" rIns="0" bIns="0" rtlCol="0" anchor="ctr"/>
          <a:lstStyle/>
          <a:p>
            <a:pPr>
              <a:lnSpc>
                <a:spcPct val="130000"/>
              </a:lnSpc>
            </a:pPr>
            <a:r>
              <a:rPr lang="en-US" sz="1256" b="1" dirty="0">
                <a:solidFill>
                  <a:srgbClr val="2E5A4C"/>
                </a:solidFill>
                <a:latin typeface="Liter" pitchFamily="34" charset="0"/>
                <a:ea typeface="Liter" pitchFamily="34" charset="-122"/>
                <a:cs typeface="Liter" pitchFamily="34" charset="-120"/>
              </a:rPr>
              <a:t>Strategic Insights</a:t>
            </a:r>
            <a:endParaRPr lang="en-US" sz="1600" dirty="0"/>
          </a:p>
        </p:txBody>
      </p:sp>
      <p:sp>
        <p:nvSpPr>
          <p:cNvPr id="41" name="Shape 38"/>
          <p:cNvSpPr/>
          <p:nvPr/>
        </p:nvSpPr>
        <p:spPr>
          <a:xfrm>
            <a:off x="6397256" y="5263008"/>
            <a:ext cx="141767" cy="141767"/>
          </a:xfrm>
          <a:custGeom>
            <a:avLst/>
            <a:gdLst/>
            <a:ahLst/>
            <a:cxnLst/>
            <a:rect l="l" t="t" r="r" b="b"/>
            <a:pathLst>
              <a:path w="141767" h="141767">
                <a:moveTo>
                  <a:pt x="70884" y="141767"/>
                </a:moveTo>
                <a:cubicBezTo>
                  <a:pt x="110006" y="141767"/>
                  <a:pt x="141767" y="110006"/>
                  <a:pt x="141767" y="70884"/>
                </a:cubicBezTo>
                <a:cubicBezTo>
                  <a:pt x="141767" y="31762"/>
                  <a:pt x="110006" y="0"/>
                  <a:pt x="70884" y="0"/>
                </a:cubicBezTo>
                <a:cubicBezTo>
                  <a:pt x="31762" y="0"/>
                  <a:pt x="0" y="31762"/>
                  <a:pt x="0" y="70884"/>
                </a:cubicBezTo>
                <a:cubicBezTo>
                  <a:pt x="0" y="110006"/>
                  <a:pt x="31762" y="141767"/>
                  <a:pt x="70884" y="141767"/>
                </a:cubicBezTo>
                <a:close/>
                <a:moveTo>
                  <a:pt x="94253" y="58894"/>
                </a:moveTo>
                <a:lnTo>
                  <a:pt x="72102" y="94336"/>
                </a:lnTo>
                <a:cubicBezTo>
                  <a:pt x="70939" y="96191"/>
                  <a:pt x="68945" y="97354"/>
                  <a:pt x="66758" y="97465"/>
                </a:cubicBezTo>
                <a:cubicBezTo>
                  <a:pt x="64571" y="97576"/>
                  <a:pt x="62466" y="96579"/>
                  <a:pt x="61165" y="94807"/>
                </a:cubicBezTo>
                <a:lnTo>
                  <a:pt x="47874" y="77086"/>
                </a:lnTo>
                <a:cubicBezTo>
                  <a:pt x="45659" y="74151"/>
                  <a:pt x="46268" y="69998"/>
                  <a:pt x="49203" y="67783"/>
                </a:cubicBezTo>
                <a:cubicBezTo>
                  <a:pt x="52138" y="65567"/>
                  <a:pt x="56292" y="66177"/>
                  <a:pt x="58507" y="69112"/>
                </a:cubicBezTo>
                <a:lnTo>
                  <a:pt x="65983" y="79080"/>
                </a:lnTo>
                <a:lnTo>
                  <a:pt x="82984" y="51861"/>
                </a:lnTo>
                <a:cubicBezTo>
                  <a:pt x="84922" y="48760"/>
                  <a:pt x="89020" y="47791"/>
                  <a:pt x="92149" y="49757"/>
                </a:cubicBezTo>
                <a:cubicBezTo>
                  <a:pt x="95278" y="51723"/>
                  <a:pt x="96219" y="55793"/>
                  <a:pt x="94253" y="58922"/>
                </a:cubicBezTo>
                <a:close/>
              </a:path>
            </a:pathLst>
          </a:custGeom>
          <a:solidFill>
            <a:srgbClr val="2E5A4C"/>
          </a:solidFill>
          <a:ln/>
        </p:spPr>
      </p:sp>
      <p:sp>
        <p:nvSpPr>
          <p:cNvPr id="42" name="Text 39"/>
          <p:cNvSpPr/>
          <p:nvPr/>
        </p:nvSpPr>
        <p:spPr>
          <a:xfrm>
            <a:off x="6627628" y="5227566"/>
            <a:ext cx="3712535" cy="177209"/>
          </a:xfrm>
          <a:prstGeom prst="rect">
            <a:avLst/>
          </a:prstGeom>
          <a:noFill/>
          <a:ln/>
        </p:spPr>
        <p:txBody>
          <a:bodyPr wrap="square" lIns="0" tIns="0" rIns="0" bIns="0" rtlCol="0" anchor="ctr"/>
          <a:lstStyle/>
          <a:p>
            <a:pPr>
              <a:lnSpc>
                <a:spcPct val="120000"/>
              </a:lnSpc>
            </a:pPr>
            <a:r>
              <a:rPr lang="en-US" sz="977" b="1" dirty="0">
                <a:solidFill>
                  <a:srgbClr val="2C3E50"/>
                </a:solidFill>
                <a:latin typeface="Quattrocento Sans" pitchFamily="34" charset="0"/>
                <a:ea typeface="Quattrocento Sans" pitchFamily="34" charset="-122"/>
                <a:cs typeface="Quattrocento Sans" pitchFamily="34" charset="-120"/>
              </a:rPr>
              <a:t>Subscription Value:</a:t>
            </a:r>
            <a:pPr>
              <a:lnSpc>
                <a:spcPct val="120000"/>
              </a:lnSpc>
            </a:pPr>
            <a:r>
              <a:rPr lang="en-US" sz="977" dirty="0">
                <a:solidFill>
                  <a:srgbClr val="2C3E50"/>
                </a:solidFill>
                <a:latin typeface="Quattrocento Sans" pitchFamily="34" charset="0"/>
                <a:ea typeface="Quattrocento Sans" pitchFamily="34" charset="-122"/>
                <a:cs typeface="Quattrocento Sans" pitchFamily="34" charset="-120"/>
              </a:rPr>
              <a:t> Higher average spend justifies exclusive benefits</a:t>
            </a:r>
            <a:endParaRPr lang="en-US" sz="1600" dirty="0"/>
          </a:p>
        </p:txBody>
      </p:sp>
      <p:sp>
        <p:nvSpPr>
          <p:cNvPr id="43" name="Shape 40"/>
          <p:cNvSpPr/>
          <p:nvPr/>
        </p:nvSpPr>
        <p:spPr>
          <a:xfrm>
            <a:off x="6397256" y="5511101"/>
            <a:ext cx="141767" cy="141767"/>
          </a:xfrm>
          <a:custGeom>
            <a:avLst/>
            <a:gdLst/>
            <a:ahLst/>
            <a:cxnLst/>
            <a:rect l="l" t="t" r="r" b="b"/>
            <a:pathLst>
              <a:path w="141767" h="141767">
                <a:moveTo>
                  <a:pt x="70884" y="141767"/>
                </a:moveTo>
                <a:cubicBezTo>
                  <a:pt x="110006" y="141767"/>
                  <a:pt x="141767" y="110006"/>
                  <a:pt x="141767" y="70884"/>
                </a:cubicBezTo>
                <a:cubicBezTo>
                  <a:pt x="141767" y="31762"/>
                  <a:pt x="110006" y="0"/>
                  <a:pt x="70884" y="0"/>
                </a:cubicBezTo>
                <a:cubicBezTo>
                  <a:pt x="31762" y="0"/>
                  <a:pt x="0" y="31762"/>
                  <a:pt x="0" y="70884"/>
                </a:cubicBezTo>
                <a:cubicBezTo>
                  <a:pt x="0" y="110006"/>
                  <a:pt x="31762" y="141767"/>
                  <a:pt x="70884" y="141767"/>
                </a:cubicBezTo>
                <a:close/>
                <a:moveTo>
                  <a:pt x="94253" y="58894"/>
                </a:moveTo>
                <a:lnTo>
                  <a:pt x="72102" y="94336"/>
                </a:lnTo>
                <a:cubicBezTo>
                  <a:pt x="70939" y="96191"/>
                  <a:pt x="68945" y="97354"/>
                  <a:pt x="66758" y="97465"/>
                </a:cubicBezTo>
                <a:cubicBezTo>
                  <a:pt x="64571" y="97576"/>
                  <a:pt x="62466" y="96579"/>
                  <a:pt x="61165" y="94807"/>
                </a:cubicBezTo>
                <a:lnTo>
                  <a:pt x="47874" y="77086"/>
                </a:lnTo>
                <a:cubicBezTo>
                  <a:pt x="45659" y="74151"/>
                  <a:pt x="46268" y="69998"/>
                  <a:pt x="49203" y="67783"/>
                </a:cubicBezTo>
                <a:cubicBezTo>
                  <a:pt x="52138" y="65567"/>
                  <a:pt x="56292" y="66177"/>
                  <a:pt x="58507" y="69112"/>
                </a:cubicBezTo>
                <a:lnTo>
                  <a:pt x="65983" y="79080"/>
                </a:lnTo>
                <a:lnTo>
                  <a:pt x="82984" y="51861"/>
                </a:lnTo>
                <a:cubicBezTo>
                  <a:pt x="84922" y="48760"/>
                  <a:pt x="89020" y="47791"/>
                  <a:pt x="92149" y="49757"/>
                </a:cubicBezTo>
                <a:cubicBezTo>
                  <a:pt x="95278" y="51723"/>
                  <a:pt x="96219" y="55793"/>
                  <a:pt x="94253" y="58922"/>
                </a:cubicBezTo>
                <a:close/>
              </a:path>
            </a:pathLst>
          </a:custGeom>
          <a:solidFill>
            <a:srgbClr val="2E5A4C"/>
          </a:solidFill>
          <a:ln/>
        </p:spPr>
      </p:sp>
      <p:sp>
        <p:nvSpPr>
          <p:cNvPr id="44" name="Text 41"/>
          <p:cNvSpPr/>
          <p:nvPr/>
        </p:nvSpPr>
        <p:spPr>
          <a:xfrm>
            <a:off x="6627628" y="5475659"/>
            <a:ext cx="3836581" cy="177209"/>
          </a:xfrm>
          <a:prstGeom prst="rect">
            <a:avLst/>
          </a:prstGeom>
          <a:noFill/>
          <a:ln/>
        </p:spPr>
        <p:txBody>
          <a:bodyPr wrap="square" lIns="0" tIns="0" rIns="0" bIns="0" rtlCol="0" anchor="ctr"/>
          <a:lstStyle/>
          <a:p>
            <a:pPr>
              <a:lnSpc>
                <a:spcPct val="120000"/>
              </a:lnSpc>
            </a:pPr>
            <a:r>
              <a:rPr lang="en-US" sz="977" b="1" dirty="0">
                <a:solidFill>
                  <a:srgbClr val="2C3E50"/>
                </a:solidFill>
                <a:latin typeface="Quattrocento Sans" pitchFamily="34" charset="0"/>
                <a:ea typeface="Quattrocento Sans" pitchFamily="34" charset="-122"/>
                <a:cs typeface="Quattrocento Sans" pitchFamily="34" charset="-120"/>
              </a:rPr>
              <a:t>Express Shipping:</a:t>
            </a:r>
            <a:pPr>
              <a:lnSpc>
                <a:spcPct val="120000"/>
              </a:lnSpc>
            </a:pPr>
            <a:r>
              <a:rPr lang="en-US" sz="977" dirty="0">
                <a:solidFill>
                  <a:srgbClr val="2C3E50"/>
                </a:solidFill>
                <a:latin typeface="Quattrocento Sans" pitchFamily="34" charset="0"/>
                <a:ea typeface="Quattrocento Sans" pitchFamily="34" charset="-122"/>
                <a:cs typeface="Quattrocento Sans" pitchFamily="34" charset="-120"/>
              </a:rPr>
              <a:t> Premium service users show higher purchase values</a:t>
            </a:r>
            <a:endParaRPr lang="en-US" sz="1600" dirty="0"/>
          </a:p>
        </p:txBody>
      </p:sp>
      <p:sp>
        <p:nvSpPr>
          <p:cNvPr id="45" name="Shape 42"/>
          <p:cNvSpPr/>
          <p:nvPr/>
        </p:nvSpPr>
        <p:spPr>
          <a:xfrm>
            <a:off x="6397256" y="5759194"/>
            <a:ext cx="141767" cy="141767"/>
          </a:xfrm>
          <a:custGeom>
            <a:avLst/>
            <a:gdLst/>
            <a:ahLst/>
            <a:cxnLst/>
            <a:rect l="l" t="t" r="r" b="b"/>
            <a:pathLst>
              <a:path w="141767" h="141767">
                <a:moveTo>
                  <a:pt x="70884" y="141767"/>
                </a:moveTo>
                <a:cubicBezTo>
                  <a:pt x="110006" y="141767"/>
                  <a:pt x="141767" y="110006"/>
                  <a:pt x="141767" y="70884"/>
                </a:cubicBezTo>
                <a:cubicBezTo>
                  <a:pt x="141767" y="31762"/>
                  <a:pt x="110006" y="0"/>
                  <a:pt x="70884" y="0"/>
                </a:cubicBezTo>
                <a:cubicBezTo>
                  <a:pt x="31762" y="0"/>
                  <a:pt x="0" y="31762"/>
                  <a:pt x="0" y="70884"/>
                </a:cubicBezTo>
                <a:cubicBezTo>
                  <a:pt x="0" y="110006"/>
                  <a:pt x="31762" y="141767"/>
                  <a:pt x="70884" y="141767"/>
                </a:cubicBezTo>
                <a:close/>
                <a:moveTo>
                  <a:pt x="94253" y="58894"/>
                </a:moveTo>
                <a:lnTo>
                  <a:pt x="72102" y="94336"/>
                </a:lnTo>
                <a:cubicBezTo>
                  <a:pt x="70939" y="96191"/>
                  <a:pt x="68945" y="97354"/>
                  <a:pt x="66758" y="97465"/>
                </a:cubicBezTo>
                <a:cubicBezTo>
                  <a:pt x="64571" y="97576"/>
                  <a:pt x="62466" y="96579"/>
                  <a:pt x="61165" y="94807"/>
                </a:cubicBezTo>
                <a:lnTo>
                  <a:pt x="47874" y="77086"/>
                </a:lnTo>
                <a:cubicBezTo>
                  <a:pt x="45659" y="74151"/>
                  <a:pt x="46268" y="69998"/>
                  <a:pt x="49203" y="67783"/>
                </a:cubicBezTo>
                <a:cubicBezTo>
                  <a:pt x="52138" y="65567"/>
                  <a:pt x="56292" y="66177"/>
                  <a:pt x="58507" y="69112"/>
                </a:cubicBezTo>
                <a:lnTo>
                  <a:pt x="65983" y="79080"/>
                </a:lnTo>
                <a:lnTo>
                  <a:pt x="82984" y="51861"/>
                </a:lnTo>
                <a:cubicBezTo>
                  <a:pt x="84922" y="48760"/>
                  <a:pt x="89020" y="47791"/>
                  <a:pt x="92149" y="49757"/>
                </a:cubicBezTo>
                <a:cubicBezTo>
                  <a:pt x="95278" y="51723"/>
                  <a:pt x="96219" y="55793"/>
                  <a:pt x="94253" y="58922"/>
                </a:cubicBezTo>
                <a:close/>
              </a:path>
            </a:pathLst>
          </a:custGeom>
          <a:solidFill>
            <a:srgbClr val="2E5A4C"/>
          </a:solidFill>
          <a:ln/>
        </p:spPr>
      </p:sp>
      <p:sp>
        <p:nvSpPr>
          <p:cNvPr id="46" name="Text 43"/>
          <p:cNvSpPr/>
          <p:nvPr/>
        </p:nvSpPr>
        <p:spPr>
          <a:xfrm>
            <a:off x="6627628" y="5723752"/>
            <a:ext cx="3801140" cy="177209"/>
          </a:xfrm>
          <a:prstGeom prst="rect">
            <a:avLst/>
          </a:prstGeom>
          <a:noFill/>
          <a:ln/>
        </p:spPr>
        <p:txBody>
          <a:bodyPr wrap="square" lIns="0" tIns="0" rIns="0" bIns="0" rtlCol="0" anchor="ctr"/>
          <a:lstStyle/>
          <a:p>
            <a:pPr>
              <a:lnSpc>
                <a:spcPct val="120000"/>
              </a:lnSpc>
            </a:pPr>
            <a:r>
              <a:rPr lang="en-US" sz="977" b="1" dirty="0">
                <a:solidFill>
                  <a:srgbClr val="2C3E50"/>
                </a:solidFill>
                <a:latin typeface="Quattrocento Sans" pitchFamily="34" charset="0"/>
                <a:ea typeface="Quattrocento Sans" pitchFamily="34" charset="-122"/>
                <a:cs typeface="Quattrocento Sans" pitchFamily="34" charset="-120"/>
              </a:rPr>
              <a:t>Upsell Opportunity:</a:t>
            </a:r>
            <a:pPr>
              <a:lnSpc>
                <a:spcPct val="120000"/>
              </a:lnSpc>
            </a:pPr>
            <a:r>
              <a:rPr lang="en-US" sz="977" dirty="0">
                <a:solidFill>
                  <a:srgbClr val="2C3E50"/>
                </a:solidFill>
                <a:latin typeface="Quattrocento Sans" pitchFamily="34" charset="0"/>
                <a:ea typeface="Quattrocento Sans" pitchFamily="34" charset="-122"/>
                <a:cs typeface="Quattrocento Sans" pitchFamily="34" charset="-120"/>
              </a:rPr>
              <a:t> Target non-subscribers with subscription benefits</a:t>
            </a:r>
            <a:endParaRPr lang="en-US" sz="1600" dirty="0"/>
          </a:p>
        </p:txBody>
      </p:sp>
      <p:sp>
        <p:nvSpPr>
          <p:cNvPr id="47" name="Shape 44"/>
          <p:cNvSpPr/>
          <p:nvPr/>
        </p:nvSpPr>
        <p:spPr>
          <a:xfrm>
            <a:off x="6220047" y="6219938"/>
            <a:ext cx="5617535" cy="637953"/>
          </a:xfrm>
          <a:custGeom>
            <a:avLst/>
            <a:gdLst/>
            <a:ahLst/>
            <a:cxnLst/>
            <a:rect l="l" t="t" r="r" b="b"/>
            <a:pathLst>
              <a:path w="5617535" h="637953">
                <a:moveTo>
                  <a:pt x="35442" y="0"/>
                </a:moveTo>
                <a:lnTo>
                  <a:pt x="5511207" y="0"/>
                </a:lnTo>
                <a:cubicBezTo>
                  <a:pt x="5569930" y="0"/>
                  <a:pt x="5617535" y="47605"/>
                  <a:pt x="5617535" y="106328"/>
                </a:cubicBezTo>
                <a:lnTo>
                  <a:pt x="5617535" y="531626"/>
                </a:lnTo>
                <a:cubicBezTo>
                  <a:pt x="5617535" y="590349"/>
                  <a:pt x="5569930" y="637953"/>
                  <a:pt x="5511207" y="637953"/>
                </a:cubicBezTo>
                <a:lnTo>
                  <a:pt x="35442" y="637953"/>
                </a:lnTo>
                <a:cubicBezTo>
                  <a:pt x="15868" y="637953"/>
                  <a:pt x="0" y="622086"/>
                  <a:pt x="0" y="602512"/>
                </a:cubicBezTo>
                <a:lnTo>
                  <a:pt x="0" y="35442"/>
                </a:lnTo>
                <a:cubicBezTo>
                  <a:pt x="0" y="15881"/>
                  <a:pt x="15881" y="0"/>
                  <a:pt x="35442" y="0"/>
                </a:cubicBezTo>
                <a:close/>
              </a:path>
            </a:pathLst>
          </a:custGeom>
          <a:gradFill rotWithShape="1" flip="none">
            <a:gsLst>
              <a:gs pos="0">
                <a:srgbClr val="D4A574">
                  <a:alpha val="20000"/>
                </a:srgbClr>
              </a:gs>
              <a:gs pos="100000">
                <a:srgbClr val="C75B39">
                  <a:alpha val="20000"/>
                </a:srgbClr>
              </a:gs>
            </a:gsLst>
            <a:lin ang="0" scaled="1"/>
          </a:gradFill>
          <a:ln/>
        </p:spPr>
      </p:sp>
      <p:sp>
        <p:nvSpPr>
          <p:cNvPr id="48" name="Shape 45"/>
          <p:cNvSpPr/>
          <p:nvPr/>
        </p:nvSpPr>
        <p:spPr>
          <a:xfrm>
            <a:off x="6220047" y="6219938"/>
            <a:ext cx="35442" cy="637953"/>
          </a:xfrm>
          <a:custGeom>
            <a:avLst/>
            <a:gdLst/>
            <a:ahLst/>
            <a:cxnLst/>
            <a:rect l="l" t="t" r="r" b="b"/>
            <a:pathLst>
              <a:path w="35442" h="637953">
                <a:moveTo>
                  <a:pt x="35442" y="0"/>
                </a:moveTo>
                <a:lnTo>
                  <a:pt x="35442" y="0"/>
                </a:lnTo>
                <a:lnTo>
                  <a:pt x="35442" y="637953"/>
                </a:lnTo>
                <a:lnTo>
                  <a:pt x="35442" y="637953"/>
                </a:lnTo>
                <a:cubicBezTo>
                  <a:pt x="15868" y="637953"/>
                  <a:pt x="0" y="622086"/>
                  <a:pt x="0" y="602512"/>
                </a:cubicBezTo>
                <a:lnTo>
                  <a:pt x="0" y="35442"/>
                </a:lnTo>
                <a:cubicBezTo>
                  <a:pt x="0" y="15881"/>
                  <a:pt x="15881" y="0"/>
                  <a:pt x="35442" y="0"/>
                </a:cubicBezTo>
                <a:close/>
              </a:path>
            </a:pathLst>
          </a:custGeom>
          <a:solidFill>
            <a:srgbClr val="D4A574"/>
          </a:solidFill>
          <a:ln/>
        </p:spPr>
      </p:sp>
      <p:sp>
        <p:nvSpPr>
          <p:cNvPr id="49" name="Shape 46"/>
          <p:cNvSpPr/>
          <p:nvPr/>
        </p:nvSpPr>
        <p:spPr>
          <a:xfrm>
            <a:off x="6405009" y="6382970"/>
            <a:ext cx="108541" cy="124047"/>
          </a:xfrm>
          <a:custGeom>
            <a:avLst/>
            <a:gdLst/>
            <a:ahLst/>
            <a:cxnLst/>
            <a:rect l="l" t="t" r="r" b="b"/>
            <a:pathLst>
              <a:path w="108541" h="124047">
                <a:moveTo>
                  <a:pt x="0" y="52332"/>
                </a:moveTo>
                <a:cubicBezTo>
                  <a:pt x="0" y="36269"/>
                  <a:pt x="13010" y="23259"/>
                  <a:pt x="29073" y="23259"/>
                </a:cubicBezTo>
                <a:lnTo>
                  <a:pt x="31012" y="23259"/>
                </a:lnTo>
                <a:cubicBezTo>
                  <a:pt x="35300" y="23259"/>
                  <a:pt x="38765" y="26723"/>
                  <a:pt x="38765" y="31012"/>
                </a:cubicBezTo>
                <a:cubicBezTo>
                  <a:pt x="38765" y="35300"/>
                  <a:pt x="35300" y="38765"/>
                  <a:pt x="31012" y="38765"/>
                </a:cubicBezTo>
                <a:lnTo>
                  <a:pt x="29073" y="38765"/>
                </a:lnTo>
                <a:cubicBezTo>
                  <a:pt x="21587" y="38765"/>
                  <a:pt x="15506" y="44846"/>
                  <a:pt x="15506" y="52332"/>
                </a:cubicBezTo>
                <a:lnTo>
                  <a:pt x="15506" y="54270"/>
                </a:lnTo>
                <a:lnTo>
                  <a:pt x="31012" y="54270"/>
                </a:lnTo>
                <a:cubicBezTo>
                  <a:pt x="39564" y="54270"/>
                  <a:pt x="46517" y="61224"/>
                  <a:pt x="46517" y="69776"/>
                </a:cubicBezTo>
                <a:lnTo>
                  <a:pt x="46517" y="85282"/>
                </a:lnTo>
                <a:cubicBezTo>
                  <a:pt x="46517" y="93834"/>
                  <a:pt x="39564" y="100788"/>
                  <a:pt x="31012" y="100788"/>
                </a:cubicBezTo>
                <a:lnTo>
                  <a:pt x="15506" y="100788"/>
                </a:lnTo>
                <a:cubicBezTo>
                  <a:pt x="6953" y="100788"/>
                  <a:pt x="0" y="93834"/>
                  <a:pt x="0" y="85282"/>
                </a:cubicBezTo>
                <a:lnTo>
                  <a:pt x="0" y="52332"/>
                </a:lnTo>
                <a:close/>
                <a:moveTo>
                  <a:pt x="62023" y="52332"/>
                </a:moveTo>
                <a:cubicBezTo>
                  <a:pt x="62023" y="36269"/>
                  <a:pt x="75034" y="23259"/>
                  <a:pt x="91097" y="23259"/>
                </a:cubicBezTo>
                <a:lnTo>
                  <a:pt x="93035" y="23259"/>
                </a:lnTo>
                <a:cubicBezTo>
                  <a:pt x="97323" y="23259"/>
                  <a:pt x="100788" y="26723"/>
                  <a:pt x="100788" y="31012"/>
                </a:cubicBezTo>
                <a:cubicBezTo>
                  <a:pt x="100788" y="35300"/>
                  <a:pt x="97323" y="38765"/>
                  <a:pt x="93035" y="38765"/>
                </a:cubicBezTo>
                <a:lnTo>
                  <a:pt x="91097" y="38765"/>
                </a:lnTo>
                <a:cubicBezTo>
                  <a:pt x="83610" y="38765"/>
                  <a:pt x="77529" y="44846"/>
                  <a:pt x="77529" y="52332"/>
                </a:cubicBezTo>
                <a:lnTo>
                  <a:pt x="77529" y="54270"/>
                </a:lnTo>
                <a:lnTo>
                  <a:pt x="93035" y="54270"/>
                </a:lnTo>
                <a:cubicBezTo>
                  <a:pt x="101587" y="54270"/>
                  <a:pt x="108541" y="61224"/>
                  <a:pt x="108541" y="69776"/>
                </a:cubicBezTo>
                <a:lnTo>
                  <a:pt x="108541" y="85282"/>
                </a:lnTo>
                <a:cubicBezTo>
                  <a:pt x="108541" y="93834"/>
                  <a:pt x="101587" y="100788"/>
                  <a:pt x="93035" y="100788"/>
                </a:cubicBezTo>
                <a:lnTo>
                  <a:pt x="77529" y="100788"/>
                </a:lnTo>
                <a:cubicBezTo>
                  <a:pt x="68977" y="100788"/>
                  <a:pt x="62023" y="93834"/>
                  <a:pt x="62023" y="85282"/>
                </a:cubicBezTo>
                <a:lnTo>
                  <a:pt x="62023" y="52332"/>
                </a:lnTo>
                <a:close/>
              </a:path>
            </a:pathLst>
          </a:custGeom>
          <a:solidFill>
            <a:srgbClr val="D4A574"/>
          </a:solidFill>
          <a:ln/>
        </p:spPr>
      </p:sp>
      <p:sp>
        <p:nvSpPr>
          <p:cNvPr id="50" name="Text 47"/>
          <p:cNvSpPr/>
          <p:nvPr/>
        </p:nvSpPr>
        <p:spPr>
          <a:xfrm>
            <a:off x="6588477" y="6361706"/>
            <a:ext cx="5169360" cy="354419"/>
          </a:xfrm>
          <a:prstGeom prst="rect">
            <a:avLst/>
          </a:prstGeom>
          <a:noFill/>
          <a:ln/>
        </p:spPr>
        <p:txBody>
          <a:bodyPr wrap="square" lIns="0" tIns="0" rIns="0" bIns="0" rtlCol="0" anchor="ctr"/>
          <a:lstStyle/>
          <a:p>
            <a:pPr>
              <a:lnSpc>
                <a:spcPct val="120000"/>
              </a:lnSpc>
            </a:pPr>
            <a:r>
              <a:rPr lang="en-US" sz="977" b="1" dirty="0">
                <a:solidFill>
                  <a:srgbClr val="2C3E50"/>
                </a:solidFill>
                <a:latin typeface="Quattrocento Sans" pitchFamily="34" charset="0"/>
                <a:ea typeface="Quattrocento Sans" pitchFamily="34" charset="-122"/>
                <a:cs typeface="Quattrocento Sans" pitchFamily="34" charset="-120"/>
              </a:rPr>
              <a:t>Key Takeaway:</a:t>
            </a:r>
            <a:pPr>
              <a:lnSpc>
                <a:spcPct val="120000"/>
              </a:lnSpc>
            </a:pPr>
            <a:r>
              <a:rPr lang="en-US" sz="977" dirty="0">
                <a:solidFill>
                  <a:srgbClr val="2C3E50"/>
                </a:solidFill>
                <a:latin typeface="Quattrocento Sans" pitchFamily="34" charset="0"/>
                <a:ea typeface="Quattrocento Sans" pitchFamily="34" charset="-122"/>
                <a:cs typeface="Quattrocento Sans" pitchFamily="34" charset="-120"/>
              </a:rPr>
              <a:t> Premium services (subscriptions &amp; express shipping) correlate with higher customer value and loyalty.</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53391" y="424070"/>
            <a:ext cx="424070" cy="35339"/>
          </a:xfrm>
          <a:custGeom>
            <a:avLst/>
            <a:gdLst/>
            <a:ahLst/>
            <a:cxnLst/>
            <a:rect l="l" t="t" r="r" b="b"/>
            <a:pathLst>
              <a:path w="424070" h="35339">
                <a:moveTo>
                  <a:pt x="0" y="0"/>
                </a:moveTo>
                <a:lnTo>
                  <a:pt x="424070" y="0"/>
                </a:lnTo>
                <a:lnTo>
                  <a:pt x="424070" y="35339"/>
                </a:lnTo>
                <a:lnTo>
                  <a:pt x="0" y="35339"/>
                </a:lnTo>
                <a:lnTo>
                  <a:pt x="0" y="0"/>
                </a:lnTo>
                <a:close/>
              </a:path>
            </a:pathLst>
          </a:custGeom>
          <a:solidFill>
            <a:srgbClr val="C75B39"/>
          </a:solidFill>
          <a:ln/>
        </p:spPr>
      </p:sp>
      <p:sp>
        <p:nvSpPr>
          <p:cNvPr id="3" name="Text 1"/>
          <p:cNvSpPr/>
          <p:nvPr/>
        </p:nvSpPr>
        <p:spPr>
          <a:xfrm>
            <a:off x="883478" y="353391"/>
            <a:ext cx="883478" cy="176696"/>
          </a:xfrm>
          <a:prstGeom prst="rect">
            <a:avLst/>
          </a:prstGeom>
          <a:noFill/>
          <a:ln/>
        </p:spPr>
        <p:txBody>
          <a:bodyPr wrap="square" lIns="0" tIns="0" rIns="0" bIns="0" rtlCol="0" anchor="ctr"/>
          <a:lstStyle/>
          <a:p>
            <a:pPr>
              <a:lnSpc>
                <a:spcPct val="120000"/>
              </a:lnSpc>
            </a:pPr>
            <a:r>
              <a:rPr lang="en-US" sz="974" spc="97" kern="0" dirty="0">
                <a:solidFill>
                  <a:srgbClr val="C75B39"/>
                </a:solidFill>
                <a:latin typeface="Liter" pitchFamily="34" charset="0"/>
                <a:ea typeface="Liter" pitchFamily="34" charset="-122"/>
                <a:cs typeface="Liter" pitchFamily="34" charset="-120"/>
              </a:rPr>
              <a:t>Section 03</a:t>
            </a:r>
            <a:endParaRPr lang="en-US" sz="1600" dirty="0"/>
          </a:p>
        </p:txBody>
      </p:sp>
      <p:sp>
        <p:nvSpPr>
          <p:cNvPr id="4" name="Text 2"/>
          <p:cNvSpPr/>
          <p:nvPr/>
        </p:nvSpPr>
        <p:spPr>
          <a:xfrm>
            <a:off x="353391" y="636104"/>
            <a:ext cx="11644243" cy="353391"/>
          </a:xfrm>
          <a:prstGeom prst="rect">
            <a:avLst/>
          </a:prstGeom>
          <a:noFill/>
          <a:ln/>
        </p:spPr>
        <p:txBody>
          <a:bodyPr wrap="square" lIns="0" tIns="0" rIns="0" bIns="0" rtlCol="0" anchor="ctr"/>
          <a:lstStyle/>
          <a:p>
            <a:pPr>
              <a:lnSpc>
                <a:spcPct val="90000"/>
              </a:lnSpc>
            </a:pPr>
            <a:r>
              <a:rPr lang="en-US" sz="2504" b="1" dirty="0">
                <a:solidFill>
                  <a:srgbClr val="2E5A4C"/>
                </a:solidFill>
                <a:latin typeface="Oranienbaum" pitchFamily="34" charset="0"/>
                <a:ea typeface="Oranienbaum" pitchFamily="34" charset="-122"/>
                <a:cs typeface="Oranienbaum" pitchFamily="34" charset="-120"/>
              </a:rPr>
              <a:t>Discount Strategy Analysis</a:t>
            </a:r>
            <a:endParaRPr lang="en-US" sz="1600" dirty="0"/>
          </a:p>
        </p:txBody>
      </p:sp>
      <p:sp>
        <p:nvSpPr>
          <p:cNvPr id="5" name="Text 3"/>
          <p:cNvSpPr/>
          <p:nvPr/>
        </p:nvSpPr>
        <p:spPr>
          <a:xfrm>
            <a:off x="353391" y="1024835"/>
            <a:ext cx="11564730" cy="247374"/>
          </a:xfrm>
          <a:prstGeom prst="rect">
            <a:avLst/>
          </a:prstGeom>
          <a:noFill/>
          <a:ln/>
        </p:spPr>
        <p:txBody>
          <a:bodyPr wrap="square" lIns="0" tIns="0" rIns="0" bIns="0" rtlCol="0" anchor="ctr"/>
          <a:lstStyle/>
          <a:p>
            <a:pPr>
              <a:lnSpc>
                <a:spcPct val="130000"/>
              </a:lnSpc>
            </a:pPr>
            <a:r>
              <a:rPr lang="en-US" sz="1252" dirty="0">
                <a:solidFill>
                  <a:srgbClr val="2C3E50">
                    <a:alpha val="70000"/>
                  </a:srgbClr>
                </a:solidFill>
                <a:latin typeface="Quattrocento Sans" pitchFamily="34" charset="0"/>
                <a:ea typeface="Quattrocento Sans" pitchFamily="34" charset="-122"/>
                <a:cs typeface="Quattrocento Sans" pitchFamily="34" charset="-120"/>
              </a:rPr>
              <a:t>High-Spending Discount Users</a:t>
            </a:r>
            <a:endParaRPr lang="en-US" sz="1600" dirty="0"/>
          </a:p>
        </p:txBody>
      </p:sp>
      <p:sp>
        <p:nvSpPr>
          <p:cNvPr id="6" name="Shape 4"/>
          <p:cNvSpPr/>
          <p:nvPr/>
        </p:nvSpPr>
        <p:spPr>
          <a:xfrm>
            <a:off x="353391" y="1484243"/>
            <a:ext cx="4505739" cy="5371548"/>
          </a:xfrm>
          <a:custGeom>
            <a:avLst/>
            <a:gdLst/>
            <a:ahLst/>
            <a:cxnLst/>
            <a:rect l="l" t="t" r="r" b="b"/>
            <a:pathLst>
              <a:path w="4505739" h="5371548">
                <a:moveTo>
                  <a:pt x="106020" y="0"/>
                </a:moveTo>
                <a:lnTo>
                  <a:pt x="4399719" y="0"/>
                </a:lnTo>
                <a:cubicBezTo>
                  <a:pt x="4458272" y="0"/>
                  <a:pt x="4505739" y="47467"/>
                  <a:pt x="4505739" y="106020"/>
                </a:cubicBezTo>
                <a:lnTo>
                  <a:pt x="4505739" y="5265528"/>
                </a:lnTo>
                <a:cubicBezTo>
                  <a:pt x="4505739" y="5324081"/>
                  <a:pt x="4458272" y="5371548"/>
                  <a:pt x="4399719" y="5371548"/>
                </a:cubicBezTo>
                <a:lnTo>
                  <a:pt x="106020" y="5371548"/>
                </a:lnTo>
                <a:cubicBezTo>
                  <a:pt x="47467" y="5371548"/>
                  <a:pt x="0" y="5324081"/>
                  <a:pt x="0" y="5265528"/>
                </a:cubicBezTo>
                <a:lnTo>
                  <a:pt x="0" y="106020"/>
                </a:lnTo>
                <a:cubicBezTo>
                  <a:pt x="0" y="47506"/>
                  <a:pt x="47506" y="0"/>
                  <a:pt x="106020" y="0"/>
                </a:cubicBezTo>
                <a:close/>
              </a:path>
            </a:pathLst>
          </a:custGeom>
          <a:gradFill rotWithShape="1" flip="none">
            <a:gsLst>
              <a:gs pos="0">
                <a:srgbClr val="C75B39"/>
              </a:gs>
              <a:gs pos="100000">
                <a:srgbClr val="C75B39">
                  <a:alpha val="80000"/>
                </a:srgbClr>
              </a:gs>
            </a:gsLst>
            <a:lin ang="2700000" scaled="1"/>
          </a:gradFill>
          <a:ln/>
          <a:effectLst>
            <a:outerShdw sx="100000" sy="100000" kx="0" ky="0" algn="bl" rotWithShape="0" blurRad="132522" dist="88348" dir="5400000">
              <a:srgbClr val="000000">
                <a:alpha val="10196"/>
              </a:srgbClr>
            </a:outerShdw>
          </a:effectLst>
        </p:spPr>
      </p:sp>
      <p:sp>
        <p:nvSpPr>
          <p:cNvPr id="7" name="Shape 5"/>
          <p:cNvSpPr/>
          <p:nvPr/>
        </p:nvSpPr>
        <p:spPr>
          <a:xfrm>
            <a:off x="578678" y="1731510"/>
            <a:ext cx="238539" cy="212035"/>
          </a:xfrm>
          <a:custGeom>
            <a:avLst/>
            <a:gdLst/>
            <a:ahLst/>
            <a:cxnLst/>
            <a:rect l="l" t="t" r="r" b="b"/>
            <a:pathLst>
              <a:path w="238539" h="212035">
                <a:moveTo>
                  <a:pt x="166149" y="16193"/>
                </a:moveTo>
                <a:lnTo>
                  <a:pt x="227523" y="78436"/>
                </a:lnTo>
                <a:cubicBezTo>
                  <a:pt x="238995" y="90073"/>
                  <a:pt x="238995" y="108709"/>
                  <a:pt x="227523" y="120346"/>
                </a:cubicBezTo>
                <a:lnTo>
                  <a:pt x="162753" y="185903"/>
                </a:lnTo>
                <a:cubicBezTo>
                  <a:pt x="158902" y="189796"/>
                  <a:pt x="152607" y="189837"/>
                  <a:pt x="148714" y="185986"/>
                </a:cubicBezTo>
                <a:cubicBezTo>
                  <a:pt x="144821" y="182135"/>
                  <a:pt x="144780" y="175840"/>
                  <a:pt x="148631" y="171947"/>
                </a:cubicBezTo>
                <a:lnTo>
                  <a:pt x="213401" y="106349"/>
                </a:lnTo>
                <a:cubicBezTo>
                  <a:pt x="217211" y="102497"/>
                  <a:pt x="217211" y="96244"/>
                  <a:pt x="213401" y="92393"/>
                </a:cubicBezTo>
                <a:lnTo>
                  <a:pt x="151986" y="30190"/>
                </a:lnTo>
                <a:cubicBezTo>
                  <a:pt x="148134" y="26297"/>
                  <a:pt x="148176" y="20003"/>
                  <a:pt x="152069" y="16151"/>
                </a:cubicBezTo>
                <a:cubicBezTo>
                  <a:pt x="155962" y="12300"/>
                  <a:pt x="162256" y="12341"/>
                  <a:pt x="166108" y="16234"/>
                </a:cubicBezTo>
                <a:close/>
                <a:moveTo>
                  <a:pt x="13294" y="95043"/>
                </a:moveTo>
                <a:lnTo>
                  <a:pt x="13294" y="39757"/>
                </a:lnTo>
                <a:cubicBezTo>
                  <a:pt x="13294" y="25138"/>
                  <a:pt x="25179" y="13252"/>
                  <a:pt x="39798" y="13252"/>
                </a:cubicBezTo>
                <a:lnTo>
                  <a:pt x="95084" y="13252"/>
                </a:lnTo>
                <a:cubicBezTo>
                  <a:pt x="102125" y="13252"/>
                  <a:pt x="108875" y="16027"/>
                  <a:pt x="113844" y="20996"/>
                </a:cubicBezTo>
                <a:lnTo>
                  <a:pt x="173479" y="80631"/>
                </a:lnTo>
                <a:cubicBezTo>
                  <a:pt x="183833" y="90984"/>
                  <a:pt x="183833" y="107757"/>
                  <a:pt x="173479" y="118110"/>
                </a:cubicBezTo>
                <a:lnTo>
                  <a:pt x="118193" y="173396"/>
                </a:lnTo>
                <a:cubicBezTo>
                  <a:pt x="107840" y="183750"/>
                  <a:pt x="91067" y="183750"/>
                  <a:pt x="80714" y="173396"/>
                </a:cubicBezTo>
                <a:lnTo>
                  <a:pt x="21079" y="113762"/>
                </a:lnTo>
                <a:cubicBezTo>
                  <a:pt x="16110" y="108792"/>
                  <a:pt x="13335" y="102042"/>
                  <a:pt x="13335" y="95002"/>
                </a:cubicBezTo>
                <a:close/>
                <a:moveTo>
                  <a:pt x="72928" y="59635"/>
                </a:moveTo>
                <a:cubicBezTo>
                  <a:pt x="72928" y="52321"/>
                  <a:pt x="66990" y="46383"/>
                  <a:pt x="59676" y="46383"/>
                </a:cubicBezTo>
                <a:cubicBezTo>
                  <a:pt x="52362" y="46383"/>
                  <a:pt x="46424" y="52321"/>
                  <a:pt x="46424" y="59635"/>
                </a:cubicBezTo>
                <a:cubicBezTo>
                  <a:pt x="46424" y="66949"/>
                  <a:pt x="52362" y="72887"/>
                  <a:pt x="59676" y="72887"/>
                </a:cubicBezTo>
                <a:cubicBezTo>
                  <a:pt x="66990" y="72887"/>
                  <a:pt x="72928" y="66949"/>
                  <a:pt x="72928" y="59635"/>
                </a:cubicBezTo>
                <a:close/>
              </a:path>
            </a:pathLst>
          </a:custGeom>
          <a:solidFill>
            <a:srgbClr val="D4A574"/>
          </a:solidFill>
          <a:ln/>
        </p:spPr>
      </p:sp>
      <p:sp>
        <p:nvSpPr>
          <p:cNvPr id="8" name="Text 6"/>
          <p:cNvSpPr/>
          <p:nvPr/>
        </p:nvSpPr>
        <p:spPr>
          <a:xfrm>
            <a:off x="830470" y="1696278"/>
            <a:ext cx="3922643" cy="282713"/>
          </a:xfrm>
          <a:prstGeom prst="rect">
            <a:avLst/>
          </a:prstGeom>
          <a:noFill/>
          <a:ln/>
        </p:spPr>
        <p:txBody>
          <a:bodyPr wrap="square" lIns="0" tIns="0" rIns="0" bIns="0" rtlCol="0" anchor="ctr"/>
          <a:lstStyle/>
          <a:p>
            <a:pPr>
              <a:lnSpc>
                <a:spcPct val="110000"/>
              </a:lnSpc>
            </a:pPr>
            <a:r>
              <a:rPr lang="en-US" sz="1670" b="1" dirty="0">
                <a:solidFill>
                  <a:srgbClr val="FFFFFF"/>
                </a:solidFill>
                <a:latin typeface="Liter" pitchFamily="34" charset="0"/>
                <a:ea typeface="Liter" pitchFamily="34" charset="-122"/>
                <a:cs typeface="Liter" pitchFamily="34" charset="-120"/>
              </a:rPr>
              <a:t>High-Value Discount Segment</a:t>
            </a:r>
            <a:endParaRPr lang="en-US" sz="1600" dirty="0"/>
          </a:p>
        </p:txBody>
      </p:sp>
      <p:sp>
        <p:nvSpPr>
          <p:cNvPr id="9" name="Text 7"/>
          <p:cNvSpPr/>
          <p:nvPr/>
        </p:nvSpPr>
        <p:spPr>
          <a:xfrm>
            <a:off x="565426" y="2120240"/>
            <a:ext cx="4152348" cy="689113"/>
          </a:xfrm>
          <a:prstGeom prst="rect">
            <a:avLst/>
          </a:prstGeom>
          <a:noFill/>
          <a:ln/>
        </p:spPr>
        <p:txBody>
          <a:bodyPr wrap="square" lIns="0" tIns="0" rIns="0" bIns="0" rtlCol="0" anchor="ctr"/>
          <a:lstStyle/>
          <a:p>
            <a:pPr>
              <a:lnSpc>
                <a:spcPct val="140000"/>
              </a:lnSpc>
            </a:pPr>
            <a:r>
              <a:rPr lang="en-US" sz="1113" dirty="0">
                <a:solidFill>
                  <a:srgbClr val="FFFFFF">
                    <a:alpha val="90000"/>
                  </a:srgbClr>
                </a:solidFill>
                <a:latin typeface="Quattrocento Sans" pitchFamily="34" charset="0"/>
                <a:ea typeface="Quattrocento Sans" pitchFamily="34" charset="-122"/>
                <a:cs typeface="Quattrocento Sans" pitchFamily="34" charset="-120"/>
              </a:rPr>
              <a:t>Analysis identifies customers who </a:t>
            </a:r>
            <a:pPr>
              <a:lnSpc>
                <a:spcPct val="140000"/>
              </a:lnSpc>
            </a:pPr>
            <a:r>
              <a:rPr lang="en-US" sz="1113" b="1" dirty="0">
                <a:solidFill>
                  <a:srgbClr val="D4A574"/>
                </a:solidFill>
                <a:latin typeface="Quattrocento Sans" pitchFamily="34" charset="0"/>
                <a:ea typeface="Quattrocento Sans" pitchFamily="34" charset="-122"/>
                <a:cs typeface="Quattrocento Sans" pitchFamily="34" charset="-120"/>
              </a:rPr>
              <a:t>used discounts but still spent above average</a:t>
            </a:r>
            <a:pPr>
              <a:lnSpc>
                <a:spcPct val="140000"/>
              </a:lnSpc>
            </a:pPr>
            <a:r>
              <a:rPr lang="en-US" sz="1113" dirty="0">
                <a:solidFill>
                  <a:srgbClr val="FFFFFF">
                    <a:alpha val="90000"/>
                  </a:srgbClr>
                </a:solidFill>
                <a:latin typeface="Quattrocento Sans" pitchFamily="34" charset="0"/>
                <a:ea typeface="Quattrocento Sans" pitchFamily="34" charset="-122"/>
                <a:cs typeface="Quattrocento Sans" pitchFamily="34" charset="-120"/>
              </a:rPr>
              <a:t> purchase amounts. This segment represents a unique opportunity—price-sensitive yet high-value customers.</a:t>
            </a:r>
            <a:endParaRPr lang="en-US" sz="1600" dirty="0"/>
          </a:p>
        </p:txBody>
      </p:sp>
      <p:sp>
        <p:nvSpPr>
          <p:cNvPr id="10" name="Shape 8"/>
          <p:cNvSpPr/>
          <p:nvPr/>
        </p:nvSpPr>
        <p:spPr>
          <a:xfrm>
            <a:off x="565426" y="2986049"/>
            <a:ext cx="1970157" cy="989496"/>
          </a:xfrm>
          <a:custGeom>
            <a:avLst/>
            <a:gdLst/>
            <a:ahLst/>
            <a:cxnLst/>
            <a:rect l="l" t="t" r="r" b="b"/>
            <a:pathLst>
              <a:path w="1970157" h="989496">
                <a:moveTo>
                  <a:pt x="70680" y="0"/>
                </a:moveTo>
                <a:lnTo>
                  <a:pt x="1899477" y="0"/>
                </a:lnTo>
                <a:cubicBezTo>
                  <a:pt x="1938512" y="0"/>
                  <a:pt x="1970157" y="31644"/>
                  <a:pt x="1970157" y="70680"/>
                </a:cubicBezTo>
                <a:lnTo>
                  <a:pt x="1970157" y="918816"/>
                </a:lnTo>
                <a:cubicBezTo>
                  <a:pt x="1970157" y="957851"/>
                  <a:pt x="1938512" y="989496"/>
                  <a:pt x="1899477" y="989496"/>
                </a:cubicBezTo>
                <a:lnTo>
                  <a:pt x="70680" y="989496"/>
                </a:lnTo>
                <a:cubicBezTo>
                  <a:pt x="31644" y="989496"/>
                  <a:pt x="0" y="957851"/>
                  <a:pt x="0" y="918816"/>
                </a:cubicBezTo>
                <a:lnTo>
                  <a:pt x="0" y="70680"/>
                </a:lnTo>
                <a:cubicBezTo>
                  <a:pt x="0" y="31671"/>
                  <a:pt x="31671" y="0"/>
                  <a:pt x="70680" y="0"/>
                </a:cubicBezTo>
                <a:close/>
              </a:path>
            </a:pathLst>
          </a:custGeom>
          <a:solidFill>
            <a:srgbClr val="FFFFFF">
              <a:alpha val="10196"/>
            </a:srgbClr>
          </a:solidFill>
          <a:ln/>
        </p:spPr>
      </p:sp>
      <p:sp>
        <p:nvSpPr>
          <p:cNvPr id="11" name="Text 9"/>
          <p:cNvSpPr/>
          <p:nvPr/>
        </p:nvSpPr>
        <p:spPr>
          <a:xfrm>
            <a:off x="675861" y="3127405"/>
            <a:ext cx="1749287" cy="176696"/>
          </a:xfrm>
          <a:prstGeom prst="rect">
            <a:avLst/>
          </a:prstGeom>
          <a:noFill/>
          <a:ln/>
        </p:spPr>
        <p:txBody>
          <a:bodyPr wrap="square" lIns="0" tIns="0" rIns="0" bIns="0" rtlCol="0" anchor="ctr"/>
          <a:lstStyle/>
          <a:p>
            <a:pPr algn="ctr">
              <a:lnSpc>
                <a:spcPct val="120000"/>
              </a:lnSpc>
            </a:pPr>
            <a:r>
              <a:rPr lang="en-US" sz="974" dirty="0">
                <a:solidFill>
                  <a:srgbClr val="FFFFFF">
                    <a:alpha val="80000"/>
                  </a:srgbClr>
                </a:solidFill>
                <a:latin typeface="Quattrocento Sans" pitchFamily="34" charset="0"/>
                <a:ea typeface="Quattrocento Sans" pitchFamily="34" charset="-122"/>
                <a:cs typeface="Quattrocento Sans" pitchFamily="34" charset="-120"/>
              </a:rPr>
              <a:t>Segment Size</a:t>
            </a:r>
            <a:endParaRPr lang="en-US" sz="1600" dirty="0"/>
          </a:p>
        </p:txBody>
      </p:sp>
      <p:sp>
        <p:nvSpPr>
          <p:cNvPr id="12" name="Text 10"/>
          <p:cNvSpPr/>
          <p:nvPr/>
        </p:nvSpPr>
        <p:spPr>
          <a:xfrm>
            <a:off x="627270" y="3339440"/>
            <a:ext cx="1846470" cy="353391"/>
          </a:xfrm>
          <a:prstGeom prst="rect">
            <a:avLst/>
          </a:prstGeom>
          <a:noFill/>
          <a:ln/>
        </p:spPr>
        <p:txBody>
          <a:bodyPr wrap="square" lIns="0" tIns="0" rIns="0" bIns="0" rtlCol="0" anchor="ctr"/>
          <a:lstStyle/>
          <a:p>
            <a:pPr algn="ctr">
              <a:lnSpc>
                <a:spcPct val="90000"/>
              </a:lnSpc>
            </a:pPr>
            <a:r>
              <a:rPr lang="en-US" sz="2504" b="1" dirty="0">
                <a:solidFill>
                  <a:srgbClr val="D4A574"/>
                </a:solidFill>
                <a:latin typeface="Oranienbaum" pitchFamily="34" charset="0"/>
                <a:ea typeface="Oranienbaum" pitchFamily="34" charset="-122"/>
                <a:cs typeface="Oranienbaum" pitchFamily="34" charset="-120"/>
              </a:rPr>
              <a:t>847</a:t>
            </a:r>
            <a:endParaRPr lang="en-US" sz="1600" dirty="0"/>
          </a:p>
        </p:txBody>
      </p:sp>
      <p:sp>
        <p:nvSpPr>
          <p:cNvPr id="13" name="Text 11"/>
          <p:cNvSpPr/>
          <p:nvPr/>
        </p:nvSpPr>
        <p:spPr>
          <a:xfrm>
            <a:off x="680278" y="3692831"/>
            <a:ext cx="1740452" cy="141357"/>
          </a:xfrm>
          <a:prstGeom prst="rect">
            <a:avLst/>
          </a:prstGeom>
          <a:noFill/>
          <a:ln/>
        </p:spPr>
        <p:txBody>
          <a:bodyPr wrap="square" lIns="0" tIns="0" rIns="0" bIns="0" rtlCol="0" anchor="ctr"/>
          <a:lstStyle/>
          <a:p>
            <a:pPr algn="ctr">
              <a:lnSpc>
                <a:spcPct val="110000"/>
              </a:lnSpc>
            </a:pPr>
            <a:r>
              <a:rPr lang="en-US" sz="835" dirty="0">
                <a:solidFill>
                  <a:srgbClr val="FFFFFF">
                    <a:alpha val="70000"/>
                  </a:srgbClr>
                </a:solidFill>
                <a:latin typeface="Quattrocento Sans" pitchFamily="34" charset="0"/>
                <a:ea typeface="Quattrocento Sans" pitchFamily="34" charset="-122"/>
                <a:cs typeface="Quattrocento Sans" pitchFamily="34" charset="-120"/>
              </a:rPr>
              <a:t>customers (21.7%)</a:t>
            </a:r>
            <a:endParaRPr lang="en-US" sz="1600" dirty="0"/>
          </a:p>
        </p:txBody>
      </p:sp>
      <p:sp>
        <p:nvSpPr>
          <p:cNvPr id="14" name="Shape 12"/>
          <p:cNvSpPr/>
          <p:nvPr/>
        </p:nvSpPr>
        <p:spPr>
          <a:xfrm>
            <a:off x="2677933" y="2986049"/>
            <a:ext cx="1970157" cy="989496"/>
          </a:xfrm>
          <a:custGeom>
            <a:avLst/>
            <a:gdLst/>
            <a:ahLst/>
            <a:cxnLst/>
            <a:rect l="l" t="t" r="r" b="b"/>
            <a:pathLst>
              <a:path w="1970157" h="989496">
                <a:moveTo>
                  <a:pt x="70680" y="0"/>
                </a:moveTo>
                <a:lnTo>
                  <a:pt x="1899477" y="0"/>
                </a:lnTo>
                <a:cubicBezTo>
                  <a:pt x="1938512" y="0"/>
                  <a:pt x="1970157" y="31644"/>
                  <a:pt x="1970157" y="70680"/>
                </a:cubicBezTo>
                <a:lnTo>
                  <a:pt x="1970157" y="918816"/>
                </a:lnTo>
                <a:cubicBezTo>
                  <a:pt x="1970157" y="957851"/>
                  <a:pt x="1938512" y="989496"/>
                  <a:pt x="1899477" y="989496"/>
                </a:cubicBezTo>
                <a:lnTo>
                  <a:pt x="70680" y="989496"/>
                </a:lnTo>
                <a:cubicBezTo>
                  <a:pt x="31644" y="989496"/>
                  <a:pt x="0" y="957851"/>
                  <a:pt x="0" y="918816"/>
                </a:cubicBezTo>
                <a:lnTo>
                  <a:pt x="0" y="70680"/>
                </a:lnTo>
                <a:cubicBezTo>
                  <a:pt x="0" y="31671"/>
                  <a:pt x="31671" y="0"/>
                  <a:pt x="70680" y="0"/>
                </a:cubicBezTo>
                <a:close/>
              </a:path>
            </a:pathLst>
          </a:custGeom>
          <a:solidFill>
            <a:srgbClr val="FFFFFF">
              <a:alpha val="10196"/>
            </a:srgbClr>
          </a:solidFill>
          <a:ln/>
        </p:spPr>
      </p:sp>
      <p:sp>
        <p:nvSpPr>
          <p:cNvPr id="15" name="Text 13"/>
          <p:cNvSpPr/>
          <p:nvPr/>
        </p:nvSpPr>
        <p:spPr>
          <a:xfrm>
            <a:off x="2788368" y="3127405"/>
            <a:ext cx="1749287" cy="176696"/>
          </a:xfrm>
          <a:prstGeom prst="rect">
            <a:avLst/>
          </a:prstGeom>
          <a:noFill/>
          <a:ln/>
        </p:spPr>
        <p:txBody>
          <a:bodyPr wrap="square" lIns="0" tIns="0" rIns="0" bIns="0" rtlCol="0" anchor="ctr"/>
          <a:lstStyle/>
          <a:p>
            <a:pPr algn="ctr">
              <a:lnSpc>
                <a:spcPct val="120000"/>
              </a:lnSpc>
            </a:pPr>
            <a:r>
              <a:rPr lang="en-US" sz="974" dirty="0">
                <a:solidFill>
                  <a:srgbClr val="FFFFFF">
                    <a:alpha val="80000"/>
                  </a:srgbClr>
                </a:solidFill>
                <a:latin typeface="Quattrocento Sans" pitchFamily="34" charset="0"/>
                <a:ea typeface="Quattrocento Sans" pitchFamily="34" charset="-122"/>
                <a:cs typeface="Quattrocento Sans" pitchFamily="34" charset="-120"/>
              </a:rPr>
              <a:t>Avg Purchase</a:t>
            </a:r>
            <a:endParaRPr lang="en-US" sz="1600" dirty="0"/>
          </a:p>
        </p:txBody>
      </p:sp>
      <p:sp>
        <p:nvSpPr>
          <p:cNvPr id="16" name="Text 14"/>
          <p:cNvSpPr/>
          <p:nvPr/>
        </p:nvSpPr>
        <p:spPr>
          <a:xfrm>
            <a:off x="2739777" y="3339440"/>
            <a:ext cx="1846470" cy="353391"/>
          </a:xfrm>
          <a:prstGeom prst="rect">
            <a:avLst/>
          </a:prstGeom>
          <a:noFill/>
          <a:ln/>
        </p:spPr>
        <p:txBody>
          <a:bodyPr wrap="square" lIns="0" tIns="0" rIns="0" bIns="0" rtlCol="0" anchor="ctr"/>
          <a:lstStyle/>
          <a:p>
            <a:pPr algn="ctr">
              <a:lnSpc>
                <a:spcPct val="90000"/>
              </a:lnSpc>
            </a:pPr>
            <a:r>
              <a:rPr lang="en-US" sz="2504" b="1" dirty="0">
                <a:solidFill>
                  <a:srgbClr val="D4A574"/>
                </a:solidFill>
                <a:latin typeface="Oranienbaum" pitchFamily="34" charset="0"/>
                <a:ea typeface="Oranienbaum" pitchFamily="34" charset="-122"/>
                <a:cs typeface="Oranienbaum" pitchFamily="34" charset="-120"/>
              </a:rPr>
              <a:t>$138</a:t>
            </a:r>
            <a:endParaRPr lang="en-US" sz="1600" dirty="0"/>
          </a:p>
        </p:txBody>
      </p:sp>
      <p:sp>
        <p:nvSpPr>
          <p:cNvPr id="17" name="Text 15"/>
          <p:cNvSpPr/>
          <p:nvPr/>
        </p:nvSpPr>
        <p:spPr>
          <a:xfrm>
            <a:off x="2792785" y="3692831"/>
            <a:ext cx="1740452" cy="141357"/>
          </a:xfrm>
          <a:prstGeom prst="rect">
            <a:avLst/>
          </a:prstGeom>
          <a:noFill/>
          <a:ln/>
        </p:spPr>
        <p:txBody>
          <a:bodyPr wrap="square" lIns="0" tIns="0" rIns="0" bIns="0" rtlCol="0" anchor="ctr"/>
          <a:lstStyle/>
          <a:p>
            <a:pPr algn="ctr">
              <a:lnSpc>
                <a:spcPct val="110000"/>
              </a:lnSpc>
            </a:pPr>
            <a:r>
              <a:rPr lang="en-US" sz="835" dirty="0">
                <a:solidFill>
                  <a:srgbClr val="FFFFFF">
                    <a:alpha val="70000"/>
                  </a:srgbClr>
                </a:solidFill>
                <a:latin typeface="Quattrocento Sans" pitchFamily="34" charset="0"/>
                <a:ea typeface="Quattrocento Sans" pitchFamily="34" charset="-122"/>
                <a:cs typeface="Quattrocento Sans" pitchFamily="34" charset="-120"/>
              </a:rPr>
              <a:t>vs. $118 average</a:t>
            </a:r>
            <a:endParaRPr lang="en-US" sz="1600" dirty="0"/>
          </a:p>
        </p:txBody>
      </p:sp>
      <p:sp>
        <p:nvSpPr>
          <p:cNvPr id="18" name="Shape 16"/>
          <p:cNvSpPr/>
          <p:nvPr/>
        </p:nvSpPr>
        <p:spPr>
          <a:xfrm>
            <a:off x="565426" y="4152128"/>
            <a:ext cx="4081670" cy="1130852"/>
          </a:xfrm>
          <a:custGeom>
            <a:avLst/>
            <a:gdLst/>
            <a:ahLst/>
            <a:cxnLst/>
            <a:rect l="l" t="t" r="r" b="b"/>
            <a:pathLst>
              <a:path w="4081670" h="1130852">
                <a:moveTo>
                  <a:pt x="70678" y="0"/>
                </a:moveTo>
                <a:lnTo>
                  <a:pt x="4010991" y="0"/>
                </a:lnTo>
                <a:cubicBezTo>
                  <a:pt x="4050026" y="0"/>
                  <a:pt x="4081670" y="31644"/>
                  <a:pt x="4081670" y="70678"/>
                </a:cubicBezTo>
                <a:lnTo>
                  <a:pt x="4081670" y="1060174"/>
                </a:lnTo>
                <a:cubicBezTo>
                  <a:pt x="4081670" y="1099208"/>
                  <a:pt x="4050026" y="1130852"/>
                  <a:pt x="4010991" y="1130852"/>
                </a:cubicBezTo>
                <a:lnTo>
                  <a:pt x="70678" y="1130852"/>
                </a:lnTo>
                <a:cubicBezTo>
                  <a:pt x="31644" y="1130852"/>
                  <a:pt x="0" y="1099208"/>
                  <a:pt x="0" y="1060174"/>
                </a:cubicBezTo>
                <a:lnTo>
                  <a:pt x="0" y="70678"/>
                </a:lnTo>
                <a:cubicBezTo>
                  <a:pt x="0" y="31670"/>
                  <a:pt x="31670" y="0"/>
                  <a:pt x="70678" y="0"/>
                </a:cubicBezTo>
                <a:close/>
              </a:path>
            </a:pathLst>
          </a:custGeom>
          <a:solidFill>
            <a:srgbClr val="FFFFFF">
              <a:alpha val="10196"/>
            </a:srgbClr>
          </a:solidFill>
          <a:ln/>
        </p:spPr>
      </p:sp>
      <p:sp>
        <p:nvSpPr>
          <p:cNvPr id="19" name="Text 17"/>
          <p:cNvSpPr/>
          <p:nvPr/>
        </p:nvSpPr>
        <p:spPr>
          <a:xfrm>
            <a:off x="706783" y="4293484"/>
            <a:ext cx="3860800" cy="176696"/>
          </a:xfrm>
          <a:prstGeom prst="rect">
            <a:avLst/>
          </a:prstGeom>
          <a:noFill/>
          <a:ln/>
        </p:spPr>
        <p:txBody>
          <a:bodyPr wrap="square" lIns="0" tIns="0" rIns="0" bIns="0" rtlCol="0" anchor="ctr"/>
          <a:lstStyle/>
          <a:p>
            <a:pPr>
              <a:lnSpc>
                <a:spcPct val="120000"/>
              </a:lnSpc>
            </a:pPr>
            <a:r>
              <a:rPr lang="en-US" sz="974" b="1" dirty="0">
                <a:solidFill>
                  <a:srgbClr val="D4A574"/>
                </a:solidFill>
                <a:latin typeface="Liter" pitchFamily="34" charset="0"/>
                <a:ea typeface="Liter" pitchFamily="34" charset="-122"/>
                <a:cs typeface="Liter" pitchFamily="34" charset="-120"/>
              </a:rPr>
              <a:t>Characteristics</a:t>
            </a:r>
            <a:endParaRPr lang="en-US" sz="1600" dirty="0"/>
          </a:p>
        </p:txBody>
      </p:sp>
      <p:sp>
        <p:nvSpPr>
          <p:cNvPr id="20" name="Shape 18"/>
          <p:cNvSpPr/>
          <p:nvPr/>
        </p:nvSpPr>
        <p:spPr>
          <a:xfrm>
            <a:off x="732183" y="4576197"/>
            <a:ext cx="108226" cy="123687"/>
          </a:xfrm>
          <a:custGeom>
            <a:avLst/>
            <a:gdLst/>
            <a:ahLst/>
            <a:cxnLst/>
            <a:rect l="l" t="t" r="r" b="b"/>
            <a:pathLst>
              <a:path w="108226" h="123687">
                <a:moveTo>
                  <a:pt x="105037" y="16934"/>
                </a:moveTo>
                <a:cubicBezTo>
                  <a:pt x="108492" y="19447"/>
                  <a:pt x="109265" y="24278"/>
                  <a:pt x="106752" y="27733"/>
                </a:cubicBezTo>
                <a:lnTo>
                  <a:pt x="44909" y="112768"/>
                </a:lnTo>
                <a:cubicBezTo>
                  <a:pt x="43580" y="114604"/>
                  <a:pt x="41527" y="115739"/>
                  <a:pt x="39256" y="115932"/>
                </a:cubicBezTo>
                <a:cubicBezTo>
                  <a:pt x="36985" y="116126"/>
                  <a:pt x="34787" y="115280"/>
                  <a:pt x="33193" y="113686"/>
                </a:cubicBezTo>
                <a:lnTo>
                  <a:pt x="2271" y="82764"/>
                </a:lnTo>
                <a:cubicBezTo>
                  <a:pt x="-749" y="79744"/>
                  <a:pt x="-749" y="74840"/>
                  <a:pt x="2271" y="71821"/>
                </a:cubicBezTo>
                <a:cubicBezTo>
                  <a:pt x="5291" y="68801"/>
                  <a:pt x="10195" y="68801"/>
                  <a:pt x="13214" y="71821"/>
                </a:cubicBezTo>
                <a:lnTo>
                  <a:pt x="37734" y="96341"/>
                </a:lnTo>
                <a:lnTo>
                  <a:pt x="94263" y="18626"/>
                </a:lnTo>
                <a:cubicBezTo>
                  <a:pt x="96775" y="15171"/>
                  <a:pt x="101607" y="14398"/>
                  <a:pt x="105061" y="16910"/>
                </a:cubicBezTo>
                <a:close/>
              </a:path>
            </a:pathLst>
          </a:custGeom>
          <a:solidFill>
            <a:srgbClr val="D4A574"/>
          </a:solidFill>
          <a:ln/>
        </p:spPr>
      </p:sp>
      <p:sp>
        <p:nvSpPr>
          <p:cNvPr id="21" name="Text 19"/>
          <p:cNvSpPr/>
          <p:nvPr/>
        </p:nvSpPr>
        <p:spPr>
          <a:xfrm>
            <a:off x="932070" y="4540858"/>
            <a:ext cx="2288209" cy="176696"/>
          </a:xfrm>
          <a:prstGeom prst="rect">
            <a:avLst/>
          </a:prstGeom>
          <a:noFill/>
          <a:ln/>
        </p:spPr>
        <p:txBody>
          <a:bodyPr wrap="square" lIns="0" tIns="0" rIns="0" bIns="0" rtlCol="0" anchor="ctr"/>
          <a:lstStyle/>
          <a:p>
            <a:pPr>
              <a:lnSpc>
                <a:spcPct val="120000"/>
              </a:lnSpc>
            </a:pPr>
            <a:r>
              <a:rPr lang="en-US" sz="974" dirty="0">
                <a:solidFill>
                  <a:srgbClr val="FFFFFF">
                    <a:alpha val="90000"/>
                  </a:srgbClr>
                </a:solidFill>
                <a:latin typeface="Quattrocento Sans" pitchFamily="34" charset="0"/>
                <a:ea typeface="Quattrocento Sans" pitchFamily="34" charset="-122"/>
                <a:cs typeface="Quattrocento Sans" pitchFamily="34" charset="-120"/>
              </a:rPr>
              <a:t>Respond positively to promotional pricing</a:t>
            </a:r>
            <a:endParaRPr lang="en-US" sz="1600" dirty="0"/>
          </a:p>
        </p:txBody>
      </p:sp>
      <p:sp>
        <p:nvSpPr>
          <p:cNvPr id="22" name="Shape 20"/>
          <p:cNvSpPr/>
          <p:nvPr/>
        </p:nvSpPr>
        <p:spPr>
          <a:xfrm>
            <a:off x="732183" y="4788232"/>
            <a:ext cx="108226" cy="123687"/>
          </a:xfrm>
          <a:custGeom>
            <a:avLst/>
            <a:gdLst/>
            <a:ahLst/>
            <a:cxnLst/>
            <a:rect l="l" t="t" r="r" b="b"/>
            <a:pathLst>
              <a:path w="108226" h="123687">
                <a:moveTo>
                  <a:pt x="105037" y="16934"/>
                </a:moveTo>
                <a:cubicBezTo>
                  <a:pt x="108492" y="19447"/>
                  <a:pt x="109265" y="24278"/>
                  <a:pt x="106752" y="27733"/>
                </a:cubicBezTo>
                <a:lnTo>
                  <a:pt x="44909" y="112768"/>
                </a:lnTo>
                <a:cubicBezTo>
                  <a:pt x="43580" y="114604"/>
                  <a:pt x="41527" y="115739"/>
                  <a:pt x="39256" y="115932"/>
                </a:cubicBezTo>
                <a:cubicBezTo>
                  <a:pt x="36985" y="116126"/>
                  <a:pt x="34787" y="115280"/>
                  <a:pt x="33193" y="113686"/>
                </a:cubicBezTo>
                <a:lnTo>
                  <a:pt x="2271" y="82764"/>
                </a:lnTo>
                <a:cubicBezTo>
                  <a:pt x="-749" y="79744"/>
                  <a:pt x="-749" y="74840"/>
                  <a:pt x="2271" y="71821"/>
                </a:cubicBezTo>
                <a:cubicBezTo>
                  <a:pt x="5291" y="68801"/>
                  <a:pt x="10195" y="68801"/>
                  <a:pt x="13214" y="71821"/>
                </a:cubicBezTo>
                <a:lnTo>
                  <a:pt x="37734" y="96341"/>
                </a:lnTo>
                <a:lnTo>
                  <a:pt x="94263" y="18626"/>
                </a:lnTo>
                <a:cubicBezTo>
                  <a:pt x="96775" y="15171"/>
                  <a:pt x="101607" y="14398"/>
                  <a:pt x="105061" y="16910"/>
                </a:cubicBezTo>
                <a:close/>
              </a:path>
            </a:pathLst>
          </a:custGeom>
          <a:solidFill>
            <a:srgbClr val="D4A574"/>
          </a:solidFill>
          <a:ln/>
        </p:spPr>
      </p:sp>
      <p:sp>
        <p:nvSpPr>
          <p:cNvPr id="23" name="Text 21"/>
          <p:cNvSpPr/>
          <p:nvPr/>
        </p:nvSpPr>
        <p:spPr>
          <a:xfrm>
            <a:off x="932070" y="4752893"/>
            <a:ext cx="2738783" cy="176696"/>
          </a:xfrm>
          <a:prstGeom prst="rect">
            <a:avLst/>
          </a:prstGeom>
          <a:noFill/>
          <a:ln/>
        </p:spPr>
        <p:txBody>
          <a:bodyPr wrap="square" lIns="0" tIns="0" rIns="0" bIns="0" rtlCol="0" anchor="ctr"/>
          <a:lstStyle/>
          <a:p>
            <a:pPr>
              <a:lnSpc>
                <a:spcPct val="120000"/>
              </a:lnSpc>
            </a:pPr>
            <a:r>
              <a:rPr lang="en-US" sz="974" dirty="0">
                <a:solidFill>
                  <a:srgbClr val="FFFFFF">
                    <a:alpha val="90000"/>
                  </a:srgbClr>
                </a:solidFill>
                <a:latin typeface="Quattrocento Sans" pitchFamily="34" charset="0"/>
                <a:ea typeface="Quattrocento Sans" pitchFamily="34" charset="-122"/>
                <a:cs typeface="Quattrocento Sans" pitchFamily="34" charset="-120"/>
              </a:rPr>
              <a:t>Maintain high transaction values despite discounts</a:t>
            </a:r>
            <a:endParaRPr lang="en-US" sz="1600" dirty="0"/>
          </a:p>
        </p:txBody>
      </p:sp>
      <p:sp>
        <p:nvSpPr>
          <p:cNvPr id="24" name="Shape 22"/>
          <p:cNvSpPr/>
          <p:nvPr/>
        </p:nvSpPr>
        <p:spPr>
          <a:xfrm>
            <a:off x="732183" y="5000267"/>
            <a:ext cx="108226" cy="123687"/>
          </a:xfrm>
          <a:custGeom>
            <a:avLst/>
            <a:gdLst/>
            <a:ahLst/>
            <a:cxnLst/>
            <a:rect l="l" t="t" r="r" b="b"/>
            <a:pathLst>
              <a:path w="108226" h="123687">
                <a:moveTo>
                  <a:pt x="105037" y="16934"/>
                </a:moveTo>
                <a:cubicBezTo>
                  <a:pt x="108492" y="19447"/>
                  <a:pt x="109265" y="24278"/>
                  <a:pt x="106752" y="27733"/>
                </a:cubicBezTo>
                <a:lnTo>
                  <a:pt x="44909" y="112768"/>
                </a:lnTo>
                <a:cubicBezTo>
                  <a:pt x="43580" y="114604"/>
                  <a:pt x="41527" y="115739"/>
                  <a:pt x="39256" y="115932"/>
                </a:cubicBezTo>
                <a:cubicBezTo>
                  <a:pt x="36985" y="116126"/>
                  <a:pt x="34787" y="115280"/>
                  <a:pt x="33193" y="113686"/>
                </a:cubicBezTo>
                <a:lnTo>
                  <a:pt x="2271" y="82764"/>
                </a:lnTo>
                <a:cubicBezTo>
                  <a:pt x="-749" y="79744"/>
                  <a:pt x="-749" y="74840"/>
                  <a:pt x="2271" y="71821"/>
                </a:cubicBezTo>
                <a:cubicBezTo>
                  <a:pt x="5291" y="68801"/>
                  <a:pt x="10195" y="68801"/>
                  <a:pt x="13214" y="71821"/>
                </a:cubicBezTo>
                <a:lnTo>
                  <a:pt x="37734" y="96341"/>
                </a:lnTo>
                <a:lnTo>
                  <a:pt x="94263" y="18626"/>
                </a:lnTo>
                <a:cubicBezTo>
                  <a:pt x="96775" y="15171"/>
                  <a:pt x="101607" y="14398"/>
                  <a:pt x="105061" y="16910"/>
                </a:cubicBezTo>
                <a:close/>
              </a:path>
            </a:pathLst>
          </a:custGeom>
          <a:solidFill>
            <a:srgbClr val="D4A574"/>
          </a:solidFill>
          <a:ln/>
        </p:spPr>
      </p:sp>
      <p:sp>
        <p:nvSpPr>
          <p:cNvPr id="25" name="Text 23"/>
          <p:cNvSpPr/>
          <p:nvPr/>
        </p:nvSpPr>
        <p:spPr>
          <a:xfrm>
            <a:off x="932070" y="4964928"/>
            <a:ext cx="2562087" cy="176696"/>
          </a:xfrm>
          <a:prstGeom prst="rect">
            <a:avLst/>
          </a:prstGeom>
          <a:noFill/>
          <a:ln/>
        </p:spPr>
        <p:txBody>
          <a:bodyPr wrap="square" lIns="0" tIns="0" rIns="0" bIns="0" rtlCol="0" anchor="ctr"/>
          <a:lstStyle/>
          <a:p>
            <a:pPr>
              <a:lnSpc>
                <a:spcPct val="120000"/>
              </a:lnSpc>
            </a:pPr>
            <a:r>
              <a:rPr lang="en-US" sz="974" dirty="0">
                <a:solidFill>
                  <a:srgbClr val="FFFFFF">
                    <a:alpha val="90000"/>
                  </a:srgbClr>
                </a:solidFill>
                <a:latin typeface="Quattrocento Sans" pitchFamily="34" charset="0"/>
                <a:ea typeface="Quattrocento Sans" pitchFamily="34" charset="-122"/>
                <a:cs typeface="Quattrocento Sans" pitchFamily="34" charset="-120"/>
              </a:rPr>
              <a:t>Show strong purchase intent and brand affinity</a:t>
            </a:r>
            <a:endParaRPr lang="en-US" sz="1600" dirty="0"/>
          </a:p>
        </p:txBody>
      </p:sp>
      <p:sp>
        <p:nvSpPr>
          <p:cNvPr id="26" name="Shape 24"/>
          <p:cNvSpPr/>
          <p:nvPr/>
        </p:nvSpPr>
        <p:spPr>
          <a:xfrm>
            <a:off x="5073153" y="1484243"/>
            <a:ext cx="6758609" cy="3180522"/>
          </a:xfrm>
          <a:custGeom>
            <a:avLst/>
            <a:gdLst/>
            <a:ahLst/>
            <a:cxnLst/>
            <a:rect l="l" t="t" r="r" b="b"/>
            <a:pathLst>
              <a:path w="6758609" h="3180522">
                <a:moveTo>
                  <a:pt x="106007" y="0"/>
                </a:moveTo>
                <a:lnTo>
                  <a:pt x="6652602" y="0"/>
                </a:lnTo>
                <a:cubicBezTo>
                  <a:pt x="6711148" y="0"/>
                  <a:pt x="6758609" y="47461"/>
                  <a:pt x="6758609" y="106007"/>
                </a:cubicBezTo>
                <a:lnTo>
                  <a:pt x="6758609" y="3074515"/>
                </a:lnTo>
                <a:cubicBezTo>
                  <a:pt x="6758609" y="3133061"/>
                  <a:pt x="6711148" y="3180522"/>
                  <a:pt x="6652602" y="3180522"/>
                </a:cubicBezTo>
                <a:lnTo>
                  <a:pt x="106007" y="3180522"/>
                </a:lnTo>
                <a:cubicBezTo>
                  <a:pt x="47461" y="3180522"/>
                  <a:pt x="0" y="3133061"/>
                  <a:pt x="0" y="3074515"/>
                </a:cubicBezTo>
                <a:lnTo>
                  <a:pt x="0" y="106007"/>
                </a:lnTo>
                <a:cubicBezTo>
                  <a:pt x="0" y="47500"/>
                  <a:pt x="47500" y="0"/>
                  <a:pt x="106007" y="0"/>
                </a:cubicBezTo>
                <a:close/>
              </a:path>
            </a:pathLst>
          </a:custGeom>
          <a:solidFill>
            <a:srgbClr val="FFFFFF"/>
          </a:solidFill>
          <a:ln/>
          <a:effectLst>
            <a:outerShdw sx="100000" sy="100000" kx="0" ky="0" algn="bl" rotWithShape="0" blurRad="53009" dist="35339" dir="5400000">
              <a:srgbClr val="000000">
                <a:alpha val="10196"/>
              </a:srgbClr>
            </a:outerShdw>
          </a:effectLst>
        </p:spPr>
      </p:sp>
      <p:sp>
        <p:nvSpPr>
          <p:cNvPr id="27" name="Shape 25"/>
          <p:cNvSpPr/>
          <p:nvPr/>
        </p:nvSpPr>
        <p:spPr>
          <a:xfrm>
            <a:off x="5271936" y="1696278"/>
            <a:ext cx="176696" cy="176696"/>
          </a:xfrm>
          <a:custGeom>
            <a:avLst/>
            <a:gdLst/>
            <a:ahLst/>
            <a:cxnLst/>
            <a:rect l="l" t="t" r="r" b="b"/>
            <a:pathLst>
              <a:path w="176696" h="176696">
                <a:moveTo>
                  <a:pt x="11043" y="11043"/>
                </a:moveTo>
                <a:cubicBezTo>
                  <a:pt x="17152" y="11043"/>
                  <a:pt x="22087" y="15979"/>
                  <a:pt x="22087" y="22087"/>
                </a:cubicBezTo>
                <a:lnTo>
                  <a:pt x="22087" y="138043"/>
                </a:lnTo>
                <a:cubicBezTo>
                  <a:pt x="22087" y="141080"/>
                  <a:pt x="24572" y="143565"/>
                  <a:pt x="27609" y="143565"/>
                </a:cubicBezTo>
                <a:lnTo>
                  <a:pt x="165652" y="143565"/>
                </a:lnTo>
                <a:cubicBezTo>
                  <a:pt x="171761" y="143565"/>
                  <a:pt x="176696" y="148500"/>
                  <a:pt x="176696" y="154609"/>
                </a:cubicBezTo>
                <a:cubicBezTo>
                  <a:pt x="176696" y="160717"/>
                  <a:pt x="171761" y="165652"/>
                  <a:pt x="165652" y="165652"/>
                </a:cubicBezTo>
                <a:lnTo>
                  <a:pt x="27609" y="165652"/>
                </a:lnTo>
                <a:cubicBezTo>
                  <a:pt x="12355" y="165652"/>
                  <a:pt x="0" y="153297"/>
                  <a:pt x="0" y="138043"/>
                </a:cubicBezTo>
                <a:lnTo>
                  <a:pt x="0" y="22087"/>
                </a:lnTo>
                <a:cubicBezTo>
                  <a:pt x="0" y="15979"/>
                  <a:pt x="4935" y="11043"/>
                  <a:pt x="11043" y="11043"/>
                </a:cubicBezTo>
                <a:close/>
                <a:moveTo>
                  <a:pt x="44174" y="33130"/>
                </a:moveTo>
                <a:cubicBezTo>
                  <a:pt x="44174" y="27022"/>
                  <a:pt x="49109" y="22087"/>
                  <a:pt x="55217" y="22087"/>
                </a:cubicBezTo>
                <a:lnTo>
                  <a:pt x="121478" y="22087"/>
                </a:lnTo>
                <a:cubicBezTo>
                  <a:pt x="127587" y="22087"/>
                  <a:pt x="132522" y="27022"/>
                  <a:pt x="132522" y="33130"/>
                </a:cubicBezTo>
                <a:cubicBezTo>
                  <a:pt x="132522" y="39239"/>
                  <a:pt x="127587" y="44174"/>
                  <a:pt x="121478" y="44174"/>
                </a:cubicBezTo>
                <a:lnTo>
                  <a:pt x="55217" y="44174"/>
                </a:lnTo>
                <a:cubicBezTo>
                  <a:pt x="49109" y="44174"/>
                  <a:pt x="44174" y="39239"/>
                  <a:pt x="44174" y="33130"/>
                </a:cubicBezTo>
                <a:close/>
                <a:moveTo>
                  <a:pt x="55217" y="60739"/>
                </a:moveTo>
                <a:lnTo>
                  <a:pt x="99391" y="60739"/>
                </a:lnTo>
                <a:cubicBezTo>
                  <a:pt x="105500" y="60739"/>
                  <a:pt x="110435" y="65674"/>
                  <a:pt x="110435" y="71783"/>
                </a:cubicBezTo>
                <a:cubicBezTo>
                  <a:pt x="110435" y="77891"/>
                  <a:pt x="105500" y="82826"/>
                  <a:pt x="99391" y="82826"/>
                </a:cubicBezTo>
                <a:lnTo>
                  <a:pt x="55217" y="82826"/>
                </a:lnTo>
                <a:cubicBezTo>
                  <a:pt x="49109" y="82826"/>
                  <a:pt x="44174" y="77891"/>
                  <a:pt x="44174" y="71783"/>
                </a:cubicBezTo>
                <a:cubicBezTo>
                  <a:pt x="44174" y="65674"/>
                  <a:pt x="49109" y="60739"/>
                  <a:pt x="55217" y="60739"/>
                </a:cubicBezTo>
                <a:close/>
                <a:moveTo>
                  <a:pt x="55217" y="99391"/>
                </a:moveTo>
                <a:lnTo>
                  <a:pt x="143565" y="99391"/>
                </a:lnTo>
                <a:cubicBezTo>
                  <a:pt x="149674" y="99391"/>
                  <a:pt x="154609" y="104326"/>
                  <a:pt x="154609" y="110435"/>
                </a:cubicBezTo>
                <a:cubicBezTo>
                  <a:pt x="154609" y="116543"/>
                  <a:pt x="149674" y="121478"/>
                  <a:pt x="143565" y="121478"/>
                </a:cubicBezTo>
                <a:lnTo>
                  <a:pt x="55217" y="121478"/>
                </a:lnTo>
                <a:cubicBezTo>
                  <a:pt x="49109" y="121478"/>
                  <a:pt x="44174" y="116543"/>
                  <a:pt x="44174" y="110435"/>
                </a:cubicBezTo>
                <a:cubicBezTo>
                  <a:pt x="44174" y="104326"/>
                  <a:pt x="49109" y="99391"/>
                  <a:pt x="55217" y="99391"/>
                </a:cubicBezTo>
                <a:close/>
              </a:path>
            </a:pathLst>
          </a:custGeom>
          <a:solidFill>
            <a:srgbClr val="D4A574"/>
          </a:solidFill>
          <a:ln/>
        </p:spPr>
      </p:sp>
      <p:sp>
        <p:nvSpPr>
          <p:cNvPr id="28" name="Text 26"/>
          <p:cNvSpPr/>
          <p:nvPr/>
        </p:nvSpPr>
        <p:spPr>
          <a:xfrm>
            <a:off x="5470719" y="1660939"/>
            <a:ext cx="6272696" cy="247374"/>
          </a:xfrm>
          <a:prstGeom prst="rect">
            <a:avLst/>
          </a:prstGeom>
          <a:noFill/>
          <a:ln/>
        </p:spPr>
        <p:txBody>
          <a:bodyPr wrap="square" lIns="0" tIns="0" rIns="0" bIns="0" rtlCol="0" anchor="ctr"/>
          <a:lstStyle/>
          <a:p>
            <a:pPr>
              <a:lnSpc>
                <a:spcPct val="120000"/>
              </a:lnSpc>
            </a:pPr>
            <a:r>
              <a:rPr lang="en-US" sz="1391" b="1" dirty="0">
                <a:solidFill>
                  <a:srgbClr val="2E5A4C"/>
                </a:solidFill>
                <a:latin typeface="Liter" pitchFamily="34" charset="0"/>
                <a:ea typeface="Liter" pitchFamily="34" charset="-122"/>
                <a:cs typeface="Liter" pitchFamily="34" charset="-120"/>
              </a:rPr>
              <a:t>Discount Usage vs Purchase Amount</a:t>
            </a:r>
            <a:endParaRPr lang="en-US" sz="1600" dirty="0"/>
          </a:p>
        </p:txBody>
      </p:sp>
      <p:pic>
        <p:nvPicPr>
          <p:cNvPr id="29" name="Image 0" descr="https://kimi-img.moonshot.cn/pub/slides/26-03-07-00:30:53-d6lg2fbfoslpjt6vq1tg.png">    </p:cNvPr>
          <p:cNvPicPr>
            <a:picLocks noChangeAspect="1"/>
          </p:cNvPicPr>
          <p:nvPr/>
        </p:nvPicPr>
        <p:blipFill>
          <a:blip r:embed="rId1"/>
          <a:srcRect l="0" r="0" t="30" b="30"/>
          <a:stretch/>
        </p:blipFill>
        <p:spPr>
          <a:xfrm>
            <a:off x="5249849" y="2014330"/>
            <a:ext cx="5883965" cy="2473739"/>
          </a:xfrm>
          <a:prstGeom prst="roundRect">
            <a:avLst>
              <a:gd name="adj" fmla="val 0"/>
            </a:avLst>
          </a:prstGeom>
        </p:spPr>
      </p:pic>
      <p:sp>
        <p:nvSpPr>
          <p:cNvPr id="30" name="Shape 27"/>
          <p:cNvSpPr/>
          <p:nvPr/>
        </p:nvSpPr>
        <p:spPr>
          <a:xfrm>
            <a:off x="5073153" y="4806122"/>
            <a:ext cx="3313043" cy="2049670"/>
          </a:xfrm>
          <a:custGeom>
            <a:avLst/>
            <a:gdLst/>
            <a:ahLst/>
            <a:cxnLst/>
            <a:rect l="l" t="t" r="r" b="b"/>
            <a:pathLst>
              <a:path w="3313043" h="2049670">
                <a:moveTo>
                  <a:pt x="106009" y="0"/>
                </a:moveTo>
                <a:lnTo>
                  <a:pt x="3207035" y="0"/>
                </a:lnTo>
                <a:cubicBezTo>
                  <a:pt x="3265582" y="0"/>
                  <a:pt x="3313043" y="47462"/>
                  <a:pt x="3313043" y="106009"/>
                </a:cubicBezTo>
                <a:lnTo>
                  <a:pt x="3313043" y="1943661"/>
                </a:lnTo>
                <a:cubicBezTo>
                  <a:pt x="3313043" y="2002208"/>
                  <a:pt x="3265582" y="2049670"/>
                  <a:pt x="3207035" y="2049670"/>
                </a:cubicBezTo>
                <a:lnTo>
                  <a:pt x="106009" y="2049670"/>
                </a:lnTo>
                <a:cubicBezTo>
                  <a:pt x="47462" y="2049670"/>
                  <a:pt x="0" y="2002208"/>
                  <a:pt x="0" y="1943661"/>
                </a:cubicBezTo>
                <a:lnTo>
                  <a:pt x="0" y="106009"/>
                </a:lnTo>
                <a:cubicBezTo>
                  <a:pt x="0" y="47462"/>
                  <a:pt x="47462" y="0"/>
                  <a:pt x="106009" y="0"/>
                </a:cubicBezTo>
                <a:close/>
              </a:path>
            </a:pathLst>
          </a:custGeom>
          <a:solidFill>
            <a:srgbClr val="FFFFFF"/>
          </a:solidFill>
          <a:ln/>
          <a:effectLst>
            <a:outerShdw sx="100000" sy="100000" kx="0" ky="0" algn="bl" rotWithShape="0" blurRad="53009" dist="35339" dir="5400000">
              <a:srgbClr val="000000">
                <a:alpha val="10196"/>
              </a:srgbClr>
            </a:outerShdw>
          </a:effectLst>
        </p:spPr>
      </p:sp>
      <p:sp>
        <p:nvSpPr>
          <p:cNvPr id="31" name="Shape 28"/>
          <p:cNvSpPr/>
          <p:nvPr/>
        </p:nvSpPr>
        <p:spPr>
          <a:xfrm>
            <a:off x="5252058" y="5026991"/>
            <a:ext cx="198783" cy="159026"/>
          </a:xfrm>
          <a:custGeom>
            <a:avLst/>
            <a:gdLst/>
            <a:ahLst/>
            <a:cxnLst/>
            <a:rect l="l" t="t" r="r" b="b"/>
            <a:pathLst>
              <a:path w="198783" h="159026">
                <a:moveTo>
                  <a:pt x="119270" y="9939"/>
                </a:moveTo>
                <a:lnTo>
                  <a:pt x="159026" y="9939"/>
                </a:lnTo>
                <a:cubicBezTo>
                  <a:pt x="164524" y="9939"/>
                  <a:pt x="168965" y="14381"/>
                  <a:pt x="168965" y="19878"/>
                </a:cubicBezTo>
                <a:cubicBezTo>
                  <a:pt x="168965" y="25376"/>
                  <a:pt x="164524" y="29817"/>
                  <a:pt x="159026" y="29817"/>
                </a:cubicBezTo>
                <a:lnTo>
                  <a:pt x="123742" y="29817"/>
                </a:lnTo>
                <a:cubicBezTo>
                  <a:pt x="122127" y="37831"/>
                  <a:pt x="116629" y="44447"/>
                  <a:pt x="109330" y="47615"/>
                </a:cubicBezTo>
                <a:lnTo>
                  <a:pt x="109330" y="139148"/>
                </a:lnTo>
                <a:lnTo>
                  <a:pt x="159026" y="139148"/>
                </a:lnTo>
                <a:cubicBezTo>
                  <a:pt x="164524" y="139148"/>
                  <a:pt x="168965" y="143589"/>
                  <a:pt x="168965" y="149087"/>
                </a:cubicBezTo>
                <a:cubicBezTo>
                  <a:pt x="168965" y="154585"/>
                  <a:pt x="164524" y="159026"/>
                  <a:pt x="159026" y="159026"/>
                </a:cubicBezTo>
                <a:lnTo>
                  <a:pt x="39757" y="159026"/>
                </a:lnTo>
                <a:cubicBezTo>
                  <a:pt x="34259" y="159026"/>
                  <a:pt x="29817" y="154585"/>
                  <a:pt x="29817" y="149087"/>
                </a:cubicBezTo>
                <a:cubicBezTo>
                  <a:pt x="29817" y="143589"/>
                  <a:pt x="34259" y="139148"/>
                  <a:pt x="39757" y="139148"/>
                </a:cubicBezTo>
                <a:lnTo>
                  <a:pt x="89452" y="139148"/>
                </a:lnTo>
                <a:lnTo>
                  <a:pt x="89452" y="47615"/>
                </a:lnTo>
                <a:cubicBezTo>
                  <a:pt x="82153" y="44415"/>
                  <a:pt x="76656" y="37800"/>
                  <a:pt x="75040" y="29817"/>
                </a:cubicBezTo>
                <a:lnTo>
                  <a:pt x="39757" y="29817"/>
                </a:lnTo>
                <a:cubicBezTo>
                  <a:pt x="34259" y="29817"/>
                  <a:pt x="29817" y="25376"/>
                  <a:pt x="29817" y="19878"/>
                </a:cubicBezTo>
                <a:cubicBezTo>
                  <a:pt x="29817" y="14381"/>
                  <a:pt x="34259" y="9939"/>
                  <a:pt x="39757" y="9939"/>
                </a:cubicBezTo>
                <a:lnTo>
                  <a:pt x="79513" y="9939"/>
                </a:lnTo>
                <a:cubicBezTo>
                  <a:pt x="84048" y="3914"/>
                  <a:pt x="91254" y="0"/>
                  <a:pt x="99391" y="0"/>
                </a:cubicBezTo>
                <a:cubicBezTo>
                  <a:pt x="107529" y="0"/>
                  <a:pt x="114735" y="3914"/>
                  <a:pt x="119270" y="9939"/>
                </a:cubicBezTo>
                <a:close/>
                <a:moveTo>
                  <a:pt x="136539" y="99391"/>
                </a:moveTo>
                <a:lnTo>
                  <a:pt x="181513" y="99391"/>
                </a:lnTo>
                <a:lnTo>
                  <a:pt x="159026" y="60815"/>
                </a:lnTo>
                <a:lnTo>
                  <a:pt x="136539" y="99391"/>
                </a:lnTo>
                <a:close/>
                <a:moveTo>
                  <a:pt x="159026" y="129209"/>
                </a:moveTo>
                <a:cubicBezTo>
                  <a:pt x="139489" y="129209"/>
                  <a:pt x="123245" y="118648"/>
                  <a:pt x="119891" y="104703"/>
                </a:cubicBezTo>
                <a:cubicBezTo>
                  <a:pt x="119083" y="101286"/>
                  <a:pt x="120201" y="97776"/>
                  <a:pt x="121972" y="94732"/>
                </a:cubicBezTo>
                <a:lnTo>
                  <a:pt x="151541" y="44043"/>
                </a:lnTo>
                <a:cubicBezTo>
                  <a:pt x="153094" y="41372"/>
                  <a:pt x="155951" y="39757"/>
                  <a:pt x="159026" y="39757"/>
                </a:cubicBezTo>
                <a:cubicBezTo>
                  <a:pt x="162101" y="39757"/>
                  <a:pt x="164959" y="41403"/>
                  <a:pt x="166511" y="44043"/>
                </a:cubicBezTo>
                <a:lnTo>
                  <a:pt x="196080" y="94732"/>
                </a:lnTo>
                <a:cubicBezTo>
                  <a:pt x="197851" y="97776"/>
                  <a:pt x="198969" y="101286"/>
                  <a:pt x="198161" y="104703"/>
                </a:cubicBezTo>
                <a:cubicBezTo>
                  <a:pt x="194807" y="118617"/>
                  <a:pt x="178563" y="129209"/>
                  <a:pt x="159026" y="129209"/>
                </a:cubicBezTo>
                <a:close/>
                <a:moveTo>
                  <a:pt x="39384" y="60815"/>
                </a:moveTo>
                <a:lnTo>
                  <a:pt x="16897" y="99391"/>
                </a:lnTo>
                <a:lnTo>
                  <a:pt x="61902" y="99391"/>
                </a:lnTo>
                <a:lnTo>
                  <a:pt x="39384" y="60815"/>
                </a:lnTo>
                <a:close/>
                <a:moveTo>
                  <a:pt x="280" y="104703"/>
                </a:moveTo>
                <a:cubicBezTo>
                  <a:pt x="-528" y="101286"/>
                  <a:pt x="590" y="97776"/>
                  <a:pt x="2361" y="94732"/>
                </a:cubicBezTo>
                <a:lnTo>
                  <a:pt x="31929" y="44043"/>
                </a:lnTo>
                <a:cubicBezTo>
                  <a:pt x="33482" y="41372"/>
                  <a:pt x="36340" y="39757"/>
                  <a:pt x="39415" y="39757"/>
                </a:cubicBezTo>
                <a:cubicBezTo>
                  <a:pt x="42490" y="39757"/>
                  <a:pt x="45347" y="41403"/>
                  <a:pt x="46900" y="44043"/>
                </a:cubicBezTo>
                <a:lnTo>
                  <a:pt x="76469" y="94732"/>
                </a:lnTo>
                <a:cubicBezTo>
                  <a:pt x="78240" y="97776"/>
                  <a:pt x="79358" y="101286"/>
                  <a:pt x="78550" y="104703"/>
                </a:cubicBezTo>
                <a:cubicBezTo>
                  <a:pt x="75196" y="118617"/>
                  <a:pt x="58951" y="129209"/>
                  <a:pt x="39415" y="129209"/>
                </a:cubicBezTo>
                <a:cubicBezTo>
                  <a:pt x="19878" y="129209"/>
                  <a:pt x="3634" y="118648"/>
                  <a:pt x="280" y="104703"/>
                </a:cubicBezTo>
                <a:close/>
              </a:path>
            </a:pathLst>
          </a:custGeom>
          <a:solidFill>
            <a:srgbClr val="2E5A4C"/>
          </a:solidFill>
          <a:ln/>
        </p:spPr>
      </p:sp>
      <p:sp>
        <p:nvSpPr>
          <p:cNvPr id="32" name="Text 29"/>
          <p:cNvSpPr/>
          <p:nvPr/>
        </p:nvSpPr>
        <p:spPr>
          <a:xfrm>
            <a:off x="5453049" y="4982817"/>
            <a:ext cx="2835965" cy="247374"/>
          </a:xfrm>
          <a:prstGeom prst="rect">
            <a:avLst/>
          </a:prstGeom>
          <a:noFill/>
          <a:ln/>
        </p:spPr>
        <p:txBody>
          <a:bodyPr wrap="square" lIns="0" tIns="0" rIns="0" bIns="0" rtlCol="0" anchor="ctr"/>
          <a:lstStyle/>
          <a:p>
            <a:pPr>
              <a:lnSpc>
                <a:spcPct val="130000"/>
              </a:lnSpc>
            </a:pPr>
            <a:r>
              <a:rPr lang="en-US" sz="1252" b="1" dirty="0">
                <a:solidFill>
                  <a:srgbClr val="2E5A4C"/>
                </a:solidFill>
                <a:latin typeface="Liter" pitchFamily="34" charset="0"/>
                <a:ea typeface="Liter" pitchFamily="34" charset="-122"/>
                <a:cs typeface="Liter" pitchFamily="34" charset="-120"/>
              </a:rPr>
              <a:t>Balanced Approach</a:t>
            </a:r>
            <a:endParaRPr lang="en-US" sz="1600" dirty="0"/>
          </a:p>
        </p:txBody>
      </p:sp>
      <p:sp>
        <p:nvSpPr>
          <p:cNvPr id="33" name="Shape 30"/>
          <p:cNvSpPr/>
          <p:nvPr/>
        </p:nvSpPr>
        <p:spPr>
          <a:xfrm>
            <a:off x="5249849" y="5336209"/>
            <a:ext cx="2959652" cy="706783"/>
          </a:xfrm>
          <a:custGeom>
            <a:avLst/>
            <a:gdLst/>
            <a:ahLst/>
            <a:cxnLst/>
            <a:rect l="l" t="t" r="r" b="b"/>
            <a:pathLst>
              <a:path w="2959652" h="706783">
                <a:moveTo>
                  <a:pt x="70678" y="0"/>
                </a:moveTo>
                <a:lnTo>
                  <a:pt x="2888974" y="0"/>
                </a:lnTo>
                <a:cubicBezTo>
                  <a:pt x="2928008" y="0"/>
                  <a:pt x="2959652" y="31644"/>
                  <a:pt x="2959652" y="70678"/>
                </a:cubicBezTo>
                <a:lnTo>
                  <a:pt x="2959652" y="636104"/>
                </a:lnTo>
                <a:cubicBezTo>
                  <a:pt x="2959652" y="675139"/>
                  <a:pt x="2928008" y="706783"/>
                  <a:pt x="2888974" y="706783"/>
                </a:cubicBezTo>
                <a:lnTo>
                  <a:pt x="70678" y="706783"/>
                </a:lnTo>
                <a:cubicBezTo>
                  <a:pt x="31644" y="706783"/>
                  <a:pt x="0" y="675139"/>
                  <a:pt x="0" y="636104"/>
                </a:cubicBezTo>
                <a:lnTo>
                  <a:pt x="0" y="70678"/>
                </a:lnTo>
                <a:cubicBezTo>
                  <a:pt x="0" y="31670"/>
                  <a:pt x="31670" y="0"/>
                  <a:pt x="70678" y="0"/>
                </a:cubicBezTo>
                <a:close/>
              </a:path>
            </a:pathLst>
          </a:custGeom>
          <a:solidFill>
            <a:srgbClr val="2E5A4C">
              <a:alpha val="5098"/>
            </a:srgbClr>
          </a:solidFill>
          <a:ln/>
        </p:spPr>
      </p:sp>
      <p:sp>
        <p:nvSpPr>
          <p:cNvPr id="34" name="Text 31"/>
          <p:cNvSpPr/>
          <p:nvPr/>
        </p:nvSpPr>
        <p:spPr>
          <a:xfrm>
            <a:off x="5355866" y="5442226"/>
            <a:ext cx="2809461" cy="176696"/>
          </a:xfrm>
          <a:prstGeom prst="rect">
            <a:avLst/>
          </a:prstGeom>
          <a:noFill/>
          <a:ln/>
        </p:spPr>
        <p:txBody>
          <a:bodyPr wrap="square" lIns="0" tIns="0" rIns="0" bIns="0" rtlCol="0" anchor="ctr"/>
          <a:lstStyle/>
          <a:p>
            <a:pPr>
              <a:lnSpc>
                <a:spcPct val="120000"/>
              </a:lnSpc>
            </a:pPr>
            <a:r>
              <a:rPr lang="en-US" sz="974" b="1" dirty="0">
                <a:solidFill>
                  <a:srgbClr val="2E5A4C"/>
                </a:solidFill>
                <a:latin typeface="Liter" pitchFamily="34" charset="0"/>
                <a:ea typeface="Liter" pitchFamily="34" charset="-122"/>
                <a:cs typeface="Liter" pitchFamily="34" charset="-120"/>
              </a:rPr>
              <a:t>Sales Boost</a:t>
            </a:r>
            <a:endParaRPr lang="en-US" sz="1600" dirty="0"/>
          </a:p>
        </p:txBody>
      </p:sp>
      <p:sp>
        <p:nvSpPr>
          <p:cNvPr id="35" name="Text 32"/>
          <p:cNvSpPr/>
          <p:nvPr/>
        </p:nvSpPr>
        <p:spPr>
          <a:xfrm>
            <a:off x="5355866" y="5654261"/>
            <a:ext cx="2800626" cy="282713"/>
          </a:xfrm>
          <a:prstGeom prst="rect">
            <a:avLst/>
          </a:prstGeom>
          <a:noFill/>
          <a:ln/>
        </p:spPr>
        <p:txBody>
          <a:bodyPr wrap="square" lIns="0" tIns="0" rIns="0" bIns="0" rtlCol="0" anchor="ctr"/>
          <a:lstStyle/>
          <a:p>
            <a:pPr>
              <a:lnSpc>
                <a:spcPct val="110000"/>
              </a:lnSpc>
            </a:pPr>
            <a:r>
              <a:rPr lang="en-US" sz="835" dirty="0">
                <a:solidFill>
                  <a:srgbClr val="2C3E50">
                    <a:alpha val="80000"/>
                  </a:srgbClr>
                </a:solidFill>
                <a:latin typeface="Quattrocento Sans" pitchFamily="34" charset="0"/>
                <a:ea typeface="Quattrocento Sans" pitchFamily="34" charset="-122"/>
                <a:cs typeface="Quattrocento Sans" pitchFamily="34" charset="-120"/>
              </a:rPr>
              <a:t>Discounts drive volume and attract price-sensitive segments</a:t>
            </a:r>
            <a:endParaRPr lang="en-US" sz="1600" dirty="0"/>
          </a:p>
        </p:txBody>
      </p:sp>
      <p:sp>
        <p:nvSpPr>
          <p:cNvPr id="36" name="Shape 33"/>
          <p:cNvSpPr/>
          <p:nvPr/>
        </p:nvSpPr>
        <p:spPr>
          <a:xfrm>
            <a:off x="5249849" y="6113450"/>
            <a:ext cx="2959652" cy="565426"/>
          </a:xfrm>
          <a:custGeom>
            <a:avLst/>
            <a:gdLst/>
            <a:ahLst/>
            <a:cxnLst/>
            <a:rect l="l" t="t" r="r" b="b"/>
            <a:pathLst>
              <a:path w="2959652" h="565426">
                <a:moveTo>
                  <a:pt x="70678" y="0"/>
                </a:moveTo>
                <a:lnTo>
                  <a:pt x="2888974" y="0"/>
                </a:lnTo>
                <a:cubicBezTo>
                  <a:pt x="2928008" y="0"/>
                  <a:pt x="2959652" y="31644"/>
                  <a:pt x="2959652" y="70678"/>
                </a:cubicBezTo>
                <a:lnTo>
                  <a:pt x="2959652" y="494748"/>
                </a:lnTo>
                <a:cubicBezTo>
                  <a:pt x="2959652" y="533782"/>
                  <a:pt x="2928008" y="565426"/>
                  <a:pt x="2888974" y="565426"/>
                </a:cubicBezTo>
                <a:lnTo>
                  <a:pt x="70678" y="565426"/>
                </a:lnTo>
                <a:cubicBezTo>
                  <a:pt x="31644" y="565426"/>
                  <a:pt x="0" y="533782"/>
                  <a:pt x="0" y="494748"/>
                </a:cubicBezTo>
                <a:lnTo>
                  <a:pt x="0" y="70678"/>
                </a:lnTo>
                <a:cubicBezTo>
                  <a:pt x="0" y="31670"/>
                  <a:pt x="31670" y="0"/>
                  <a:pt x="70678" y="0"/>
                </a:cubicBezTo>
                <a:close/>
              </a:path>
            </a:pathLst>
          </a:custGeom>
          <a:solidFill>
            <a:srgbClr val="C75B39">
              <a:alpha val="10196"/>
            </a:srgbClr>
          </a:solidFill>
          <a:ln/>
        </p:spPr>
      </p:sp>
      <p:sp>
        <p:nvSpPr>
          <p:cNvPr id="37" name="Text 34"/>
          <p:cNvSpPr/>
          <p:nvPr/>
        </p:nvSpPr>
        <p:spPr>
          <a:xfrm>
            <a:off x="5355866" y="6219467"/>
            <a:ext cx="2809461" cy="176696"/>
          </a:xfrm>
          <a:prstGeom prst="rect">
            <a:avLst/>
          </a:prstGeom>
          <a:noFill/>
          <a:ln/>
        </p:spPr>
        <p:txBody>
          <a:bodyPr wrap="square" lIns="0" tIns="0" rIns="0" bIns="0" rtlCol="0" anchor="ctr"/>
          <a:lstStyle/>
          <a:p>
            <a:pPr>
              <a:lnSpc>
                <a:spcPct val="120000"/>
              </a:lnSpc>
            </a:pPr>
            <a:r>
              <a:rPr lang="en-US" sz="974" b="1" dirty="0">
                <a:solidFill>
                  <a:srgbClr val="C75B39"/>
                </a:solidFill>
                <a:latin typeface="Liter" pitchFamily="34" charset="0"/>
                <a:ea typeface="Liter" pitchFamily="34" charset="-122"/>
                <a:cs typeface="Liter" pitchFamily="34" charset="-120"/>
              </a:rPr>
              <a:t>Margin Control</a:t>
            </a:r>
            <a:endParaRPr lang="en-US" sz="1600" dirty="0"/>
          </a:p>
        </p:txBody>
      </p:sp>
      <p:sp>
        <p:nvSpPr>
          <p:cNvPr id="38" name="Text 35"/>
          <p:cNvSpPr/>
          <p:nvPr/>
        </p:nvSpPr>
        <p:spPr>
          <a:xfrm>
            <a:off x="5355866" y="6431502"/>
            <a:ext cx="2800626" cy="141357"/>
          </a:xfrm>
          <a:prstGeom prst="rect">
            <a:avLst/>
          </a:prstGeom>
          <a:noFill/>
          <a:ln/>
        </p:spPr>
        <p:txBody>
          <a:bodyPr wrap="square" lIns="0" tIns="0" rIns="0" bIns="0" rtlCol="0" anchor="ctr"/>
          <a:lstStyle/>
          <a:p>
            <a:pPr>
              <a:lnSpc>
                <a:spcPct val="110000"/>
              </a:lnSpc>
            </a:pPr>
            <a:r>
              <a:rPr lang="en-US" sz="835" dirty="0">
                <a:solidFill>
                  <a:srgbClr val="2C3E50">
                    <a:alpha val="80000"/>
                  </a:srgbClr>
                </a:solidFill>
                <a:latin typeface="Quattrocento Sans" pitchFamily="34" charset="0"/>
                <a:ea typeface="Quattrocento Sans" pitchFamily="34" charset="-122"/>
                <a:cs typeface="Quattrocento Sans" pitchFamily="34" charset="-120"/>
              </a:rPr>
              <a:t>Monitor discount dependency to protect profitability</a:t>
            </a:r>
            <a:endParaRPr lang="en-US" sz="1600" dirty="0"/>
          </a:p>
        </p:txBody>
      </p:sp>
      <p:sp>
        <p:nvSpPr>
          <p:cNvPr id="39" name="Shape 36"/>
          <p:cNvSpPr/>
          <p:nvPr/>
        </p:nvSpPr>
        <p:spPr>
          <a:xfrm>
            <a:off x="8524571" y="4806122"/>
            <a:ext cx="3313043" cy="2049670"/>
          </a:xfrm>
          <a:custGeom>
            <a:avLst/>
            <a:gdLst/>
            <a:ahLst/>
            <a:cxnLst/>
            <a:rect l="l" t="t" r="r" b="b"/>
            <a:pathLst>
              <a:path w="3313043" h="2049670">
                <a:moveTo>
                  <a:pt x="106009" y="0"/>
                </a:moveTo>
                <a:lnTo>
                  <a:pt x="3207035" y="0"/>
                </a:lnTo>
                <a:cubicBezTo>
                  <a:pt x="3265582" y="0"/>
                  <a:pt x="3313043" y="47462"/>
                  <a:pt x="3313043" y="106009"/>
                </a:cubicBezTo>
                <a:lnTo>
                  <a:pt x="3313043" y="1943661"/>
                </a:lnTo>
                <a:cubicBezTo>
                  <a:pt x="3313043" y="2002208"/>
                  <a:pt x="3265582" y="2049670"/>
                  <a:pt x="3207035" y="2049670"/>
                </a:cubicBezTo>
                <a:lnTo>
                  <a:pt x="106009" y="2049670"/>
                </a:lnTo>
                <a:cubicBezTo>
                  <a:pt x="47462" y="2049670"/>
                  <a:pt x="0" y="2002208"/>
                  <a:pt x="0" y="1943661"/>
                </a:cubicBezTo>
                <a:lnTo>
                  <a:pt x="0" y="106009"/>
                </a:lnTo>
                <a:cubicBezTo>
                  <a:pt x="0" y="47462"/>
                  <a:pt x="47462" y="0"/>
                  <a:pt x="106009" y="0"/>
                </a:cubicBezTo>
                <a:close/>
              </a:path>
            </a:pathLst>
          </a:custGeom>
          <a:gradFill rotWithShape="1" flip="none">
            <a:gsLst>
              <a:gs pos="0">
                <a:srgbClr val="2E5A4C"/>
              </a:gs>
              <a:gs pos="100000">
                <a:srgbClr val="2E5A4C">
                  <a:alpha val="80000"/>
                </a:srgbClr>
              </a:gs>
            </a:gsLst>
            <a:lin ang="2700000" scaled="1"/>
          </a:gradFill>
          <a:ln/>
          <a:effectLst>
            <a:outerShdw sx="100000" sy="100000" kx="0" ky="0" algn="bl" rotWithShape="0" blurRad="132522" dist="88348" dir="5400000">
              <a:srgbClr val="000000">
                <a:alpha val="10196"/>
              </a:srgbClr>
            </a:outerShdw>
          </a:effectLst>
        </p:spPr>
      </p:sp>
      <p:sp>
        <p:nvSpPr>
          <p:cNvPr id="40" name="Shape 37"/>
          <p:cNvSpPr/>
          <p:nvPr/>
        </p:nvSpPr>
        <p:spPr>
          <a:xfrm>
            <a:off x="8743232" y="5026991"/>
            <a:ext cx="119270" cy="159026"/>
          </a:xfrm>
          <a:custGeom>
            <a:avLst/>
            <a:gdLst/>
            <a:ahLst/>
            <a:cxnLst/>
            <a:rect l="l" t="t" r="r" b="b"/>
            <a:pathLst>
              <a:path w="119270" h="159026">
                <a:moveTo>
                  <a:pt x="90974" y="119270"/>
                </a:moveTo>
                <a:cubicBezTo>
                  <a:pt x="93241" y="112343"/>
                  <a:pt x="97776" y="106069"/>
                  <a:pt x="102901" y="100665"/>
                </a:cubicBezTo>
                <a:cubicBezTo>
                  <a:pt x="113058" y="89980"/>
                  <a:pt x="119270" y="75537"/>
                  <a:pt x="119270" y="59635"/>
                </a:cubicBezTo>
                <a:cubicBezTo>
                  <a:pt x="119270" y="26711"/>
                  <a:pt x="92558" y="0"/>
                  <a:pt x="59635" y="0"/>
                </a:cubicBezTo>
                <a:cubicBezTo>
                  <a:pt x="26711" y="0"/>
                  <a:pt x="0" y="26711"/>
                  <a:pt x="0" y="59635"/>
                </a:cubicBezTo>
                <a:cubicBezTo>
                  <a:pt x="0" y="75537"/>
                  <a:pt x="6212" y="89980"/>
                  <a:pt x="16369" y="100665"/>
                </a:cubicBezTo>
                <a:cubicBezTo>
                  <a:pt x="21493" y="106069"/>
                  <a:pt x="26059" y="112343"/>
                  <a:pt x="28295" y="119270"/>
                </a:cubicBezTo>
                <a:lnTo>
                  <a:pt x="90943" y="119270"/>
                </a:lnTo>
                <a:close/>
                <a:moveTo>
                  <a:pt x="89452" y="134178"/>
                </a:moveTo>
                <a:lnTo>
                  <a:pt x="29817" y="134178"/>
                </a:lnTo>
                <a:lnTo>
                  <a:pt x="29817" y="139148"/>
                </a:lnTo>
                <a:cubicBezTo>
                  <a:pt x="29817" y="152876"/>
                  <a:pt x="40937" y="163996"/>
                  <a:pt x="54665" y="163996"/>
                </a:cubicBezTo>
                <a:lnTo>
                  <a:pt x="64604" y="163996"/>
                </a:lnTo>
                <a:cubicBezTo>
                  <a:pt x="78333" y="163996"/>
                  <a:pt x="89452" y="152876"/>
                  <a:pt x="89452" y="139148"/>
                </a:cubicBezTo>
                <a:lnTo>
                  <a:pt x="89452" y="134178"/>
                </a:lnTo>
                <a:close/>
                <a:moveTo>
                  <a:pt x="57150" y="34787"/>
                </a:moveTo>
                <a:cubicBezTo>
                  <a:pt x="44788" y="34787"/>
                  <a:pt x="34787" y="44788"/>
                  <a:pt x="34787" y="57150"/>
                </a:cubicBezTo>
                <a:cubicBezTo>
                  <a:pt x="34787" y="61281"/>
                  <a:pt x="31464" y="64604"/>
                  <a:pt x="27333" y="64604"/>
                </a:cubicBezTo>
                <a:cubicBezTo>
                  <a:pt x="23202" y="64604"/>
                  <a:pt x="19878" y="61281"/>
                  <a:pt x="19878" y="57150"/>
                </a:cubicBezTo>
                <a:cubicBezTo>
                  <a:pt x="19878" y="36557"/>
                  <a:pt x="36557" y="19878"/>
                  <a:pt x="57150" y="19878"/>
                </a:cubicBezTo>
                <a:cubicBezTo>
                  <a:pt x="61281" y="19878"/>
                  <a:pt x="64604" y="23202"/>
                  <a:pt x="64604" y="27333"/>
                </a:cubicBezTo>
                <a:cubicBezTo>
                  <a:pt x="64604" y="31464"/>
                  <a:pt x="61281" y="34787"/>
                  <a:pt x="57150" y="34787"/>
                </a:cubicBezTo>
                <a:close/>
              </a:path>
            </a:pathLst>
          </a:custGeom>
          <a:solidFill>
            <a:srgbClr val="D4A574"/>
          </a:solidFill>
          <a:ln/>
        </p:spPr>
      </p:sp>
      <p:sp>
        <p:nvSpPr>
          <p:cNvPr id="41" name="Text 38"/>
          <p:cNvSpPr/>
          <p:nvPr/>
        </p:nvSpPr>
        <p:spPr>
          <a:xfrm>
            <a:off x="8904467" y="4982817"/>
            <a:ext cx="2835965" cy="247374"/>
          </a:xfrm>
          <a:prstGeom prst="rect">
            <a:avLst/>
          </a:prstGeom>
          <a:noFill/>
          <a:ln/>
        </p:spPr>
        <p:txBody>
          <a:bodyPr wrap="square" lIns="0" tIns="0" rIns="0" bIns="0" rtlCol="0" anchor="ctr"/>
          <a:lstStyle/>
          <a:p>
            <a:pPr>
              <a:lnSpc>
                <a:spcPct val="130000"/>
              </a:lnSpc>
            </a:pPr>
            <a:r>
              <a:rPr lang="en-US" sz="1252" b="1" dirty="0">
                <a:solidFill>
                  <a:srgbClr val="FFFFFF"/>
                </a:solidFill>
                <a:latin typeface="Liter" pitchFamily="34" charset="0"/>
                <a:ea typeface="Liter" pitchFamily="34" charset="-122"/>
                <a:cs typeface="Liter" pitchFamily="34" charset="-120"/>
              </a:rPr>
              <a:t>Recommendations</a:t>
            </a:r>
            <a:endParaRPr lang="en-US" sz="1600" dirty="0"/>
          </a:p>
        </p:txBody>
      </p:sp>
      <p:sp>
        <p:nvSpPr>
          <p:cNvPr id="42" name="Shape 39"/>
          <p:cNvSpPr/>
          <p:nvPr/>
        </p:nvSpPr>
        <p:spPr>
          <a:xfrm>
            <a:off x="8718937" y="5371548"/>
            <a:ext cx="123687" cy="123687"/>
          </a:xfrm>
          <a:custGeom>
            <a:avLst/>
            <a:gdLst/>
            <a:ahLst/>
            <a:cxnLst/>
            <a:rect l="l" t="t" r="r" b="b"/>
            <a:pathLst>
              <a:path w="123687" h="123687">
                <a:moveTo>
                  <a:pt x="121416" y="67303"/>
                </a:moveTo>
                <a:cubicBezTo>
                  <a:pt x="124436" y="64283"/>
                  <a:pt x="124436" y="59379"/>
                  <a:pt x="121416" y="56360"/>
                </a:cubicBezTo>
                <a:lnTo>
                  <a:pt x="82764" y="17708"/>
                </a:lnTo>
                <a:cubicBezTo>
                  <a:pt x="79744" y="14688"/>
                  <a:pt x="74840" y="14688"/>
                  <a:pt x="71821" y="17708"/>
                </a:cubicBezTo>
                <a:cubicBezTo>
                  <a:pt x="68801" y="20727"/>
                  <a:pt x="68801" y="25631"/>
                  <a:pt x="71821" y="28651"/>
                </a:cubicBezTo>
                <a:lnTo>
                  <a:pt x="97283" y="54113"/>
                </a:lnTo>
                <a:lnTo>
                  <a:pt x="7730" y="54113"/>
                </a:lnTo>
                <a:cubicBezTo>
                  <a:pt x="3455" y="54113"/>
                  <a:pt x="0" y="57568"/>
                  <a:pt x="0" y="61843"/>
                </a:cubicBezTo>
                <a:cubicBezTo>
                  <a:pt x="0" y="66119"/>
                  <a:pt x="3455" y="69574"/>
                  <a:pt x="7730" y="69574"/>
                </a:cubicBezTo>
                <a:lnTo>
                  <a:pt x="97283" y="69574"/>
                </a:lnTo>
                <a:lnTo>
                  <a:pt x="71821" y="95036"/>
                </a:lnTo>
                <a:cubicBezTo>
                  <a:pt x="68801" y="98056"/>
                  <a:pt x="68801" y="102960"/>
                  <a:pt x="71821" y="105979"/>
                </a:cubicBezTo>
                <a:cubicBezTo>
                  <a:pt x="74840" y="108999"/>
                  <a:pt x="79744" y="108999"/>
                  <a:pt x="82764" y="105979"/>
                </a:cubicBezTo>
                <a:lnTo>
                  <a:pt x="121416" y="67327"/>
                </a:lnTo>
                <a:close/>
              </a:path>
            </a:pathLst>
          </a:custGeom>
          <a:solidFill>
            <a:srgbClr val="D4A574"/>
          </a:solidFill>
          <a:ln/>
        </p:spPr>
      </p:sp>
      <p:sp>
        <p:nvSpPr>
          <p:cNvPr id="43" name="Text 40"/>
          <p:cNvSpPr/>
          <p:nvPr/>
        </p:nvSpPr>
        <p:spPr>
          <a:xfrm>
            <a:off x="8926554" y="5336209"/>
            <a:ext cx="2765287" cy="176696"/>
          </a:xfrm>
          <a:prstGeom prst="rect">
            <a:avLst/>
          </a:prstGeom>
          <a:noFill/>
          <a:ln/>
        </p:spPr>
        <p:txBody>
          <a:bodyPr wrap="square" lIns="0" tIns="0" rIns="0" bIns="0" rtlCol="0" anchor="ctr"/>
          <a:lstStyle/>
          <a:p>
            <a:pPr>
              <a:lnSpc>
                <a:spcPct val="120000"/>
              </a:lnSpc>
            </a:pPr>
            <a:r>
              <a:rPr lang="en-US" sz="974" dirty="0">
                <a:solidFill>
                  <a:srgbClr val="FFFFFF"/>
                </a:solidFill>
                <a:latin typeface="Quattrocento Sans" pitchFamily="34" charset="0"/>
                <a:ea typeface="Quattrocento Sans" pitchFamily="34" charset="-122"/>
                <a:cs typeface="Quattrocento Sans" pitchFamily="34" charset="-120"/>
              </a:rPr>
              <a:t>Targeted promotions for high-value discount users</a:t>
            </a:r>
            <a:endParaRPr lang="en-US" sz="1600" dirty="0"/>
          </a:p>
        </p:txBody>
      </p:sp>
      <p:sp>
        <p:nvSpPr>
          <p:cNvPr id="44" name="Shape 41"/>
          <p:cNvSpPr/>
          <p:nvPr/>
        </p:nvSpPr>
        <p:spPr>
          <a:xfrm>
            <a:off x="8718937" y="5618922"/>
            <a:ext cx="123687" cy="123687"/>
          </a:xfrm>
          <a:custGeom>
            <a:avLst/>
            <a:gdLst/>
            <a:ahLst/>
            <a:cxnLst/>
            <a:rect l="l" t="t" r="r" b="b"/>
            <a:pathLst>
              <a:path w="123687" h="123687">
                <a:moveTo>
                  <a:pt x="121416" y="67303"/>
                </a:moveTo>
                <a:cubicBezTo>
                  <a:pt x="124436" y="64283"/>
                  <a:pt x="124436" y="59379"/>
                  <a:pt x="121416" y="56360"/>
                </a:cubicBezTo>
                <a:lnTo>
                  <a:pt x="82764" y="17708"/>
                </a:lnTo>
                <a:cubicBezTo>
                  <a:pt x="79744" y="14688"/>
                  <a:pt x="74840" y="14688"/>
                  <a:pt x="71821" y="17708"/>
                </a:cubicBezTo>
                <a:cubicBezTo>
                  <a:pt x="68801" y="20727"/>
                  <a:pt x="68801" y="25631"/>
                  <a:pt x="71821" y="28651"/>
                </a:cubicBezTo>
                <a:lnTo>
                  <a:pt x="97283" y="54113"/>
                </a:lnTo>
                <a:lnTo>
                  <a:pt x="7730" y="54113"/>
                </a:lnTo>
                <a:cubicBezTo>
                  <a:pt x="3455" y="54113"/>
                  <a:pt x="0" y="57568"/>
                  <a:pt x="0" y="61843"/>
                </a:cubicBezTo>
                <a:cubicBezTo>
                  <a:pt x="0" y="66119"/>
                  <a:pt x="3455" y="69574"/>
                  <a:pt x="7730" y="69574"/>
                </a:cubicBezTo>
                <a:lnTo>
                  <a:pt x="97283" y="69574"/>
                </a:lnTo>
                <a:lnTo>
                  <a:pt x="71821" y="95036"/>
                </a:lnTo>
                <a:cubicBezTo>
                  <a:pt x="68801" y="98056"/>
                  <a:pt x="68801" y="102960"/>
                  <a:pt x="71821" y="105979"/>
                </a:cubicBezTo>
                <a:cubicBezTo>
                  <a:pt x="74840" y="108999"/>
                  <a:pt x="79744" y="108999"/>
                  <a:pt x="82764" y="105979"/>
                </a:cubicBezTo>
                <a:lnTo>
                  <a:pt x="121416" y="67327"/>
                </a:lnTo>
                <a:close/>
              </a:path>
            </a:pathLst>
          </a:custGeom>
          <a:solidFill>
            <a:srgbClr val="D4A574"/>
          </a:solidFill>
          <a:ln/>
        </p:spPr>
      </p:sp>
      <p:sp>
        <p:nvSpPr>
          <p:cNvPr id="45" name="Text 42"/>
          <p:cNvSpPr/>
          <p:nvPr/>
        </p:nvSpPr>
        <p:spPr>
          <a:xfrm>
            <a:off x="8926554" y="5583583"/>
            <a:ext cx="1846470" cy="176696"/>
          </a:xfrm>
          <a:prstGeom prst="rect">
            <a:avLst/>
          </a:prstGeom>
          <a:noFill/>
          <a:ln/>
        </p:spPr>
        <p:txBody>
          <a:bodyPr wrap="square" lIns="0" tIns="0" rIns="0" bIns="0" rtlCol="0" anchor="ctr"/>
          <a:lstStyle/>
          <a:p>
            <a:pPr>
              <a:lnSpc>
                <a:spcPct val="120000"/>
              </a:lnSpc>
            </a:pPr>
            <a:r>
              <a:rPr lang="en-US" sz="974" dirty="0">
                <a:solidFill>
                  <a:srgbClr val="FFFFFF"/>
                </a:solidFill>
                <a:latin typeface="Quattrocento Sans" pitchFamily="34" charset="0"/>
                <a:ea typeface="Quattrocento Sans" pitchFamily="34" charset="-122"/>
                <a:cs typeface="Quattrocento Sans" pitchFamily="34" charset="-120"/>
              </a:rPr>
              <a:t>Bundle offers to increase cart size</a:t>
            </a:r>
            <a:endParaRPr lang="en-US" sz="1600" dirty="0"/>
          </a:p>
        </p:txBody>
      </p:sp>
      <p:sp>
        <p:nvSpPr>
          <p:cNvPr id="46" name="Shape 43"/>
          <p:cNvSpPr/>
          <p:nvPr/>
        </p:nvSpPr>
        <p:spPr>
          <a:xfrm>
            <a:off x="8718937" y="5866296"/>
            <a:ext cx="123687" cy="123687"/>
          </a:xfrm>
          <a:custGeom>
            <a:avLst/>
            <a:gdLst/>
            <a:ahLst/>
            <a:cxnLst/>
            <a:rect l="l" t="t" r="r" b="b"/>
            <a:pathLst>
              <a:path w="123687" h="123687">
                <a:moveTo>
                  <a:pt x="121416" y="67303"/>
                </a:moveTo>
                <a:cubicBezTo>
                  <a:pt x="124436" y="64283"/>
                  <a:pt x="124436" y="59379"/>
                  <a:pt x="121416" y="56360"/>
                </a:cubicBezTo>
                <a:lnTo>
                  <a:pt x="82764" y="17708"/>
                </a:lnTo>
                <a:cubicBezTo>
                  <a:pt x="79744" y="14688"/>
                  <a:pt x="74840" y="14688"/>
                  <a:pt x="71821" y="17708"/>
                </a:cubicBezTo>
                <a:cubicBezTo>
                  <a:pt x="68801" y="20727"/>
                  <a:pt x="68801" y="25631"/>
                  <a:pt x="71821" y="28651"/>
                </a:cubicBezTo>
                <a:lnTo>
                  <a:pt x="97283" y="54113"/>
                </a:lnTo>
                <a:lnTo>
                  <a:pt x="7730" y="54113"/>
                </a:lnTo>
                <a:cubicBezTo>
                  <a:pt x="3455" y="54113"/>
                  <a:pt x="0" y="57568"/>
                  <a:pt x="0" y="61843"/>
                </a:cubicBezTo>
                <a:cubicBezTo>
                  <a:pt x="0" y="66119"/>
                  <a:pt x="3455" y="69574"/>
                  <a:pt x="7730" y="69574"/>
                </a:cubicBezTo>
                <a:lnTo>
                  <a:pt x="97283" y="69574"/>
                </a:lnTo>
                <a:lnTo>
                  <a:pt x="71821" y="95036"/>
                </a:lnTo>
                <a:cubicBezTo>
                  <a:pt x="68801" y="98056"/>
                  <a:pt x="68801" y="102960"/>
                  <a:pt x="71821" y="105979"/>
                </a:cubicBezTo>
                <a:cubicBezTo>
                  <a:pt x="74840" y="108999"/>
                  <a:pt x="79744" y="108999"/>
                  <a:pt x="82764" y="105979"/>
                </a:cubicBezTo>
                <a:lnTo>
                  <a:pt x="121416" y="67327"/>
                </a:lnTo>
                <a:close/>
              </a:path>
            </a:pathLst>
          </a:custGeom>
          <a:solidFill>
            <a:srgbClr val="D4A574"/>
          </a:solidFill>
          <a:ln/>
        </p:spPr>
      </p:sp>
      <p:sp>
        <p:nvSpPr>
          <p:cNvPr id="47" name="Text 44"/>
          <p:cNvSpPr/>
          <p:nvPr/>
        </p:nvSpPr>
        <p:spPr>
          <a:xfrm>
            <a:off x="8926554" y="5830957"/>
            <a:ext cx="2261704" cy="176696"/>
          </a:xfrm>
          <a:prstGeom prst="rect">
            <a:avLst/>
          </a:prstGeom>
          <a:noFill/>
          <a:ln/>
        </p:spPr>
        <p:txBody>
          <a:bodyPr wrap="square" lIns="0" tIns="0" rIns="0" bIns="0" rtlCol="0" anchor="ctr"/>
          <a:lstStyle/>
          <a:p>
            <a:pPr>
              <a:lnSpc>
                <a:spcPct val="120000"/>
              </a:lnSpc>
            </a:pPr>
            <a:r>
              <a:rPr lang="en-US" sz="974" dirty="0">
                <a:solidFill>
                  <a:srgbClr val="FFFFFF"/>
                </a:solidFill>
                <a:latin typeface="Quattrocento Sans" pitchFamily="34" charset="0"/>
                <a:ea typeface="Quattrocento Sans" pitchFamily="34" charset="-122"/>
                <a:cs typeface="Quattrocento Sans" pitchFamily="34" charset="-120"/>
              </a:rPr>
              <a:t>Limited-time discounts to create urgency</a:t>
            </a:r>
            <a:endParaRPr lang="en-US" sz="1600" dirty="0"/>
          </a:p>
        </p:txBody>
      </p:sp>
      <p:sp>
        <p:nvSpPr>
          <p:cNvPr id="48" name="Shape 45"/>
          <p:cNvSpPr/>
          <p:nvPr/>
        </p:nvSpPr>
        <p:spPr>
          <a:xfrm>
            <a:off x="8718937" y="6113670"/>
            <a:ext cx="123687" cy="123687"/>
          </a:xfrm>
          <a:custGeom>
            <a:avLst/>
            <a:gdLst/>
            <a:ahLst/>
            <a:cxnLst/>
            <a:rect l="l" t="t" r="r" b="b"/>
            <a:pathLst>
              <a:path w="123687" h="123687">
                <a:moveTo>
                  <a:pt x="121416" y="67303"/>
                </a:moveTo>
                <a:cubicBezTo>
                  <a:pt x="124436" y="64283"/>
                  <a:pt x="124436" y="59379"/>
                  <a:pt x="121416" y="56360"/>
                </a:cubicBezTo>
                <a:lnTo>
                  <a:pt x="82764" y="17708"/>
                </a:lnTo>
                <a:cubicBezTo>
                  <a:pt x="79744" y="14688"/>
                  <a:pt x="74840" y="14688"/>
                  <a:pt x="71821" y="17708"/>
                </a:cubicBezTo>
                <a:cubicBezTo>
                  <a:pt x="68801" y="20727"/>
                  <a:pt x="68801" y="25631"/>
                  <a:pt x="71821" y="28651"/>
                </a:cubicBezTo>
                <a:lnTo>
                  <a:pt x="97283" y="54113"/>
                </a:lnTo>
                <a:lnTo>
                  <a:pt x="7730" y="54113"/>
                </a:lnTo>
                <a:cubicBezTo>
                  <a:pt x="3455" y="54113"/>
                  <a:pt x="0" y="57568"/>
                  <a:pt x="0" y="61843"/>
                </a:cubicBezTo>
                <a:cubicBezTo>
                  <a:pt x="0" y="66119"/>
                  <a:pt x="3455" y="69574"/>
                  <a:pt x="7730" y="69574"/>
                </a:cubicBezTo>
                <a:lnTo>
                  <a:pt x="97283" y="69574"/>
                </a:lnTo>
                <a:lnTo>
                  <a:pt x="71821" y="95036"/>
                </a:lnTo>
                <a:cubicBezTo>
                  <a:pt x="68801" y="98056"/>
                  <a:pt x="68801" y="102960"/>
                  <a:pt x="71821" y="105979"/>
                </a:cubicBezTo>
                <a:cubicBezTo>
                  <a:pt x="74840" y="108999"/>
                  <a:pt x="79744" y="108999"/>
                  <a:pt x="82764" y="105979"/>
                </a:cubicBezTo>
                <a:lnTo>
                  <a:pt x="121416" y="67327"/>
                </a:lnTo>
                <a:close/>
              </a:path>
            </a:pathLst>
          </a:custGeom>
          <a:solidFill>
            <a:srgbClr val="D4A574"/>
          </a:solidFill>
          <a:ln/>
        </p:spPr>
      </p:sp>
      <p:sp>
        <p:nvSpPr>
          <p:cNvPr id="49" name="Text 46"/>
          <p:cNvSpPr/>
          <p:nvPr/>
        </p:nvSpPr>
        <p:spPr>
          <a:xfrm>
            <a:off x="8926554" y="6078330"/>
            <a:ext cx="2747617" cy="176696"/>
          </a:xfrm>
          <a:prstGeom prst="rect">
            <a:avLst/>
          </a:prstGeom>
          <a:noFill/>
          <a:ln/>
        </p:spPr>
        <p:txBody>
          <a:bodyPr wrap="square" lIns="0" tIns="0" rIns="0" bIns="0" rtlCol="0" anchor="ctr"/>
          <a:lstStyle/>
          <a:p>
            <a:pPr>
              <a:lnSpc>
                <a:spcPct val="120000"/>
              </a:lnSpc>
            </a:pPr>
            <a:r>
              <a:rPr lang="en-US" sz="974" dirty="0">
                <a:solidFill>
                  <a:srgbClr val="FFFFFF"/>
                </a:solidFill>
                <a:latin typeface="Quattrocento Sans" pitchFamily="34" charset="0"/>
                <a:ea typeface="Quattrocento Sans" pitchFamily="34" charset="-122"/>
                <a:cs typeface="Quattrocento Sans" pitchFamily="34" charset="-120"/>
              </a:rPr>
              <a:t>Review products with &gt;60% discount dependency</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5"/>
        </a:solidFill>
      </p:bgPr>
    </p:bg>
    <p:spTree>
      <p:nvGrpSpPr>
        <p:cNvPr id="1" name=""/>
        <p:cNvGrpSpPr/>
        <p:nvPr/>
      </p:nvGrpSpPr>
      <p:grpSpPr>
        <a:xfrm>
          <a:off x="0" y="0"/>
          <a:ext cx="0" cy="0"/>
          <a:chOff x="0" y="0"/>
          <a:chExt cx="0" cy="0"/>
        </a:xfrm>
      </p:grpSpPr>
      <p:sp>
        <p:nvSpPr>
          <p:cNvPr id="2" name="Shape 0"/>
          <p:cNvSpPr/>
          <p:nvPr/>
        </p:nvSpPr>
        <p:spPr>
          <a:xfrm>
            <a:off x="331304" y="397565"/>
            <a:ext cx="397565" cy="33130"/>
          </a:xfrm>
          <a:custGeom>
            <a:avLst/>
            <a:gdLst/>
            <a:ahLst/>
            <a:cxnLst/>
            <a:rect l="l" t="t" r="r" b="b"/>
            <a:pathLst>
              <a:path w="397565" h="33130">
                <a:moveTo>
                  <a:pt x="0" y="0"/>
                </a:moveTo>
                <a:lnTo>
                  <a:pt x="397565" y="0"/>
                </a:lnTo>
                <a:lnTo>
                  <a:pt x="397565" y="33130"/>
                </a:lnTo>
                <a:lnTo>
                  <a:pt x="0" y="33130"/>
                </a:lnTo>
                <a:lnTo>
                  <a:pt x="0" y="0"/>
                </a:lnTo>
                <a:close/>
              </a:path>
            </a:pathLst>
          </a:custGeom>
          <a:solidFill>
            <a:srgbClr val="2E5A4C"/>
          </a:solidFill>
          <a:ln/>
        </p:spPr>
      </p:sp>
      <p:sp>
        <p:nvSpPr>
          <p:cNvPr id="3" name="Text 1"/>
          <p:cNvSpPr/>
          <p:nvPr/>
        </p:nvSpPr>
        <p:spPr>
          <a:xfrm>
            <a:off x="828261" y="331304"/>
            <a:ext cx="828261" cy="165652"/>
          </a:xfrm>
          <a:prstGeom prst="rect">
            <a:avLst/>
          </a:prstGeom>
          <a:noFill/>
          <a:ln/>
        </p:spPr>
        <p:txBody>
          <a:bodyPr wrap="square" lIns="0" tIns="0" rIns="0" bIns="0" rtlCol="0" anchor="ctr"/>
          <a:lstStyle/>
          <a:p>
            <a:pPr>
              <a:lnSpc>
                <a:spcPct val="120000"/>
              </a:lnSpc>
            </a:pPr>
            <a:r>
              <a:rPr lang="en-US" sz="913" spc="91" kern="0" dirty="0">
                <a:solidFill>
                  <a:srgbClr val="2E5A4C"/>
                </a:solidFill>
                <a:latin typeface="Liter" pitchFamily="34" charset="0"/>
                <a:ea typeface="Liter" pitchFamily="34" charset="-122"/>
                <a:cs typeface="Liter" pitchFamily="34" charset="-120"/>
              </a:rPr>
              <a:t>Section 05</a:t>
            </a:r>
            <a:endParaRPr lang="en-US" sz="1600" dirty="0"/>
          </a:p>
        </p:txBody>
      </p:sp>
      <p:sp>
        <p:nvSpPr>
          <p:cNvPr id="4" name="Text 2"/>
          <p:cNvSpPr/>
          <p:nvPr/>
        </p:nvSpPr>
        <p:spPr>
          <a:xfrm>
            <a:off x="331304" y="596348"/>
            <a:ext cx="11678478" cy="331304"/>
          </a:xfrm>
          <a:prstGeom prst="rect">
            <a:avLst/>
          </a:prstGeom>
          <a:noFill/>
          <a:ln/>
        </p:spPr>
        <p:txBody>
          <a:bodyPr wrap="square" lIns="0" tIns="0" rIns="0" bIns="0" rtlCol="0" anchor="ctr"/>
          <a:lstStyle/>
          <a:p>
            <a:pPr>
              <a:lnSpc>
                <a:spcPct val="90000"/>
              </a:lnSpc>
            </a:pPr>
            <a:r>
              <a:rPr lang="en-US" sz="2348" b="1" dirty="0">
                <a:solidFill>
                  <a:srgbClr val="2E5A4C"/>
                </a:solidFill>
                <a:latin typeface="Oranienbaum" pitchFamily="34" charset="0"/>
                <a:ea typeface="Oranienbaum" pitchFamily="34" charset="-122"/>
                <a:cs typeface="Oranienbaum" pitchFamily="34" charset="-120"/>
              </a:rPr>
              <a:t>Strategic Recommendations</a:t>
            </a:r>
            <a:endParaRPr lang="en-US" sz="1600" dirty="0"/>
          </a:p>
        </p:txBody>
      </p:sp>
      <p:sp>
        <p:nvSpPr>
          <p:cNvPr id="5" name="Text 3"/>
          <p:cNvSpPr/>
          <p:nvPr/>
        </p:nvSpPr>
        <p:spPr>
          <a:xfrm>
            <a:off x="331304" y="960783"/>
            <a:ext cx="11603935" cy="231913"/>
          </a:xfrm>
          <a:prstGeom prst="rect">
            <a:avLst/>
          </a:prstGeom>
          <a:noFill/>
          <a:ln/>
        </p:spPr>
        <p:txBody>
          <a:bodyPr wrap="square" lIns="0" tIns="0" rIns="0" bIns="0" rtlCol="0" anchor="ctr"/>
          <a:lstStyle/>
          <a:p>
            <a:pPr>
              <a:lnSpc>
                <a:spcPct val="130000"/>
              </a:lnSpc>
            </a:pPr>
            <a:r>
              <a:rPr lang="en-US" sz="1174" dirty="0">
                <a:solidFill>
                  <a:srgbClr val="2C3E50">
                    <a:alpha val="70000"/>
                  </a:srgbClr>
                </a:solidFill>
                <a:latin typeface="Quattrocento Sans" pitchFamily="34" charset="0"/>
                <a:ea typeface="Quattrocento Sans" pitchFamily="34" charset="-122"/>
                <a:cs typeface="Quattrocento Sans" pitchFamily="34" charset="-120"/>
              </a:rPr>
              <a:t>Five Pillars for Sustainable Growth</a:t>
            </a:r>
            <a:endParaRPr lang="en-US" sz="1600" dirty="0"/>
          </a:p>
        </p:txBody>
      </p:sp>
      <p:sp>
        <p:nvSpPr>
          <p:cNvPr id="6" name="Shape 4"/>
          <p:cNvSpPr/>
          <p:nvPr/>
        </p:nvSpPr>
        <p:spPr>
          <a:xfrm>
            <a:off x="331304" y="1408043"/>
            <a:ext cx="3735457" cy="1747630"/>
          </a:xfrm>
          <a:custGeom>
            <a:avLst/>
            <a:gdLst/>
            <a:ahLst/>
            <a:cxnLst/>
            <a:rect l="l" t="t" r="r" b="b"/>
            <a:pathLst>
              <a:path w="3735457" h="1747630">
                <a:moveTo>
                  <a:pt x="33130" y="0"/>
                </a:moveTo>
                <a:lnTo>
                  <a:pt x="3702326" y="0"/>
                </a:lnTo>
                <a:cubicBezTo>
                  <a:pt x="3720624" y="0"/>
                  <a:pt x="3735457" y="14833"/>
                  <a:pt x="3735457" y="33130"/>
                </a:cubicBezTo>
                <a:lnTo>
                  <a:pt x="3735457" y="1648243"/>
                </a:lnTo>
                <a:cubicBezTo>
                  <a:pt x="3735457" y="1703133"/>
                  <a:pt x="3690959" y="1747630"/>
                  <a:pt x="3636069" y="1747630"/>
                </a:cubicBezTo>
                <a:lnTo>
                  <a:pt x="99388" y="1747630"/>
                </a:lnTo>
                <a:cubicBezTo>
                  <a:pt x="44497" y="1747630"/>
                  <a:pt x="0" y="1703133"/>
                  <a:pt x="0" y="1648243"/>
                </a:cubicBezTo>
                <a:lnTo>
                  <a:pt x="0" y="33130"/>
                </a:lnTo>
                <a:cubicBezTo>
                  <a:pt x="0" y="14833"/>
                  <a:pt x="14833" y="0"/>
                  <a:pt x="33130" y="0"/>
                </a:cubicBezTo>
                <a:close/>
              </a:path>
            </a:pathLst>
          </a:custGeom>
          <a:solidFill>
            <a:srgbClr val="FFFFFF"/>
          </a:solidFill>
          <a:ln/>
          <a:effectLst>
            <a:outerShdw sx="100000" sy="100000" kx="0" ky="0" algn="bl" rotWithShape="0" blurRad="124239" dist="82826" dir="5400000">
              <a:srgbClr val="000000">
                <a:alpha val="10196"/>
              </a:srgbClr>
            </a:outerShdw>
          </a:effectLst>
        </p:spPr>
      </p:sp>
      <p:sp>
        <p:nvSpPr>
          <p:cNvPr id="7" name="Shape 5"/>
          <p:cNvSpPr/>
          <p:nvPr/>
        </p:nvSpPr>
        <p:spPr>
          <a:xfrm>
            <a:off x="331304" y="1408043"/>
            <a:ext cx="3735457" cy="33130"/>
          </a:xfrm>
          <a:custGeom>
            <a:avLst/>
            <a:gdLst/>
            <a:ahLst/>
            <a:cxnLst/>
            <a:rect l="l" t="t" r="r" b="b"/>
            <a:pathLst>
              <a:path w="3735457" h="33130">
                <a:moveTo>
                  <a:pt x="33130" y="0"/>
                </a:moveTo>
                <a:lnTo>
                  <a:pt x="3702326" y="0"/>
                </a:lnTo>
                <a:cubicBezTo>
                  <a:pt x="3720624" y="0"/>
                  <a:pt x="3735457" y="14833"/>
                  <a:pt x="3735457" y="33130"/>
                </a:cubicBezTo>
                <a:lnTo>
                  <a:pt x="3735457" y="33130"/>
                </a:lnTo>
                <a:lnTo>
                  <a:pt x="0" y="33130"/>
                </a:lnTo>
                <a:lnTo>
                  <a:pt x="0" y="33130"/>
                </a:lnTo>
                <a:cubicBezTo>
                  <a:pt x="0" y="14833"/>
                  <a:pt x="14833" y="0"/>
                  <a:pt x="33130" y="0"/>
                </a:cubicBezTo>
                <a:close/>
              </a:path>
            </a:pathLst>
          </a:custGeom>
          <a:solidFill>
            <a:srgbClr val="2E5A4C"/>
          </a:solidFill>
          <a:ln/>
        </p:spPr>
      </p:sp>
      <p:sp>
        <p:nvSpPr>
          <p:cNvPr id="8" name="Shape 6"/>
          <p:cNvSpPr/>
          <p:nvPr/>
        </p:nvSpPr>
        <p:spPr>
          <a:xfrm>
            <a:off x="496957" y="1590261"/>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2E5A4C"/>
          </a:solidFill>
          <a:ln/>
        </p:spPr>
      </p:sp>
      <p:sp>
        <p:nvSpPr>
          <p:cNvPr id="9" name="Text 7"/>
          <p:cNvSpPr/>
          <p:nvPr/>
        </p:nvSpPr>
        <p:spPr>
          <a:xfrm>
            <a:off x="447261" y="1590261"/>
            <a:ext cx="563217" cy="463826"/>
          </a:xfrm>
          <a:prstGeom prst="rect">
            <a:avLst/>
          </a:prstGeom>
          <a:noFill/>
          <a:ln/>
        </p:spPr>
        <p:txBody>
          <a:bodyPr wrap="square" lIns="0" tIns="0" rIns="0" bIns="0" rtlCol="0" anchor="ctr"/>
          <a:lstStyle/>
          <a:p>
            <a:pPr algn="ctr">
              <a:lnSpc>
                <a:spcPct val="110000"/>
              </a:lnSpc>
            </a:pPr>
            <a:r>
              <a:rPr lang="en-US" sz="1565" b="1" dirty="0">
                <a:solidFill>
                  <a:srgbClr val="FFFFFF"/>
                </a:solidFill>
                <a:latin typeface="Oranienbaum" pitchFamily="34" charset="0"/>
                <a:ea typeface="Oranienbaum" pitchFamily="34" charset="-122"/>
                <a:cs typeface="Oranienbaum" pitchFamily="34" charset="-120"/>
              </a:rPr>
              <a:t>01</a:t>
            </a:r>
            <a:endParaRPr lang="en-US" sz="1600" dirty="0"/>
          </a:p>
        </p:txBody>
      </p:sp>
      <p:sp>
        <p:nvSpPr>
          <p:cNvPr id="10" name="Text 8"/>
          <p:cNvSpPr/>
          <p:nvPr/>
        </p:nvSpPr>
        <p:spPr>
          <a:xfrm>
            <a:off x="1060174" y="1590261"/>
            <a:ext cx="1093304" cy="463826"/>
          </a:xfrm>
          <a:prstGeom prst="rect">
            <a:avLst/>
          </a:prstGeom>
          <a:noFill/>
          <a:ln/>
        </p:spPr>
        <p:txBody>
          <a:bodyPr wrap="square" lIns="0" tIns="0" rIns="0" bIns="0" rtlCol="0" anchor="ctr"/>
          <a:lstStyle/>
          <a:p>
            <a:pPr>
              <a:lnSpc>
                <a:spcPct val="120000"/>
              </a:lnSpc>
            </a:pPr>
            <a:r>
              <a:rPr lang="en-US" sz="1304" b="1" dirty="0">
                <a:solidFill>
                  <a:srgbClr val="2E5A4C"/>
                </a:solidFill>
                <a:latin typeface="Liter" pitchFamily="34" charset="0"/>
                <a:ea typeface="Liter" pitchFamily="34" charset="-122"/>
                <a:cs typeface="Liter" pitchFamily="34" charset="-120"/>
              </a:rPr>
              <a:t>Boost</a:t>
            </a:r>
            <a:endParaRPr lang="en-US" sz="1600" dirty="0"/>
          </a:p>
          <a:p>
            <a:pPr>
              <a:lnSpc>
                <a:spcPct val="120000"/>
              </a:lnSpc>
            </a:pPr>
            <a:r>
              <a:rPr lang="en-US" sz="1304" b="1" dirty="0">
                <a:solidFill>
                  <a:srgbClr val="2E5A4C"/>
                </a:solidFill>
                <a:latin typeface="Liter" pitchFamily="34" charset="0"/>
                <a:ea typeface="Liter" pitchFamily="34" charset="-122"/>
                <a:cs typeface="Liter" pitchFamily="34" charset="-120"/>
              </a:rPr>
              <a:t>Subscriptions</a:t>
            </a:r>
            <a:endParaRPr lang="en-US" sz="1600" dirty="0"/>
          </a:p>
        </p:txBody>
      </p:sp>
      <p:sp>
        <p:nvSpPr>
          <p:cNvPr id="11" name="Text 9"/>
          <p:cNvSpPr/>
          <p:nvPr/>
        </p:nvSpPr>
        <p:spPr>
          <a:xfrm>
            <a:off x="496957" y="2186609"/>
            <a:ext cx="3462130" cy="381000"/>
          </a:xfrm>
          <a:prstGeom prst="rect">
            <a:avLst/>
          </a:prstGeom>
          <a:noFill/>
          <a:ln/>
        </p:spPr>
        <p:txBody>
          <a:bodyPr wrap="square" lIns="0" tIns="0" rIns="0" bIns="0" rtlCol="0" anchor="ctr"/>
          <a:lstStyle/>
          <a:p>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Promote exclusive benefits for subscribers to increase recurring revenue. Subscribers spend </a:t>
            </a:r>
            <a:pPr>
              <a:lnSpc>
                <a:spcPct val="140000"/>
              </a:lnSpc>
            </a:pPr>
            <a:r>
              <a:rPr lang="en-US" sz="913" b="1" dirty="0">
                <a:solidFill>
                  <a:srgbClr val="C75B39"/>
                </a:solidFill>
                <a:latin typeface="Quattrocento Sans" pitchFamily="34" charset="0"/>
                <a:ea typeface="Quattrocento Sans" pitchFamily="34" charset="-122"/>
                <a:cs typeface="Quattrocento Sans" pitchFamily="34" charset="-120"/>
              </a:rPr>
              <a:t>45% more</a:t>
            </a:r>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 on average.</a:t>
            </a:r>
            <a:endParaRPr lang="en-US" sz="1600" dirty="0"/>
          </a:p>
        </p:txBody>
      </p:sp>
      <p:sp>
        <p:nvSpPr>
          <p:cNvPr id="12" name="Shape 10"/>
          <p:cNvSpPr/>
          <p:nvPr/>
        </p:nvSpPr>
        <p:spPr>
          <a:xfrm>
            <a:off x="496957" y="2662859"/>
            <a:ext cx="3404152" cy="331304"/>
          </a:xfrm>
          <a:custGeom>
            <a:avLst/>
            <a:gdLst/>
            <a:ahLst/>
            <a:cxnLst/>
            <a:rect l="l" t="t" r="r" b="b"/>
            <a:pathLst>
              <a:path w="3404152" h="331304">
                <a:moveTo>
                  <a:pt x="66261" y="0"/>
                </a:moveTo>
                <a:lnTo>
                  <a:pt x="3337891" y="0"/>
                </a:lnTo>
                <a:cubicBezTo>
                  <a:pt x="3374486" y="0"/>
                  <a:pt x="3404152" y="29666"/>
                  <a:pt x="3404152" y="66261"/>
                </a:cubicBezTo>
                <a:lnTo>
                  <a:pt x="3404152" y="265043"/>
                </a:lnTo>
                <a:cubicBezTo>
                  <a:pt x="3404152" y="301638"/>
                  <a:pt x="3374486" y="331304"/>
                  <a:pt x="3337891" y="331304"/>
                </a:cubicBezTo>
                <a:lnTo>
                  <a:pt x="66261" y="331304"/>
                </a:lnTo>
                <a:cubicBezTo>
                  <a:pt x="29666" y="331304"/>
                  <a:pt x="0" y="301638"/>
                  <a:pt x="0" y="265043"/>
                </a:cubicBezTo>
                <a:lnTo>
                  <a:pt x="0" y="66261"/>
                </a:lnTo>
                <a:cubicBezTo>
                  <a:pt x="0" y="29666"/>
                  <a:pt x="29666" y="0"/>
                  <a:pt x="66261" y="0"/>
                </a:cubicBezTo>
                <a:close/>
              </a:path>
            </a:pathLst>
          </a:custGeom>
          <a:solidFill>
            <a:srgbClr val="2E5A4C">
              <a:alpha val="5098"/>
            </a:srgbClr>
          </a:solidFill>
          <a:ln/>
        </p:spPr>
      </p:sp>
      <p:sp>
        <p:nvSpPr>
          <p:cNvPr id="13" name="Shape 11"/>
          <p:cNvSpPr/>
          <p:nvPr/>
        </p:nvSpPr>
        <p:spPr>
          <a:xfrm>
            <a:off x="614984" y="2775507"/>
            <a:ext cx="86967" cy="99391"/>
          </a:xfrm>
          <a:custGeom>
            <a:avLst/>
            <a:gdLst/>
            <a:ahLst/>
            <a:cxnLst/>
            <a:rect l="l" t="t" r="r" b="b"/>
            <a:pathLst>
              <a:path w="86967" h="99391">
                <a:moveTo>
                  <a:pt x="84405" y="13608"/>
                </a:moveTo>
                <a:cubicBezTo>
                  <a:pt x="87181" y="15627"/>
                  <a:pt x="87802" y="19509"/>
                  <a:pt x="85783" y="22285"/>
                </a:cubicBezTo>
                <a:lnTo>
                  <a:pt x="36088" y="90617"/>
                </a:lnTo>
                <a:cubicBezTo>
                  <a:pt x="35020" y="92092"/>
                  <a:pt x="33370" y="93005"/>
                  <a:pt x="31545" y="93160"/>
                </a:cubicBezTo>
                <a:cubicBezTo>
                  <a:pt x="29720" y="93315"/>
                  <a:pt x="27954" y="92636"/>
                  <a:pt x="26673" y="91355"/>
                </a:cubicBezTo>
                <a:lnTo>
                  <a:pt x="1825" y="66507"/>
                </a:lnTo>
                <a:cubicBezTo>
                  <a:pt x="-602" y="64080"/>
                  <a:pt x="-602" y="60140"/>
                  <a:pt x="1825" y="57713"/>
                </a:cubicBezTo>
                <a:cubicBezTo>
                  <a:pt x="4251" y="55286"/>
                  <a:pt x="8192" y="55286"/>
                  <a:pt x="10619" y="57713"/>
                </a:cubicBezTo>
                <a:lnTo>
                  <a:pt x="30322" y="77417"/>
                </a:lnTo>
                <a:lnTo>
                  <a:pt x="75747" y="14967"/>
                </a:lnTo>
                <a:cubicBezTo>
                  <a:pt x="77766" y="12191"/>
                  <a:pt x="81648" y="11570"/>
                  <a:pt x="84424" y="13589"/>
                </a:cubicBezTo>
                <a:close/>
              </a:path>
            </a:pathLst>
          </a:custGeom>
          <a:solidFill>
            <a:srgbClr val="2E5A4C"/>
          </a:solidFill>
          <a:ln/>
        </p:spPr>
      </p:sp>
      <p:sp>
        <p:nvSpPr>
          <p:cNvPr id="14" name="Text 12"/>
          <p:cNvSpPr/>
          <p:nvPr/>
        </p:nvSpPr>
        <p:spPr>
          <a:xfrm>
            <a:off x="742194" y="2762250"/>
            <a:ext cx="3109219" cy="132522"/>
          </a:xfrm>
          <a:prstGeom prst="rect">
            <a:avLst/>
          </a:prstGeom>
          <a:noFill/>
          <a:ln/>
        </p:spPr>
        <p:txBody>
          <a:bodyPr wrap="square" lIns="0" tIns="0" rIns="0" bIns="0" rtlCol="0" anchor="ctr"/>
          <a:lstStyle/>
          <a:p>
            <a:pPr>
              <a:lnSpc>
                <a:spcPct val="110000"/>
              </a:lnSpc>
            </a:pPr>
            <a:r>
              <a:rPr lang="en-US" sz="783" dirty="0">
                <a:solidFill>
                  <a:srgbClr val="2C3E50">
                    <a:alpha val="80000"/>
                  </a:srgbClr>
                </a:solidFill>
                <a:latin typeface="Quattrocento Sans" pitchFamily="34" charset="0"/>
                <a:ea typeface="Quattrocento Sans" pitchFamily="34" charset="-122"/>
                <a:cs typeface="Quattrocento Sans" pitchFamily="34" charset="-120"/>
              </a:rPr>
              <a:t>Early access, exclusive discounts, free shipping</a:t>
            </a:r>
            <a:endParaRPr lang="en-US" sz="1600" dirty="0"/>
          </a:p>
        </p:txBody>
      </p:sp>
      <p:sp>
        <p:nvSpPr>
          <p:cNvPr id="15" name="Shape 13"/>
          <p:cNvSpPr/>
          <p:nvPr/>
        </p:nvSpPr>
        <p:spPr>
          <a:xfrm>
            <a:off x="4229618" y="1408043"/>
            <a:ext cx="3735457" cy="1747630"/>
          </a:xfrm>
          <a:custGeom>
            <a:avLst/>
            <a:gdLst/>
            <a:ahLst/>
            <a:cxnLst/>
            <a:rect l="l" t="t" r="r" b="b"/>
            <a:pathLst>
              <a:path w="3735457" h="1747630">
                <a:moveTo>
                  <a:pt x="33130" y="0"/>
                </a:moveTo>
                <a:lnTo>
                  <a:pt x="3702326" y="0"/>
                </a:lnTo>
                <a:cubicBezTo>
                  <a:pt x="3720624" y="0"/>
                  <a:pt x="3735457" y="14833"/>
                  <a:pt x="3735457" y="33130"/>
                </a:cubicBezTo>
                <a:lnTo>
                  <a:pt x="3735457" y="1648243"/>
                </a:lnTo>
                <a:cubicBezTo>
                  <a:pt x="3735457" y="1703133"/>
                  <a:pt x="3690959" y="1747630"/>
                  <a:pt x="3636069" y="1747630"/>
                </a:cubicBezTo>
                <a:lnTo>
                  <a:pt x="99388" y="1747630"/>
                </a:lnTo>
                <a:cubicBezTo>
                  <a:pt x="44497" y="1747630"/>
                  <a:pt x="0" y="1703133"/>
                  <a:pt x="0" y="1648243"/>
                </a:cubicBezTo>
                <a:lnTo>
                  <a:pt x="0" y="33130"/>
                </a:lnTo>
                <a:cubicBezTo>
                  <a:pt x="0" y="14833"/>
                  <a:pt x="14833" y="0"/>
                  <a:pt x="33130" y="0"/>
                </a:cubicBezTo>
                <a:close/>
              </a:path>
            </a:pathLst>
          </a:custGeom>
          <a:solidFill>
            <a:srgbClr val="FFFFFF"/>
          </a:solidFill>
          <a:ln/>
          <a:effectLst>
            <a:outerShdw sx="100000" sy="100000" kx="0" ky="0" algn="bl" rotWithShape="0" blurRad="124239" dist="82826" dir="5400000">
              <a:srgbClr val="000000">
                <a:alpha val="10196"/>
              </a:srgbClr>
            </a:outerShdw>
          </a:effectLst>
        </p:spPr>
      </p:sp>
      <p:sp>
        <p:nvSpPr>
          <p:cNvPr id="16" name="Shape 14"/>
          <p:cNvSpPr/>
          <p:nvPr/>
        </p:nvSpPr>
        <p:spPr>
          <a:xfrm>
            <a:off x="4229618" y="1408043"/>
            <a:ext cx="3735457" cy="33130"/>
          </a:xfrm>
          <a:custGeom>
            <a:avLst/>
            <a:gdLst/>
            <a:ahLst/>
            <a:cxnLst/>
            <a:rect l="l" t="t" r="r" b="b"/>
            <a:pathLst>
              <a:path w="3735457" h="33130">
                <a:moveTo>
                  <a:pt x="33130" y="0"/>
                </a:moveTo>
                <a:lnTo>
                  <a:pt x="3702326" y="0"/>
                </a:lnTo>
                <a:cubicBezTo>
                  <a:pt x="3720624" y="0"/>
                  <a:pt x="3735457" y="14833"/>
                  <a:pt x="3735457" y="33130"/>
                </a:cubicBezTo>
                <a:lnTo>
                  <a:pt x="3735457" y="33130"/>
                </a:lnTo>
                <a:lnTo>
                  <a:pt x="0" y="33130"/>
                </a:lnTo>
                <a:lnTo>
                  <a:pt x="0" y="33130"/>
                </a:lnTo>
                <a:cubicBezTo>
                  <a:pt x="0" y="14833"/>
                  <a:pt x="14833" y="0"/>
                  <a:pt x="33130" y="0"/>
                </a:cubicBezTo>
                <a:close/>
              </a:path>
            </a:pathLst>
          </a:custGeom>
          <a:solidFill>
            <a:srgbClr val="D4A574"/>
          </a:solidFill>
          <a:ln/>
        </p:spPr>
      </p:sp>
      <p:sp>
        <p:nvSpPr>
          <p:cNvPr id="17" name="Shape 15"/>
          <p:cNvSpPr/>
          <p:nvPr/>
        </p:nvSpPr>
        <p:spPr>
          <a:xfrm>
            <a:off x="4395270" y="1590261"/>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D4A574"/>
          </a:solidFill>
          <a:ln/>
        </p:spPr>
      </p:sp>
      <p:sp>
        <p:nvSpPr>
          <p:cNvPr id="18" name="Text 16"/>
          <p:cNvSpPr/>
          <p:nvPr/>
        </p:nvSpPr>
        <p:spPr>
          <a:xfrm>
            <a:off x="4345574" y="1590261"/>
            <a:ext cx="563217" cy="463826"/>
          </a:xfrm>
          <a:prstGeom prst="rect">
            <a:avLst/>
          </a:prstGeom>
          <a:noFill/>
          <a:ln/>
        </p:spPr>
        <p:txBody>
          <a:bodyPr wrap="square" lIns="0" tIns="0" rIns="0" bIns="0" rtlCol="0" anchor="ctr"/>
          <a:lstStyle/>
          <a:p>
            <a:pPr algn="ctr">
              <a:lnSpc>
                <a:spcPct val="110000"/>
              </a:lnSpc>
            </a:pPr>
            <a:r>
              <a:rPr lang="en-US" sz="1565" b="1" dirty="0">
                <a:solidFill>
                  <a:srgbClr val="FFFFFF"/>
                </a:solidFill>
                <a:latin typeface="Oranienbaum" pitchFamily="34" charset="0"/>
                <a:ea typeface="Oranienbaum" pitchFamily="34" charset="-122"/>
                <a:cs typeface="Oranienbaum" pitchFamily="34" charset="-120"/>
              </a:rPr>
              <a:t>02</a:t>
            </a:r>
            <a:endParaRPr lang="en-US" sz="1600" dirty="0"/>
          </a:p>
        </p:txBody>
      </p:sp>
      <p:sp>
        <p:nvSpPr>
          <p:cNvPr id="19" name="Text 17"/>
          <p:cNvSpPr/>
          <p:nvPr/>
        </p:nvSpPr>
        <p:spPr>
          <a:xfrm>
            <a:off x="4958488" y="1590261"/>
            <a:ext cx="1358348" cy="463826"/>
          </a:xfrm>
          <a:prstGeom prst="rect">
            <a:avLst/>
          </a:prstGeom>
          <a:noFill/>
          <a:ln/>
        </p:spPr>
        <p:txBody>
          <a:bodyPr wrap="square" lIns="0" tIns="0" rIns="0" bIns="0" rtlCol="0" anchor="ctr"/>
          <a:lstStyle/>
          <a:p>
            <a:pPr>
              <a:lnSpc>
                <a:spcPct val="120000"/>
              </a:lnSpc>
            </a:pPr>
            <a:r>
              <a:rPr lang="en-US" sz="1304" b="1" dirty="0">
                <a:solidFill>
                  <a:srgbClr val="2E5A4C"/>
                </a:solidFill>
                <a:latin typeface="Liter" pitchFamily="34" charset="0"/>
                <a:ea typeface="Liter" pitchFamily="34" charset="-122"/>
                <a:cs typeface="Liter" pitchFamily="34" charset="-120"/>
              </a:rPr>
              <a:t>Customer</a:t>
            </a:r>
            <a:endParaRPr lang="en-US" sz="1600" dirty="0"/>
          </a:p>
          <a:p>
            <a:pPr>
              <a:lnSpc>
                <a:spcPct val="120000"/>
              </a:lnSpc>
            </a:pPr>
            <a:r>
              <a:rPr lang="en-US" sz="1304" b="1" dirty="0">
                <a:solidFill>
                  <a:srgbClr val="2E5A4C"/>
                </a:solidFill>
                <a:latin typeface="Liter" pitchFamily="34" charset="0"/>
                <a:ea typeface="Liter" pitchFamily="34" charset="-122"/>
                <a:cs typeface="Liter" pitchFamily="34" charset="-120"/>
              </a:rPr>
              <a:t>Loyalty Programs</a:t>
            </a:r>
            <a:endParaRPr lang="en-US" sz="1600" dirty="0"/>
          </a:p>
        </p:txBody>
      </p:sp>
      <p:sp>
        <p:nvSpPr>
          <p:cNvPr id="20" name="Text 18"/>
          <p:cNvSpPr/>
          <p:nvPr/>
        </p:nvSpPr>
        <p:spPr>
          <a:xfrm>
            <a:off x="4395270" y="2186609"/>
            <a:ext cx="3462130" cy="381000"/>
          </a:xfrm>
          <a:prstGeom prst="rect">
            <a:avLst/>
          </a:prstGeom>
          <a:noFill/>
          <a:ln/>
        </p:spPr>
        <p:txBody>
          <a:bodyPr wrap="square" lIns="0" tIns="0" rIns="0" bIns="0" rtlCol="0" anchor="ctr"/>
          <a:lstStyle/>
          <a:p>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Reward repeat buyers to move them into the "Loyal" segment. Customers with 5+ purchases show </a:t>
            </a:r>
            <a:pPr>
              <a:lnSpc>
                <a:spcPct val="140000"/>
              </a:lnSpc>
            </a:pPr>
            <a:r>
              <a:rPr lang="en-US" sz="913" b="1" dirty="0">
                <a:solidFill>
                  <a:srgbClr val="C75B39"/>
                </a:solidFill>
                <a:latin typeface="Quattrocento Sans" pitchFamily="34" charset="0"/>
                <a:ea typeface="Quattrocento Sans" pitchFamily="34" charset="-122"/>
                <a:cs typeface="Quattrocento Sans" pitchFamily="34" charset="-120"/>
              </a:rPr>
              <a:t>68% subscription rate</a:t>
            </a:r>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a:t>
            </a:r>
            <a:endParaRPr lang="en-US" sz="1600" dirty="0"/>
          </a:p>
        </p:txBody>
      </p:sp>
      <p:sp>
        <p:nvSpPr>
          <p:cNvPr id="21" name="Shape 19"/>
          <p:cNvSpPr/>
          <p:nvPr/>
        </p:nvSpPr>
        <p:spPr>
          <a:xfrm>
            <a:off x="4395270" y="2662859"/>
            <a:ext cx="3404152" cy="331304"/>
          </a:xfrm>
          <a:custGeom>
            <a:avLst/>
            <a:gdLst/>
            <a:ahLst/>
            <a:cxnLst/>
            <a:rect l="l" t="t" r="r" b="b"/>
            <a:pathLst>
              <a:path w="3404152" h="331304">
                <a:moveTo>
                  <a:pt x="66261" y="0"/>
                </a:moveTo>
                <a:lnTo>
                  <a:pt x="3337891" y="0"/>
                </a:lnTo>
                <a:cubicBezTo>
                  <a:pt x="3374486" y="0"/>
                  <a:pt x="3404152" y="29666"/>
                  <a:pt x="3404152" y="66261"/>
                </a:cubicBezTo>
                <a:lnTo>
                  <a:pt x="3404152" y="265043"/>
                </a:lnTo>
                <a:cubicBezTo>
                  <a:pt x="3404152" y="301638"/>
                  <a:pt x="3374486" y="331304"/>
                  <a:pt x="3337891" y="331304"/>
                </a:cubicBezTo>
                <a:lnTo>
                  <a:pt x="66261" y="331304"/>
                </a:lnTo>
                <a:cubicBezTo>
                  <a:pt x="29666" y="331304"/>
                  <a:pt x="0" y="301638"/>
                  <a:pt x="0" y="265043"/>
                </a:cubicBezTo>
                <a:lnTo>
                  <a:pt x="0" y="66261"/>
                </a:lnTo>
                <a:cubicBezTo>
                  <a:pt x="0" y="29666"/>
                  <a:pt x="29666" y="0"/>
                  <a:pt x="66261" y="0"/>
                </a:cubicBezTo>
                <a:close/>
              </a:path>
            </a:pathLst>
          </a:custGeom>
          <a:solidFill>
            <a:srgbClr val="D4A574">
              <a:alpha val="10196"/>
            </a:srgbClr>
          </a:solidFill>
          <a:ln/>
        </p:spPr>
      </p:sp>
      <p:sp>
        <p:nvSpPr>
          <p:cNvPr id="22" name="Shape 20"/>
          <p:cNvSpPr/>
          <p:nvPr/>
        </p:nvSpPr>
        <p:spPr>
          <a:xfrm>
            <a:off x="4513297" y="2775507"/>
            <a:ext cx="86967" cy="99391"/>
          </a:xfrm>
          <a:custGeom>
            <a:avLst/>
            <a:gdLst/>
            <a:ahLst/>
            <a:cxnLst/>
            <a:rect l="l" t="t" r="r" b="b"/>
            <a:pathLst>
              <a:path w="86967" h="99391">
                <a:moveTo>
                  <a:pt x="84405" y="13608"/>
                </a:moveTo>
                <a:cubicBezTo>
                  <a:pt x="87181" y="15627"/>
                  <a:pt x="87802" y="19509"/>
                  <a:pt x="85783" y="22285"/>
                </a:cubicBezTo>
                <a:lnTo>
                  <a:pt x="36088" y="90617"/>
                </a:lnTo>
                <a:cubicBezTo>
                  <a:pt x="35020" y="92092"/>
                  <a:pt x="33370" y="93005"/>
                  <a:pt x="31545" y="93160"/>
                </a:cubicBezTo>
                <a:cubicBezTo>
                  <a:pt x="29720" y="93315"/>
                  <a:pt x="27954" y="92636"/>
                  <a:pt x="26673" y="91355"/>
                </a:cubicBezTo>
                <a:lnTo>
                  <a:pt x="1825" y="66507"/>
                </a:lnTo>
                <a:cubicBezTo>
                  <a:pt x="-602" y="64080"/>
                  <a:pt x="-602" y="60140"/>
                  <a:pt x="1825" y="57713"/>
                </a:cubicBezTo>
                <a:cubicBezTo>
                  <a:pt x="4251" y="55286"/>
                  <a:pt x="8192" y="55286"/>
                  <a:pt x="10619" y="57713"/>
                </a:cubicBezTo>
                <a:lnTo>
                  <a:pt x="30322" y="77417"/>
                </a:lnTo>
                <a:lnTo>
                  <a:pt x="75747" y="14967"/>
                </a:lnTo>
                <a:cubicBezTo>
                  <a:pt x="77766" y="12191"/>
                  <a:pt x="81648" y="11570"/>
                  <a:pt x="84424" y="13589"/>
                </a:cubicBezTo>
                <a:close/>
              </a:path>
            </a:pathLst>
          </a:custGeom>
          <a:solidFill>
            <a:srgbClr val="D4A574"/>
          </a:solidFill>
          <a:ln/>
        </p:spPr>
      </p:sp>
      <p:sp>
        <p:nvSpPr>
          <p:cNvPr id="23" name="Text 21"/>
          <p:cNvSpPr/>
          <p:nvPr/>
        </p:nvSpPr>
        <p:spPr>
          <a:xfrm>
            <a:off x="4640507" y="2762250"/>
            <a:ext cx="3109219" cy="132522"/>
          </a:xfrm>
          <a:prstGeom prst="rect">
            <a:avLst/>
          </a:prstGeom>
          <a:noFill/>
          <a:ln/>
        </p:spPr>
        <p:txBody>
          <a:bodyPr wrap="square" lIns="0" tIns="0" rIns="0" bIns="0" rtlCol="0" anchor="ctr"/>
          <a:lstStyle/>
          <a:p>
            <a:pPr>
              <a:lnSpc>
                <a:spcPct val="110000"/>
              </a:lnSpc>
            </a:pPr>
            <a:r>
              <a:rPr lang="en-US" sz="783" dirty="0">
                <a:solidFill>
                  <a:srgbClr val="2C3E50">
                    <a:alpha val="80000"/>
                  </a:srgbClr>
                </a:solidFill>
                <a:latin typeface="Quattrocento Sans" pitchFamily="34" charset="0"/>
                <a:ea typeface="Quattrocento Sans" pitchFamily="34" charset="-122"/>
                <a:cs typeface="Quattrocento Sans" pitchFamily="34" charset="-120"/>
              </a:rPr>
              <a:t>Points system, tiered rewards, VIP experiences</a:t>
            </a:r>
            <a:endParaRPr lang="en-US" sz="1600" dirty="0"/>
          </a:p>
        </p:txBody>
      </p:sp>
      <p:sp>
        <p:nvSpPr>
          <p:cNvPr id="24" name="Shape 22"/>
          <p:cNvSpPr/>
          <p:nvPr/>
        </p:nvSpPr>
        <p:spPr>
          <a:xfrm>
            <a:off x="8127931" y="1408043"/>
            <a:ext cx="3735457" cy="1747630"/>
          </a:xfrm>
          <a:custGeom>
            <a:avLst/>
            <a:gdLst/>
            <a:ahLst/>
            <a:cxnLst/>
            <a:rect l="l" t="t" r="r" b="b"/>
            <a:pathLst>
              <a:path w="3735457" h="1747630">
                <a:moveTo>
                  <a:pt x="33130" y="0"/>
                </a:moveTo>
                <a:lnTo>
                  <a:pt x="3702326" y="0"/>
                </a:lnTo>
                <a:cubicBezTo>
                  <a:pt x="3720624" y="0"/>
                  <a:pt x="3735457" y="14833"/>
                  <a:pt x="3735457" y="33130"/>
                </a:cubicBezTo>
                <a:lnTo>
                  <a:pt x="3735457" y="1648243"/>
                </a:lnTo>
                <a:cubicBezTo>
                  <a:pt x="3735457" y="1703133"/>
                  <a:pt x="3690959" y="1747630"/>
                  <a:pt x="3636069" y="1747630"/>
                </a:cubicBezTo>
                <a:lnTo>
                  <a:pt x="99388" y="1747630"/>
                </a:lnTo>
                <a:cubicBezTo>
                  <a:pt x="44497" y="1747630"/>
                  <a:pt x="0" y="1703133"/>
                  <a:pt x="0" y="1648243"/>
                </a:cubicBezTo>
                <a:lnTo>
                  <a:pt x="0" y="33130"/>
                </a:lnTo>
                <a:cubicBezTo>
                  <a:pt x="0" y="14833"/>
                  <a:pt x="14833" y="0"/>
                  <a:pt x="33130" y="0"/>
                </a:cubicBezTo>
                <a:close/>
              </a:path>
            </a:pathLst>
          </a:custGeom>
          <a:solidFill>
            <a:srgbClr val="FFFFFF"/>
          </a:solidFill>
          <a:ln/>
          <a:effectLst>
            <a:outerShdw sx="100000" sy="100000" kx="0" ky="0" algn="bl" rotWithShape="0" blurRad="124239" dist="82826" dir="5400000">
              <a:srgbClr val="000000">
                <a:alpha val="10196"/>
              </a:srgbClr>
            </a:outerShdw>
          </a:effectLst>
        </p:spPr>
      </p:sp>
      <p:sp>
        <p:nvSpPr>
          <p:cNvPr id="25" name="Shape 23"/>
          <p:cNvSpPr/>
          <p:nvPr/>
        </p:nvSpPr>
        <p:spPr>
          <a:xfrm>
            <a:off x="8127931" y="1408043"/>
            <a:ext cx="3735457" cy="33130"/>
          </a:xfrm>
          <a:custGeom>
            <a:avLst/>
            <a:gdLst/>
            <a:ahLst/>
            <a:cxnLst/>
            <a:rect l="l" t="t" r="r" b="b"/>
            <a:pathLst>
              <a:path w="3735457" h="33130">
                <a:moveTo>
                  <a:pt x="33130" y="0"/>
                </a:moveTo>
                <a:lnTo>
                  <a:pt x="3702326" y="0"/>
                </a:lnTo>
                <a:cubicBezTo>
                  <a:pt x="3720624" y="0"/>
                  <a:pt x="3735457" y="14833"/>
                  <a:pt x="3735457" y="33130"/>
                </a:cubicBezTo>
                <a:lnTo>
                  <a:pt x="3735457" y="33130"/>
                </a:lnTo>
                <a:lnTo>
                  <a:pt x="0" y="33130"/>
                </a:lnTo>
                <a:lnTo>
                  <a:pt x="0" y="33130"/>
                </a:lnTo>
                <a:cubicBezTo>
                  <a:pt x="0" y="14833"/>
                  <a:pt x="14833" y="0"/>
                  <a:pt x="33130" y="0"/>
                </a:cubicBezTo>
                <a:close/>
              </a:path>
            </a:pathLst>
          </a:custGeom>
          <a:solidFill>
            <a:srgbClr val="C75B39"/>
          </a:solidFill>
          <a:ln/>
        </p:spPr>
      </p:sp>
      <p:sp>
        <p:nvSpPr>
          <p:cNvPr id="26" name="Shape 24"/>
          <p:cNvSpPr/>
          <p:nvPr/>
        </p:nvSpPr>
        <p:spPr>
          <a:xfrm>
            <a:off x="8293583" y="1590261"/>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C75B39"/>
          </a:solidFill>
          <a:ln/>
        </p:spPr>
      </p:sp>
      <p:sp>
        <p:nvSpPr>
          <p:cNvPr id="27" name="Text 25"/>
          <p:cNvSpPr/>
          <p:nvPr/>
        </p:nvSpPr>
        <p:spPr>
          <a:xfrm>
            <a:off x="8243888" y="1590261"/>
            <a:ext cx="563217" cy="463826"/>
          </a:xfrm>
          <a:prstGeom prst="rect">
            <a:avLst/>
          </a:prstGeom>
          <a:noFill/>
          <a:ln/>
        </p:spPr>
        <p:txBody>
          <a:bodyPr wrap="square" lIns="0" tIns="0" rIns="0" bIns="0" rtlCol="0" anchor="ctr"/>
          <a:lstStyle/>
          <a:p>
            <a:pPr algn="ctr">
              <a:lnSpc>
                <a:spcPct val="110000"/>
              </a:lnSpc>
            </a:pPr>
            <a:r>
              <a:rPr lang="en-US" sz="1565" b="1" dirty="0">
                <a:solidFill>
                  <a:srgbClr val="FFFFFF"/>
                </a:solidFill>
                <a:latin typeface="Oranienbaum" pitchFamily="34" charset="0"/>
                <a:ea typeface="Oranienbaum" pitchFamily="34" charset="-122"/>
                <a:cs typeface="Oranienbaum" pitchFamily="34" charset="-120"/>
              </a:rPr>
              <a:t>03</a:t>
            </a:r>
            <a:endParaRPr lang="en-US" sz="1600" dirty="0"/>
          </a:p>
        </p:txBody>
      </p:sp>
      <p:sp>
        <p:nvSpPr>
          <p:cNvPr id="28" name="Text 26"/>
          <p:cNvSpPr/>
          <p:nvPr/>
        </p:nvSpPr>
        <p:spPr>
          <a:xfrm>
            <a:off x="8856801" y="1590261"/>
            <a:ext cx="1217543" cy="463826"/>
          </a:xfrm>
          <a:prstGeom prst="rect">
            <a:avLst/>
          </a:prstGeom>
          <a:noFill/>
          <a:ln/>
        </p:spPr>
        <p:txBody>
          <a:bodyPr wrap="square" lIns="0" tIns="0" rIns="0" bIns="0" rtlCol="0" anchor="ctr"/>
          <a:lstStyle/>
          <a:p>
            <a:pPr>
              <a:lnSpc>
                <a:spcPct val="120000"/>
              </a:lnSpc>
            </a:pPr>
            <a:r>
              <a:rPr lang="en-US" sz="1304" b="1" dirty="0">
                <a:solidFill>
                  <a:srgbClr val="2E5A4C"/>
                </a:solidFill>
                <a:latin typeface="Liter" pitchFamily="34" charset="0"/>
                <a:ea typeface="Liter" pitchFamily="34" charset="-122"/>
                <a:cs typeface="Liter" pitchFamily="34" charset="-120"/>
              </a:rPr>
              <a:t>Review</a:t>
            </a:r>
            <a:endParaRPr lang="en-US" sz="1600" dirty="0"/>
          </a:p>
          <a:p>
            <a:pPr>
              <a:lnSpc>
                <a:spcPct val="120000"/>
              </a:lnSpc>
            </a:pPr>
            <a:r>
              <a:rPr lang="en-US" sz="1304" b="1" dirty="0">
                <a:solidFill>
                  <a:srgbClr val="2E5A4C"/>
                </a:solidFill>
                <a:latin typeface="Liter" pitchFamily="34" charset="0"/>
                <a:ea typeface="Liter" pitchFamily="34" charset="-122"/>
                <a:cs typeface="Liter" pitchFamily="34" charset="-120"/>
              </a:rPr>
              <a:t>Discount Policy</a:t>
            </a:r>
            <a:endParaRPr lang="en-US" sz="1600" dirty="0"/>
          </a:p>
        </p:txBody>
      </p:sp>
      <p:sp>
        <p:nvSpPr>
          <p:cNvPr id="29" name="Text 27"/>
          <p:cNvSpPr/>
          <p:nvPr/>
        </p:nvSpPr>
        <p:spPr>
          <a:xfrm>
            <a:off x="8293583" y="2186609"/>
            <a:ext cx="3462130" cy="381000"/>
          </a:xfrm>
          <a:prstGeom prst="rect">
            <a:avLst/>
          </a:prstGeom>
          <a:noFill/>
          <a:ln/>
        </p:spPr>
        <p:txBody>
          <a:bodyPr wrap="square" lIns="0" tIns="0" rIns="0" bIns="0" rtlCol="0" anchor="ctr"/>
          <a:lstStyle/>
          <a:p>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Balance sales boosts with margin control. Products with </a:t>
            </a:r>
            <a:pPr>
              <a:lnSpc>
                <a:spcPct val="140000"/>
              </a:lnSpc>
            </a:pPr>
            <a:r>
              <a:rPr lang="en-US" sz="913" b="1" dirty="0">
                <a:solidFill>
                  <a:srgbClr val="C75B39"/>
                </a:solidFill>
                <a:latin typeface="Quattrocento Sans" pitchFamily="34" charset="0"/>
                <a:ea typeface="Quattrocento Sans" pitchFamily="34" charset="-122"/>
                <a:cs typeface="Quattrocento Sans" pitchFamily="34" charset="-120"/>
              </a:rPr>
              <a:t>&gt;60% discount dependency</a:t>
            </a:r>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 need pricing strategy review.</a:t>
            </a:r>
            <a:endParaRPr lang="en-US" sz="1600" dirty="0"/>
          </a:p>
        </p:txBody>
      </p:sp>
      <p:sp>
        <p:nvSpPr>
          <p:cNvPr id="30" name="Shape 28"/>
          <p:cNvSpPr/>
          <p:nvPr/>
        </p:nvSpPr>
        <p:spPr>
          <a:xfrm>
            <a:off x="8293583" y="2662859"/>
            <a:ext cx="3404152" cy="331304"/>
          </a:xfrm>
          <a:custGeom>
            <a:avLst/>
            <a:gdLst/>
            <a:ahLst/>
            <a:cxnLst/>
            <a:rect l="l" t="t" r="r" b="b"/>
            <a:pathLst>
              <a:path w="3404152" h="331304">
                <a:moveTo>
                  <a:pt x="66261" y="0"/>
                </a:moveTo>
                <a:lnTo>
                  <a:pt x="3337891" y="0"/>
                </a:lnTo>
                <a:cubicBezTo>
                  <a:pt x="3374486" y="0"/>
                  <a:pt x="3404152" y="29666"/>
                  <a:pt x="3404152" y="66261"/>
                </a:cubicBezTo>
                <a:lnTo>
                  <a:pt x="3404152" y="265043"/>
                </a:lnTo>
                <a:cubicBezTo>
                  <a:pt x="3404152" y="301638"/>
                  <a:pt x="3374486" y="331304"/>
                  <a:pt x="3337891" y="331304"/>
                </a:cubicBezTo>
                <a:lnTo>
                  <a:pt x="66261" y="331304"/>
                </a:lnTo>
                <a:cubicBezTo>
                  <a:pt x="29666" y="331304"/>
                  <a:pt x="0" y="301638"/>
                  <a:pt x="0" y="265043"/>
                </a:cubicBezTo>
                <a:lnTo>
                  <a:pt x="0" y="66261"/>
                </a:lnTo>
                <a:cubicBezTo>
                  <a:pt x="0" y="29666"/>
                  <a:pt x="29666" y="0"/>
                  <a:pt x="66261" y="0"/>
                </a:cubicBezTo>
                <a:close/>
              </a:path>
            </a:pathLst>
          </a:custGeom>
          <a:solidFill>
            <a:srgbClr val="C75B39">
              <a:alpha val="10196"/>
            </a:srgbClr>
          </a:solidFill>
          <a:ln/>
        </p:spPr>
      </p:sp>
      <p:sp>
        <p:nvSpPr>
          <p:cNvPr id="31" name="Shape 29"/>
          <p:cNvSpPr/>
          <p:nvPr/>
        </p:nvSpPr>
        <p:spPr>
          <a:xfrm>
            <a:off x="8411610" y="2775507"/>
            <a:ext cx="86967" cy="99391"/>
          </a:xfrm>
          <a:custGeom>
            <a:avLst/>
            <a:gdLst/>
            <a:ahLst/>
            <a:cxnLst/>
            <a:rect l="l" t="t" r="r" b="b"/>
            <a:pathLst>
              <a:path w="86967" h="99391">
                <a:moveTo>
                  <a:pt x="84405" y="13608"/>
                </a:moveTo>
                <a:cubicBezTo>
                  <a:pt x="87181" y="15627"/>
                  <a:pt x="87802" y="19509"/>
                  <a:pt x="85783" y="22285"/>
                </a:cubicBezTo>
                <a:lnTo>
                  <a:pt x="36088" y="90617"/>
                </a:lnTo>
                <a:cubicBezTo>
                  <a:pt x="35020" y="92092"/>
                  <a:pt x="33370" y="93005"/>
                  <a:pt x="31545" y="93160"/>
                </a:cubicBezTo>
                <a:cubicBezTo>
                  <a:pt x="29720" y="93315"/>
                  <a:pt x="27954" y="92636"/>
                  <a:pt x="26673" y="91355"/>
                </a:cubicBezTo>
                <a:lnTo>
                  <a:pt x="1825" y="66507"/>
                </a:lnTo>
                <a:cubicBezTo>
                  <a:pt x="-602" y="64080"/>
                  <a:pt x="-602" y="60140"/>
                  <a:pt x="1825" y="57713"/>
                </a:cubicBezTo>
                <a:cubicBezTo>
                  <a:pt x="4251" y="55286"/>
                  <a:pt x="8192" y="55286"/>
                  <a:pt x="10619" y="57713"/>
                </a:cubicBezTo>
                <a:lnTo>
                  <a:pt x="30322" y="77417"/>
                </a:lnTo>
                <a:lnTo>
                  <a:pt x="75747" y="14967"/>
                </a:lnTo>
                <a:cubicBezTo>
                  <a:pt x="77766" y="12191"/>
                  <a:pt x="81648" y="11570"/>
                  <a:pt x="84424" y="13589"/>
                </a:cubicBezTo>
                <a:close/>
              </a:path>
            </a:pathLst>
          </a:custGeom>
          <a:solidFill>
            <a:srgbClr val="C75B39"/>
          </a:solidFill>
          <a:ln/>
        </p:spPr>
      </p:sp>
      <p:sp>
        <p:nvSpPr>
          <p:cNvPr id="32" name="Text 30"/>
          <p:cNvSpPr/>
          <p:nvPr/>
        </p:nvSpPr>
        <p:spPr>
          <a:xfrm>
            <a:off x="8538820" y="2762250"/>
            <a:ext cx="3109219" cy="132522"/>
          </a:xfrm>
          <a:prstGeom prst="rect">
            <a:avLst/>
          </a:prstGeom>
          <a:noFill/>
          <a:ln/>
        </p:spPr>
        <p:txBody>
          <a:bodyPr wrap="square" lIns="0" tIns="0" rIns="0" bIns="0" rtlCol="0" anchor="ctr"/>
          <a:lstStyle/>
          <a:p>
            <a:pPr>
              <a:lnSpc>
                <a:spcPct val="110000"/>
              </a:lnSpc>
            </a:pPr>
            <a:r>
              <a:rPr lang="en-US" sz="783" dirty="0">
                <a:solidFill>
                  <a:srgbClr val="2C3E50">
                    <a:alpha val="80000"/>
                  </a:srgbClr>
                </a:solidFill>
                <a:latin typeface="Quattrocento Sans" pitchFamily="34" charset="0"/>
                <a:ea typeface="Quattrocento Sans" pitchFamily="34" charset="-122"/>
                <a:cs typeface="Quattrocento Sans" pitchFamily="34" charset="-120"/>
              </a:rPr>
              <a:t>Targeted promotions, bundle offers, limited-time deals</a:t>
            </a:r>
            <a:endParaRPr lang="en-US" sz="1600" dirty="0"/>
          </a:p>
        </p:txBody>
      </p:sp>
      <p:sp>
        <p:nvSpPr>
          <p:cNvPr id="33" name="Shape 31"/>
          <p:cNvSpPr/>
          <p:nvPr/>
        </p:nvSpPr>
        <p:spPr>
          <a:xfrm>
            <a:off x="331304" y="3341927"/>
            <a:ext cx="3735457" cy="3329609"/>
          </a:xfrm>
          <a:custGeom>
            <a:avLst/>
            <a:gdLst/>
            <a:ahLst/>
            <a:cxnLst/>
            <a:rect l="l" t="t" r="r" b="b"/>
            <a:pathLst>
              <a:path w="3735457" h="3329609">
                <a:moveTo>
                  <a:pt x="33130" y="0"/>
                </a:moveTo>
                <a:lnTo>
                  <a:pt x="3702326" y="0"/>
                </a:lnTo>
                <a:cubicBezTo>
                  <a:pt x="3720624" y="0"/>
                  <a:pt x="3735457" y="14833"/>
                  <a:pt x="3735457" y="33130"/>
                </a:cubicBezTo>
                <a:lnTo>
                  <a:pt x="3735457" y="3230220"/>
                </a:lnTo>
                <a:cubicBezTo>
                  <a:pt x="3735457" y="3285111"/>
                  <a:pt x="3690959" y="3329609"/>
                  <a:pt x="3636068" y="3329609"/>
                </a:cubicBezTo>
                <a:lnTo>
                  <a:pt x="99389" y="3329609"/>
                </a:lnTo>
                <a:cubicBezTo>
                  <a:pt x="44498" y="3329609"/>
                  <a:pt x="0" y="3285111"/>
                  <a:pt x="0" y="3230220"/>
                </a:cubicBezTo>
                <a:lnTo>
                  <a:pt x="0" y="33130"/>
                </a:lnTo>
                <a:cubicBezTo>
                  <a:pt x="0" y="14833"/>
                  <a:pt x="14833" y="0"/>
                  <a:pt x="33130" y="0"/>
                </a:cubicBezTo>
                <a:close/>
              </a:path>
            </a:pathLst>
          </a:custGeom>
          <a:solidFill>
            <a:srgbClr val="FFFFFF"/>
          </a:solidFill>
          <a:ln/>
          <a:effectLst>
            <a:outerShdw sx="100000" sy="100000" kx="0" ky="0" algn="bl" rotWithShape="0" blurRad="124239" dist="82826" dir="5400000">
              <a:srgbClr val="000000">
                <a:alpha val="10196"/>
              </a:srgbClr>
            </a:outerShdw>
          </a:effectLst>
        </p:spPr>
      </p:sp>
      <p:sp>
        <p:nvSpPr>
          <p:cNvPr id="34" name="Shape 32"/>
          <p:cNvSpPr/>
          <p:nvPr/>
        </p:nvSpPr>
        <p:spPr>
          <a:xfrm>
            <a:off x="331304" y="3341927"/>
            <a:ext cx="3735457" cy="33130"/>
          </a:xfrm>
          <a:custGeom>
            <a:avLst/>
            <a:gdLst/>
            <a:ahLst/>
            <a:cxnLst/>
            <a:rect l="l" t="t" r="r" b="b"/>
            <a:pathLst>
              <a:path w="3735457" h="33130">
                <a:moveTo>
                  <a:pt x="33130" y="0"/>
                </a:moveTo>
                <a:lnTo>
                  <a:pt x="3702326" y="0"/>
                </a:lnTo>
                <a:cubicBezTo>
                  <a:pt x="3720624" y="0"/>
                  <a:pt x="3735457" y="14833"/>
                  <a:pt x="3735457" y="33130"/>
                </a:cubicBezTo>
                <a:lnTo>
                  <a:pt x="3735457" y="33130"/>
                </a:lnTo>
                <a:lnTo>
                  <a:pt x="0" y="33130"/>
                </a:lnTo>
                <a:lnTo>
                  <a:pt x="0" y="33130"/>
                </a:lnTo>
                <a:cubicBezTo>
                  <a:pt x="0" y="14833"/>
                  <a:pt x="14833" y="0"/>
                  <a:pt x="33130" y="0"/>
                </a:cubicBezTo>
                <a:close/>
              </a:path>
            </a:pathLst>
          </a:custGeom>
          <a:solidFill>
            <a:srgbClr val="2E5A4C"/>
          </a:solidFill>
          <a:ln/>
        </p:spPr>
      </p:sp>
      <p:sp>
        <p:nvSpPr>
          <p:cNvPr id="35" name="Shape 33"/>
          <p:cNvSpPr/>
          <p:nvPr/>
        </p:nvSpPr>
        <p:spPr>
          <a:xfrm>
            <a:off x="496957" y="3524145"/>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2E5A4C"/>
          </a:solidFill>
          <a:ln/>
        </p:spPr>
      </p:sp>
      <p:sp>
        <p:nvSpPr>
          <p:cNvPr id="36" name="Text 34"/>
          <p:cNvSpPr/>
          <p:nvPr/>
        </p:nvSpPr>
        <p:spPr>
          <a:xfrm>
            <a:off x="447261" y="3524145"/>
            <a:ext cx="563217" cy="463826"/>
          </a:xfrm>
          <a:prstGeom prst="rect">
            <a:avLst/>
          </a:prstGeom>
          <a:noFill/>
          <a:ln/>
        </p:spPr>
        <p:txBody>
          <a:bodyPr wrap="square" lIns="0" tIns="0" rIns="0" bIns="0" rtlCol="0" anchor="ctr"/>
          <a:lstStyle/>
          <a:p>
            <a:pPr algn="ctr">
              <a:lnSpc>
                <a:spcPct val="110000"/>
              </a:lnSpc>
            </a:pPr>
            <a:r>
              <a:rPr lang="en-US" sz="1565" b="1" dirty="0">
                <a:solidFill>
                  <a:srgbClr val="FFFFFF"/>
                </a:solidFill>
                <a:latin typeface="Oranienbaum" pitchFamily="34" charset="0"/>
                <a:ea typeface="Oranienbaum" pitchFamily="34" charset="-122"/>
                <a:cs typeface="Oranienbaum" pitchFamily="34" charset="-120"/>
              </a:rPr>
              <a:t>04</a:t>
            </a:r>
            <a:endParaRPr lang="en-US" sz="1600" dirty="0"/>
          </a:p>
        </p:txBody>
      </p:sp>
      <p:sp>
        <p:nvSpPr>
          <p:cNvPr id="37" name="Text 35"/>
          <p:cNvSpPr/>
          <p:nvPr/>
        </p:nvSpPr>
        <p:spPr>
          <a:xfrm>
            <a:off x="1060174" y="3524145"/>
            <a:ext cx="902804" cy="463826"/>
          </a:xfrm>
          <a:prstGeom prst="rect">
            <a:avLst/>
          </a:prstGeom>
          <a:noFill/>
          <a:ln/>
        </p:spPr>
        <p:txBody>
          <a:bodyPr wrap="square" lIns="0" tIns="0" rIns="0" bIns="0" rtlCol="0" anchor="ctr"/>
          <a:lstStyle/>
          <a:p>
            <a:pPr>
              <a:lnSpc>
                <a:spcPct val="120000"/>
              </a:lnSpc>
            </a:pPr>
            <a:r>
              <a:rPr lang="en-US" sz="1304" b="1" dirty="0">
                <a:solidFill>
                  <a:srgbClr val="2E5A4C"/>
                </a:solidFill>
                <a:latin typeface="Liter" pitchFamily="34" charset="0"/>
                <a:ea typeface="Liter" pitchFamily="34" charset="-122"/>
                <a:cs typeface="Liter" pitchFamily="34" charset="-120"/>
              </a:rPr>
              <a:t>Product</a:t>
            </a:r>
            <a:endParaRPr lang="en-US" sz="1600" dirty="0"/>
          </a:p>
          <a:p>
            <a:pPr>
              <a:lnSpc>
                <a:spcPct val="120000"/>
              </a:lnSpc>
            </a:pPr>
            <a:r>
              <a:rPr lang="en-US" sz="1304" b="1" dirty="0">
                <a:solidFill>
                  <a:srgbClr val="2E5A4C"/>
                </a:solidFill>
                <a:latin typeface="Liter" pitchFamily="34" charset="0"/>
                <a:ea typeface="Liter" pitchFamily="34" charset="-122"/>
                <a:cs typeface="Liter" pitchFamily="34" charset="-120"/>
              </a:rPr>
              <a:t>Positioning</a:t>
            </a:r>
            <a:endParaRPr lang="en-US" sz="1600" dirty="0"/>
          </a:p>
        </p:txBody>
      </p:sp>
      <p:sp>
        <p:nvSpPr>
          <p:cNvPr id="38" name="Text 36"/>
          <p:cNvSpPr/>
          <p:nvPr/>
        </p:nvSpPr>
        <p:spPr>
          <a:xfrm>
            <a:off x="496957" y="4120493"/>
            <a:ext cx="3462130" cy="1954696"/>
          </a:xfrm>
          <a:prstGeom prst="rect">
            <a:avLst/>
          </a:prstGeom>
          <a:noFill/>
          <a:ln/>
        </p:spPr>
        <p:txBody>
          <a:bodyPr wrap="square" lIns="0" tIns="0" rIns="0" bIns="0" rtlCol="0" anchor="ctr"/>
          <a:lstStyle/>
          <a:p>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Highlight top-rated and best-selling products in campaigns. Leverage </a:t>
            </a:r>
            <a:pPr>
              <a:lnSpc>
                <a:spcPct val="140000"/>
              </a:lnSpc>
            </a:pPr>
            <a:r>
              <a:rPr lang="en-US" sz="913" b="1" dirty="0">
                <a:solidFill>
                  <a:srgbClr val="C75B39"/>
                </a:solidFill>
                <a:latin typeface="Quattrocento Sans" pitchFamily="34" charset="0"/>
                <a:ea typeface="Quattrocento Sans" pitchFamily="34" charset="-122"/>
                <a:cs typeface="Quattrocento Sans" pitchFamily="34" charset="-120"/>
              </a:rPr>
              <a:t>4.9-star rated items</a:t>
            </a:r>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 as brand ambassadors.</a:t>
            </a:r>
            <a:endParaRPr lang="en-US" sz="1600" dirty="0"/>
          </a:p>
        </p:txBody>
      </p:sp>
      <p:sp>
        <p:nvSpPr>
          <p:cNvPr id="39" name="Shape 37"/>
          <p:cNvSpPr/>
          <p:nvPr/>
        </p:nvSpPr>
        <p:spPr>
          <a:xfrm>
            <a:off x="496957" y="6174580"/>
            <a:ext cx="3404152" cy="331304"/>
          </a:xfrm>
          <a:custGeom>
            <a:avLst/>
            <a:gdLst/>
            <a:ahLst/>
            <a:cxnLst/>
            <a:rect l="l" t="t" r="r" b="b"/>
            <a:pathLst>
              <a:path w="3404152" h="331304">
                <a:moveTo>
                  <a:pt x="66261" y="0"/>
                </a:moveTo>
                <a:lnTo>
                  <a:pt x="3337891" y="0"/>
                </a:lnTo>
                <a:cubicBezTo>
                  <a:pt x="3374486" y="0"/>
                  <a:pt x="3404152" y="29666"/>
                  <a:pt x="3404152" y="66261"/>
                </a:cubicBezTo>
                <a:lnTo>
                  <a:pt x="3404152" y="265043"/>
                </a:lnTo>
                <a:cubicBezTo>
                  <a:pt x="3404152" y="301638"/>
                  <a:pt x="3374486" y="331304"/>
                  <a:pt x="3337891" y="331304"/>
                </a:cubicBezTo>
                <a:lnTo>
                  <a:pt x="66261" y="331304"/>
                </a:lnTo>
                <a:cubicBezTo>
                  <a:pt x="29666" y="331304"/>
                  <a:pt x="0" y="301638"/>
                  <a:pt x="0" y="265043"/>
                </a:cubicBezTo>
                <a:lnTo>
                  <a:pt x="0" y="66261"/>
                </a:lnTo>
                <a:cubicBezTo>
                  <a:pt x="0" y="29666"/>
                  <a:pt x="29666" y="0"/>
                  <a:pt x="66261" y="0"/>
                </a:cubicBezTo>
                <a:close/>
              </a:path>
            </a:pathLst>
          </a:custGeom>
          <a:solidFill>
            <a:srgbClr val="2E5A4C">
              <a:alpha val="5098"/>
            </a:srgbClr>
          </a:solidFill>
          <a:ln/>
        </p:spPr>
      </p:sp>
      <p:sp>
        <p:nvSpPr>
          <p:cNvPr id="40" name="Shape 38"/>
          <p:cNvSpPr/>
          <p:nvPr/>
        </p:nvSpPr>
        <p:spPr>
          <a:xfrm>
            <a:off x="614984" y="6287228"/>
            <a:ext cx="86967" cy="99391"/>
          </a:xfrm>
          <a:custGeom>
            <a:avLst/>
            <a:gdLst/>
            <a:ahLst/>
            <a:cxnLst/>
            <a:rect l="l" t="t" r="r" b="b"/>
            <a:pathLst>
              <a:path w="86967" h="99391">
                <a:moveTo>
                  <a:pt x="84405" y="13608"/>
                </a:moveTo>
                <a:cubicBezTo>
                  <a:pt x="87181" y="15627"/>
                  <a:pt x="87802" y="19509"/>
                  <a:pt x="85783" y="22285"/>
                </a:cubicBezTo>
                <a:lnTo>
                  <a:pt x="36088" y="90617"/>
                </a:lnTo>
                <a:cubicBezTo>
                  <a:pt x="35020" y="92092"/>
                  <a:pt x="33370" y="93005"/>
                  <a:pt x="31545" y="93160"/>
                </a:cubicBezTo>
                <a:cubicBezTo>
                  <a:pt x="29720" y="93315"/>
                  <a:pt x="27954" y="92636"/>
                  <a:pt x="26673" y="91355"/>
                </a:cubicBezTo>
                <a:lnTo>
                  <a:pt x="1825" y="66507"/>
                </a:lnTo>
                <a:cubicBezTo>
                  <a:pt x="-602" y="64080"/>
                  <a:pt x="-602" y="60140"/>
                  <a:pt x="1825" y="57713"/>
                </a:cubicBezTo>
                <a:cubicBezTo>
                  <a:pt x="4251" y="55286"/>
                  <a:pt x="8192" y="55286"/>
                  <a:pt x="10619" y="57713"/>
                </a:cubicBezTo>
                <a:lnTo>
                  <a:pt x="30322" y="77417"/>
                </a:lnTo>
                <a:lnTo>
                  <a:pt x="75747" y="14967"/>
                </a:lnTo>
                <a:cubicBezTo>
                  <a:pt x="77766" y="12191"/>
                  <a:pt x="81648" y="11570"/>
                  <a:pt x="84424" y="13589"/>
                </a:cubicBezTo>
                <a:close/>
              </a:path>
            </a:pathLst>
          </a:custGeom>
          <a:solidFill>
            <a:srgbClr val="2E5A4C"/>
          </a:solidFill>
          <a:ln/>
        </p:spPr>
      </p:sp>
      <p:sp>
        <p:nvSpPr>
          <p:cNvPr id="41" name="Text 39"/>
          <p:cNvSpPr/>
          <p:nvPr/>
        </p:nvSpPr>
        <p:spPr>
          <a:xfrm>
            <a:off x="742194" y="6273971"/>
            <a:ext cx="3109219" cy="132522"/>
          </a:xfrm>
          <a:prstGeom prst="rect">
            <a:avLst/>
          </a:prstGeom>
          <a:noFill/>
          <a:ln/>
        </p:spPr>
        <p:txBody>
          <a:bodyPr wrap="square" lIns="0" tIns="0" rIns="0" bIns="0" rtlCol="0" anchor="ctr"/>
          <a:lstStyle/>
          <a:p>
            <a:pPr>
              <a:lnSpc>
                <a:spcPct val="110000"/>
              </a:lnSpc>
            </a:pPr>
            <a:r>
              <a:rPr lang="en-US" sz="783" dirty="0">
                <a:solidFill>
                  <a:srgbClr val="2C3E50">
                    <a:alpha val="80000"/>
                  </a:srgbClr>
                </a:solidFill>
                <a:latin typeface="Quattrocento Sans" pitchFamily="34" charset="0"/>
                <a:ea typeface="Quattrocento Sans" pitchFamily="34" charset="-122"/>
                <a:cs typeface="Quattrocento Sans" pitchFamily="34" charset="-120"/>
              </a:rPr>
              <a:t>Featured placements, customer testimonials, cross-selling</a:t>
            </a:r>
            <a:endParaRPr lang="en-US" sz="1600" dirty="0"/>
          </a:p>
        </p:txBody>
      </p:sp>
      <p:sp>
        <p:nvSpPr>
          <p:cNvPr id="42" name="Shape 40"/>
          <p:cNvSpPr/>
          <p:nvPr/>
        </p:nvSpPr>
        <p:spPr>
          <a:xfrm>
            <a:off x="4229618" y="3341927"/>
            <a:ext cx="3735457" cy="3329609"/>
          </a:xfrm>
          <a:custGeom>
            <a:avLst/>
            <a:gdLst/>
            <a:ahLst/>
            <a:cxnLst/>
            <a:rect l="l" t="t" r="r" b="b"/>
            <a:pathLst>
              <a:path w="3735457" h="3329609">
                <a:moveTo>
                  <a:pt x="33130" y="0"/>
                </a:moveTo>
                <a:lnTo>
                  <a:pt x="3702326" y="0"/>
                </a:lnTo>
                <a:cubicBezTo>
                  <a:pt x="3720624" y="0"/>
                  <a:pt x="3735457" y="14833"/>
                  <a:pt x="3735457" y="33130"/>
                </a:cubicBezTo>
                <a:lnTo>
                  <a:pt x="3735457" y="3230220"/>
                </a:lnTo>
                <a:cubicBezTo>
                  <a:pt x="3735457" y="3285111"/>
                  <a:pt x="3690959" y="3329609"/>
                  <a:pt x="3636068" y="3329609"/>
                </a:cubicBezTo>
                <a:lnTo>
                  <a:pt x="99389" y="3329609"/>
                </a:lnTo>
                <a:cubicBezTo>
                  <a:pt x="44498" y="3329609"/>
                  <a:pt x="0" y="3285111"/>
                  <a:pt x="0" y="3230220"/>
                </a:cubicBezTo>
                <a:lnTo>
                  <a:pt x="0" y="33130"/>
                </a:lnTo>
                <a:cubicBezTo>
                  <a:pt x="0" y="14833"/>
                  <a:pt x="14833" y="0"/>
                  <a:pt x="33130" y="0"/>
                </a:cubicBezTo>
                <a:close/>
              </a:path>
            </a:pathLst>
          </a:custGeom>
          <a:solidFill>
            <a:srgbClr val="FFFFFF"/>
          </a:solidFill>
          <a:ln/>
          <a:effectLst>
            <a:outerShdw sx="100000" sy="100000" kx="0" ky="0" algn="bl" rotWithShape="0" blurRad="124239" dist="82826" dir="5400000">
              <a:srgbClr val="000000">
                <a:alpha val="10196"/>
              </a:srgbClr>
            </a:outerShdw>
          </a:effectLst>
        </p:spPr>
      </p:sp>
      <p:sp>
        <p:nvSpPr>
          <p:cNvPr id="43" name="Shape 41"/>
          <p:cNvSpPr/>
          <p:nvPr/>
        </p:nvSpPr>
        <p:spPr>
          <a:xfrm>
            <a:off x="4229618" y="3341927"/>
            <a:ext cx="3735457" cy="33130"/>
          </a:xfrm>
          <a:custGeom>
            <a:avLst/>
            <a:gdLst/>
            <a:ahLst/>
            <a:cxnLst/>
            <a:rect l="l" t="t" r="r" b="b"/>
            <a:pathLst>
              <a:path w="3735457" h="33130">
                <a:moveTo>
                  <a:pt x="33130" y="0"/>
                </a:moveTo>
                <a:lnTo>
                  <a:pt x="3702326" y="0"/>
                </a:lnTo>
                <a:cubicBezTo>
                  <a:pt x="3720624" y="0"/>
                  <a:pt x="3735457" y="14833"/>
                  <a:pt x="3735457" y="33130"/>
                </a:cubicBezTo>
                <a:lnTo>
                  <a:pt x="3735457" y="33130"/>
                </a:lnTo>
                <a:lnTo>
                  <a:pt x="0" y="33130"/>
                </a:lnTo>
                <a:lnTo>
                  <a:pt x="0" y="33130"/>
                </a:lnTo>
                <a:cubicBezTo>
                  <a:pt x="0" y="14833"/>
                  <a:pt x="14833" y="0"/>
                  <a:pt x="33130" y="0"/>
                </a:cubicBezTo>
                <a:close/>
              </a:path>
            </a:pathLst>
          </a:custGeom>
          <a:solidFill>
            <a:srgbClr val="D4A574"/>
          </a:solidFill>
          <a:ln/>
        </p:spPr>
      </p:sp>
      <p:sp>
        <p:nvSpPr>
          <p:cNvPr id="44" name="Shape 42"/>
          <p:cNvSpPr/>
          <p:nvPr/>
        </p:nvSpPr>
        <p:spPr>
          <a:xfrm>
            <a:off x="4395270" y="3524145"/>
            <a:ext cx="463826" cy="463826"/>
          </a:xfrm>
          <a:custGeom>
            <a:avLst/>
            <a:gdLst/>
            <a:ahLst/>
            <a:cxnLst/>
            <a:rect l="l" t="t" r="r" b="b"/>
            <a:pathLst>
              <a:path w="463826" h="463826">
                <a:moveTo>
                  <a:pt x="231913" y="0"/>
                </a:moveTo>
                <a:lnTo>
                  <a:pt x="231913" y="0"/>
                </a:lnTo>
                <a:cubicBezTo>
                  <a:pt x="359909" y="0"/>
                  <a:pt x="463826" y="103917"/>
                  <a:pt x="463826" y="231913"/>
                </a:cubicBezTo>
                <a:lnTo>
                  <a:pt x="463826" y="231913"/>
                </a:lnTo>
                <a:cubicBezTo>
                  <a:pt x="463826" y="359909"/>
                  <a:pt x="359909" y="463826"/>
                  <a:pt x="231913" y="463826"/>
                </a:cubicBezTo>
                <a:lnTo>
                  <a:pt x="231913" y="463826"/>
                </a:lnTo>
                <a:cubicBezTo>
                  <a:pt x="103917" y="463826"/>
                  <a:pt x="0" y="359909"/>
                  <a:pt x="0" y="231913"/>
                </a:cubicBezTo>
                <a:lnTo>
                  <a:pt x="0" y="231913"/>
                </a:lnTo>
                <a:cubicBezTo>
                  <a:pt x="0" y="103917"/>
                  <a:pt x="103917" y="0"/>
                  <a:pt x="231913" y="0"/>
                </a:cubicBezTo>
                <a:close/>
              </a:path>
            </a:pathLst>
          </a:custGeom>
          <a:solidFill>
            <a:srgbClr val="D4A574"/>
          </a:solidFill>
          <a:ln/>
        </p:spPr>
      </p:sp>
      <p:sp>
        <p:nvSpPr>
          <p:cNvPr id="45" name="Text 43"/>
          <p:cNvSpPr/>
          <p:nvPr/>
        </p:nvSpPr>
        <p:spPr>
          <a:xfrm>
            <a:off x="4345574" y="3524145"/>
            <a:ext cx="563217" cy="463826"/>
          </a:xfrm>
          <a:prstGeom prst="rect">
            <a:avLst/>
          </a:prstGeom>
          <a:noFill/>
          <a:ln/>
        </p:spPr>
        <p:txBody>
          <a:bodyPr wrap="square" lIns="0" tIns="0" rIns="0" bIns="0" rtlCol="0" anchor="ctr"/>
          <a:lstStyle/>
          <a:p>
            <a:pPr algn="ctr">
              <a:lnSpc>
                <a:spcPct val="110000"/>
              </a:lnSpc>
            </a:pPr>
            <a:r>
              <a:rPr lang="en-US" sz="1565" b="1" dirty="0">
                <a:solidFill>
                  <a:srgbClr val="FFFFFF"/>
                </a:solidFill>
                <a:latin typeface="Oranienbaum" pitchFamily="34" charset="0"/>
                <a:ea typeface="Oranienbaum" pitchFamily="34" charset="-122"/>
                <a:cs typeface="Oranienbaum" pitchFamily="34" charset="-120"/>
              </a:rPr>
              <a:t>05</a:t>
            </a:r>
            <a:endParaRPr lang="en-US" sz="1600" dirty="0"/>
          </a:p>
        </p:txBody>
      </p:sp>
      <p:sp>
        <p:nvSpPr>
          <p:cNvPr id="46" name="Text 44"/>
          <p:cNvSpPr/>
          <p:nvPr/>
        </p:nvSpPr>
        <p:spPr>
          <a:xfrm>
            <a:off x="4958488" y="3524145"/>
            <a:ext cx="828261" cy="463826"/>
          </a:xfrm>
          <a:prstGeom prst="rect">
            <a:avLst/>
          </a:prstGeom>
          <a:noFill/>
          <a:ln/>
        </p:spPr>
        <p:txBody>
          <a:bodyPr wrap="square" lIns="0" tIns="0" rIns="0" bIns="0" rtlCol="0" anchor="ctr"/>
          <a:lstStyle/>
          <a:p>
            <a:pPr>
              <a:lnSpc>
                <a:spcPct val="120000"/>
              </a:lnSpc>
            </a:pPr>
            <a:r>
              <a:rPr lang="en-US" sz="1304" b="1" dirty="0">
                <a:solidFill>
                  <a:srgbClr val="2E5A4C"/>
                </a:solidFill>
                <a:latin typeface="Liter" pitchFamily="34" charset="0"/>
                <a:ea typeface="Liter" pitchFamily="34" charset="-122"/>
                <a:cs typeface="Liter" pitchFamily="34" charset="-120"/>
              </a:rPr>
              <a:t>Targeted</a:t>
            </a:r>
            <a:endParaRPr lang="en-US" sz="1600" dirty="0"/>
          </a:p>
          <a:p>
            <a:pPr>
              <a:lnSpc>
                <a:spcPct val="120000"/>
              </a:lnSpc>
            </a:pPr>
            <a:r>
              <a:rPr lang="en-US" sz="1304" b="1" dirty="0">
                <a:solidFill>
                  <a:srgbClr val="2E5A4C"/>
                </a:solidFill>
                <a:latin typeface="Liter" pitchFamily="34" charset="0"/>
                <a:ea typeface="Liter" pitchFamily="34" charset="-122"/>
                <a:cs typeface="Liter" pitchFamily="34" charset="-120"/>
              </a:rPr>
              <a:t>Marketing</a:t>
            </a:r>
            <a:endParaRPr lang="en-US" sz="1600" dirty="0"/>
          </a:p>
        </p:txBody>
      </p:sp>
      <p:sp>
        <p:nvSpPr>
          <p:cNvPr id="47" name="Text 45"/>
          <p:cNvSpPr/>
          <p:nvPr/>
        </p:nvSpPr>
        <p:spPr>
          <a:xfrm>
            <a:off x="4395270" y="4120493"/>
            <a:ext cx="3462130" cy="1954696"/>
          </a:xfrm>
          <a:prstGeom prst="rect">
            <a:avLst/>
          </a:prstGeom>
          <a:noFill/>
          <a:ln/>
        </p:spPr>
        <p:txBody>
          <a:bodyPr wrap="square" lIns="0" tIns="0" rIns="0" bIns="0" rtlCol="0" anchor="ctr"/>
          <a:lstStyle/>
          <a:p>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Focus efforts on high-revenue age groups (26-45) and express-shipping users who spend </a:t>
            </a:r>
            <a:pPr>
              <a:lnSpc>
                <a:spcPct val="140000"/>
              </a:lnSpc>
            </a:pPr>
            <a:r>
              <a:rPr lang="en-US" sz="913" b="1" dirty="0">
                <a:solidFill>
                  <a:srgbClr val="C75B39"/>
                </a:solidFill>
                <a:latin typeface="Quattrocento Sans" pitchFamily="34" charset="0"/>
                <a:ea typeface="Quattrocento Sans" pitchFamily="34" charset="-122"/>
                <a:cs typeface="Quattrocento Sans" pitchFamily="34" charset="-120"/>
              </a:rPr>
              <a:t>34% more</a:t>
            </a:r>
            <a:pPr>
              <a:lnSpc>
                <a:spcPct val="140000"/>
              </a:lnSpc>
            </a:pPr>
            <a:r>
              <a:rPr lang="en-US" sz="913" dirty="0">
                <a:solidFill>
                  <a:srgbClr val="2C3E50"/>
                </a:solidFill>
                <a:latin typeface="Quattrocento Sans" pitchFamily="34" charset="0"/>
                <a:ea typeface="Quattrocento Sans" pitchFamily="34" charset="-122"/>
                <a:cs typeface="Quattrocento Sans" pitchFamily="34" charset="-120"/>
              </a:rPr>
              <a:t> on average.</a:t>
            </a:r>
            <a:endParaRPr lang="en-US" sz="1600" dirty="0"/>
          </a:p>
        </p:txBody>
      </p:sp>
      <p:sp>
        <p:nvSpPr>
          <p:cNvPr id="48" name="Shape 46"/>
          <p:cNvSpPr/>
          <p:nvPr/>
        </p:nvSpPr>
        <p:spPr>
          <a:xfrm>
            <a:off x="4395270" y="6174580"/>
            <a:ext cx="3404152" cy="331304"/>
          </a:xfrm>
          <a:custGeom>
            <a:avLst/>
            <a:gdLst/>
            <a:ahLst/>
            <a:cxnLst/>
            <a:rect l="l" t="t" r="r" b="b"/>
            <a:pathLst>
              <a:path w="3404152" h="331304">
                <a:moveTo>
                  <a:pt x="66261" y="0"/>
                </a:moveTo>
                <a:lnTo>
                  <a:pt x="3337891" y="0"/>
                </a:lnTo>
                <a:cubicBezTo>
                  <a:pt x="3374486" y="0"/>
                  <a:pt x="3404152" y="29666"/>
                  <a:pt x="3404152" y="66261"/>
                </a:cubicBezTo>
                <a:lnTo>
                  <a:pt x="3404152" y="265043"/>
                </a:lnTo>
                <a:cubicBezTo>
                  <a:pt x="3404152" y="301638"/>
                  <a:pt x="3374486" y="331304"/>
                  <a:pt x="3337891" y="331304"/>
                </a:cubicBezTo>
                <a:lnTo>
                  <a:pt x="66261" y="331304"/>
                </a:lnTo>
                <a:cubicBezTo>
                  <a:pt x="29666" y="331304"/>
                  <a:pt x="0" y="301638"/>
                  <a:pt x="0" y="265043"/>
                </a:cubicBezTo>
                <a:lnTo>
                  <a:pt x="0" y="66261"/>
                </a:lnTo>
                <a:cubicBezTo>
                  <a:pt x="0" y="29666"/>
                  <a:pt x="29666" y="0"/>
                  <a:pt x="66261" y="0"/>
                </a:cubicBezTo>
                <a:close/>
              </a:path>
            </a:pathLst>
          </a:custGeom>
          <a:solidFill>
            <a:srgbClr val="D4A574">
              <a:alpha val="10196"/>
            </a:srgbClr>
          </a:solidFill>
          <a:ln/>
        </p:spPr>
      </p:sp>
      <p:sp>
        <p:nvSpPr>
          <p:cNvPr id="49" name="Shape 47"/>
          <p:cNvSpPr/>
          <p:nvPr/>
        </p:nvSpPr>
        <p:spPr>
          <a:xfrm>
            <a:off x="4513297" y="6287228"/>
            <a:ext cx="86967" cy="99391"/>
          </a:xfrm>
          <a:custGeom>
            <a:avLst/>
            <a:gdLst/>
            <a:ahLst/>
            <a:cxnLst/>
            <a:rect l="l" t="t" r="r" b="b"/>
            <a:pathLst>
              <a:path w="86967" h="99391">
                <a:moveTo>
                  <a:pt x="84405" y="13608"/>
                </a:moveTo>
                <a:cubicBezTo>
                  <a:pt x="87181" y="15627"/>
                  <a:pt x="87802" y="19509"/>
                  <a:pt x="85783" y="22285"/>
                </a:cubicBezTo>
                <a:lnTo>
                  <a:pt x="36088" y="90617"/>
                </a:lnTo>
                <a:cubicBezTo>
                  <a:pt x="35020" y="92092"/>
                  <a:pt x="33370" y="93005"/>
                  <a:pt x="31545" y="93160"/>
                </a:cubicBezTo>
                <a:cubicBezTo>
                  <a:pt x="29720" y="93315"/>
                  <a:pt x="27954" y="92636"/>
                  <a:pt x="26673" y="91355"/>
                </a:cubicBezTo>
                <a:lnTo>
                  <a:pt x="1825" y="66507"/>
                </a:lnTo>
                <a:cubicBezTo>
                  <a:pt x="-602" y="64080"/>
                  <a:pt x="-602" y="60140"/>
                  <a:pt x="1825" y="57713"/>
                </a:cubicBezTo>
                <a:cubicBezTo>
                  <a:pt x="4251" y="55286"/>
                  <a:pt x="8192" y="55286"/>
                  <a:pt x="10619" y="57713"/>
                </a:cubicBezTo>
                <a:lnTo>
                  <a:pt x="30322" y="77417"/>
                </a:lnTo>
                <a:lnTo>
                  <a:pt x="75747" y="14967"/>
                </a:lnTo>
                <a:cubicBezTo>
                  <a:pt x="77766" y="12191"/>
                  <a:pt x="81648" y="11570"/>
                  <a:pt x="84424" y="13589"/>
                </a:cubicBezTo>
                <a:close/>
              </a:path>
            </a:pathLst>
          </a:custGeom>
          <a:solidFill>
            <a:srgbClr val="D4A574"/>
          </a:solidFill>
          <a:ln/>
        </p:spPr>
      </p:sp>
      <p:sp>
        <p:nvSpPr>
          <p:cNvPr id="50" name="Text 48"/>
          <p:cNvSpPr/>
          <p:nvPr/>
        </p:nvSpPr>
        <p:spPr>
          <a:xfrm>
            <a:off x="4640507" y="6273971"/>
            <a:ext cx="3109219" cy="132522"/>
          </a:xfrm>
          <a:prstGeom prst="rect">
            <a:avLst/>
          </a:prstGeom>
          <a:noFill/>
          <a:ln/>
        </p:spPr>
        <p:txBody>
          <a:bodyPr wrap="square" lIns="0" tIns="0" rIns="0" bIns="0" rtlCol="0" anchor="ctr"/>
          <a:lstStyle/>
          <a:p>
            <a:pPr>
              <a:lnSpc>
                <a:spcPct val="110000"/>
              </a:lnSpc>
            </a:pPr>
            <a:r>
              <a:rPr lang="en-US" sz="783" dirty="0">
                <a:solidFill>
                  <a:srgbClr val="2C3E50">
                    <a:alpha val="80000"/>
                  </a:srgbClr>
                </a:solidFill>
                <a:latin typeface="Quattrocento Sans" pitchFamily="34" charset="0"/>
                <a:ea typeface="Quattrocento Sans" pitchFamily="34" charset="-122"/>
                <a:cs typeface="Quattrocento Sans" pitchFamily="34" charset="-120"/>
              </a:rPr>
              <a:t>Personalized campaigns, demographic targeting, premium services</a:t>
            </a:r>
            <a:endParaRPr lang="en-US" sz="1600" dirty="0"/>
          </a:p>
        </p:txBody>
      </p:sp>
      <p:sp>
        <p:nvSpPr>
          <p:cNvPr id="51" name="Shape 49"/>
          <p:cNvSpPr/>
          <p:nvPr/>
        </p:nvSpPr>
        <p:spPr>
          <a:xfrm>
            <a:off x="8127931" y="3325362"/>
            <a:ext cx="3735457" cy="3346174"/>
          </a:xfrm>
          <a:custGeom>
            <a:avLst/>
            <a:gdLst/>
            <a:ahLst/>
            <a:cxnLst/>
            <a:rect l="l" t="t" r="r" b="b"/>
            <a:pathLst>
              <a:path w="3735457" h="3346174">
                <a:moveTo>
                  <a:pt x="99381" y="0"/>
                </a:moveTo>
                <a:lnTo>
                  <a:pt x="3636075" y="0"/>
                </a:lnTo>
                <a:cubicBezTo>
                  <a:pt x="3690962" y="0"/>
                  <a:pt x="3735457" y="44495"/>
                  <a:pt x="3735457" y="99381"/>
                </a:cubicBezTo>
                <a:lnTo>
                  <a:pt x="3735457" y="3246793"/>
                </a:lnTo>
                <a:cubicBezTo>
                  <a:pt x="3735457" y="3301679"/>
                  <a:pt x="3690962" y="3346174"/>
                  <a:pt x="3636075" y="3346174"/>
                </a:cubicBezTo>
                <a:lnTo>
                  <a:pt x="99381" y="3346174"/>
                </a:lnTo>
                <a:cubicBezTo>
                  <a:pt x="44495" y="3346174"/>
                  <a:pt x="0" y="3301679"/>
                  <a:pt x="0" y="3246793"/>
                </a:cubicBezTo>
                <a:lnTo>
                  <a:pt x="0" y="99381"/>
                </a:lnTo>
                <a:cubicBezTo>
                  <a:pt x="0" y="44531"/>
                  <a:pt x="44531" y="0"/>
                  <a:pt x="99381" y="0"/>
                </a:cubicBezTo>
                <a:close/>
              </a:path>
            </a:pathLst>
          </a:custGeom>
          <a:gradFill rotWithShape="1" flip="none">
            <a:gsLst>
              <a:gs pos="0">
                <a:srgbClr val="2E5A4C"/>
              </a:gs>
              <a:gs pos="100000">
                <a:srgbClr val="C75B39"/>
              </a:gs>
            </a:gsLst>
            <a:lin ang="2700000" scaled="1"/>
          </a:gradFill>
          <a:ln/>
          <a:effectLst>
            <a:outerShdw sx="100000" sy="100000" kx="0" ky="0" algn="bl" rotWithShape="0" blurRad="124239" dist="82826" dir="5400000">
              <a:srgbClr val="000000">
                <a:alpha val="10196"/>
              </a:srgbClr>
            </a:outerShdw>
          </a:effectLst>
        </p:spPr>
      </p:sp>
      <p:sp>
        <p:nvSpPr>
          <p:cNvPr id="52" name="Shape 50"/>
          <p:cNvSpPr/>
          <p:nvPr/>
        </p:nvSpPr>
        <p:spPr>
          <a:xfrm>
            <a:off x="9795427" y="3491014"/>
            <a:ext cx="397565" cy="397565"/>
          </a:xfrm>
          <a:custGeom>
            <a:avLst/>
            <a:gdLst/>
            <a:ahLst/>
            <a:cxnLst/>
            <a:rect l="l" t="t" r="r" b="b"/>
            <a:pathLst>
              <a:path w="397565" h="397565">
                <a:moveTo>
                  <a:pt x="99391" y="248478"/>
                </a:moveTo>
                <a:lnTo>
                  <a:pt x="19024" y="248478"/>
                </a:lnTo>
                <a:cubicBezTo>
                  <a:pt x="-311" y="248478"/>
                  <a:pt x="-12191" y="227435"/>
                  <a:pt x="-2252" y="210818"/>
                </a:cubicBezTo>
                <a:lnTo>
                  <a:pt x="38825" y="142331"/>
                </a:lnTo>
                <a:cubicBezTo>
                  <a:pt x="45580" y="131072"/>
                  <a:pt x="57694" y="124239"/>
                  <a:pt x="70816" y="124239"/>
                </a:cubicBezTo>
                <a:lnTo>
                  <a:pt x="144583" y="124239"/>
                </a:lnTo>
                <a:cubicBezTo>
                  <a:pt x="203675" y="24149"/>
                  <a:pt x="291807" y="19102"/>
                  <a:pt x="350743" y="27721"/>
                </a:cubicBezTo>
                <a:cubicBezTo>
                  <a:pt x="360682" y="29196"/>
                  <a:pt x="368447" y="36961"/>
                  <a:pt x="369844" y="46823"/>
                </a:cubicBezTo>
                <a:cubicBezTo>
                  <a:pt x="378463" y="105759"/>
                  <a:pt x="373416" y="193891"/>
                  <a:pt x="273326" y="252982"/>
                </a:cubicBezTo>
                <a:lnTo>
                  <a:pt x="273326" y="326749"/>
                </a:lnTo>
                <a:cubicBezTo>
                  <a:pt x="273326" y="339872"/>
                  <a:pt x="266493" y="351985"/>
                  <a:pt x="255234" y="358740"/>
                </a:cubicBezTo>
                <a:lnTo>
                  <a:pt x="186747" y="399817"/>
                </a:lnTo>
                <a:cubicBezTo>
                  <a:pt x="170208" y="409756"/>
                  <a:pt x="149087" y="397798"/>
                  <a:pt x="149087" y="378541"/>
                </a:cubicBezTo>
                <a:lnTo>
                  <a:pt x="149087" y="298174"/>
                </a:lnTo>
                <a:cubicBezTo>
                  <a:pt x="149087" y="270764"/>
                  <a:pt x="126802" y="248478"/>
                  <a:pt x="99391" y="248478"/>
                </a:cubicBezTo>
                <a:lnTo>
                  <a:pt x="99314" y="248478"/>
                </a:lnTo>
                <a:close/>
                <a:moveTo>
                  <a:pt x="310598" y="124239"/>
                </a:moveTo>
                <a:cubicBezTo>
                  <a:pt x="310598" y="103668"/>
                  <a:pt x="293897" y="86967"/>
                  <a:pt x="273326" y="86967"/>
                </a:cubicBezTo>
                <a:cubicBezTo>
                  <a:pt x="252755" y="86967"/>
                  <a:pt x="236054" y="103668"/>
                  <a:pt x="236054" y="124239"/>
                </a:cubicBezTo>
                <a:cubicBezTo>
                  <a:pt x="236054" y="144810"/>
                  <a:pt x="252755" y="161511"/>
                  <a:pt x="273326" y="161511"/>
                </a:cubicBezTo>
                <a:cubicBezTo>
                  <a:pt x="293897" y="161511"/>
                  <a:pt x="310598" y="144810"/>
                  <a:pt x="310598" y="124239"/>
                </a:cubicBezTo>
                <a:close/>
              </a:path>
            </a:pathLst>
          </a:custGeom>
          <a:solidFill>
            <a:srgbClr val="D4A574"/>
          </a:solidFill>
          <a:ln/>
        </p:spPr>
      </p:sp>
      <p:sp>
        <p:nvSpPr>
          <p:cNvPr id="53" name="Text 51"/>
          <p:cNvSpPr/>
          <p:nvPr/>
        </p:nvSpPr>
        <p:spPr>
          <a:xfrm>
            <a:off x="8243888" y="4021101"/>
            <a:ext cx="3503543" cy="265043"/>
          </a:xfrm>
          <a:prstGeom prst="rect">
            <a:avLst/>
          </a:prstGeom>
          <a:noFill/>
          <a:ln/>
        </p:spPr>
        <p:txBody>
          <a:bodyPr wrap="square" lIns="0" tIns="0" rIns="0" bIns="0" rtlCol="0" anchor="ctr"/>
          <a:lstStyle/>
          <a:p>
            <a:pPr algn="ctr">
              <a:lnSpc>
                <a:spcPct val="110000"/>
              </a:lnSpc>
            </a:pPr>
            <a:r>
              <a:rPr lang="en-US" sz="1565" b="1" dirty="0">
                <a:solidFill>
                  <a:srgbClr val="FFFFFF"/>
                </a:solidFill>
                <a:latin typeface="Oranienbaum" pitchFamily="34" charset="0"/>
                <a:ea typeface="Oranienbaum" pitchFamily="34" charset="-122"/>
                <a:cs typeface="Oranienbaum" pitchFamily="34" charset="-120"/>
              </a:rPr>
              <a:t>Expected Impact</a:t>
            </a:r>
            <a:endParaRPr lang="en-US" sz="1600" dirty="0"/>
          </a:p>
        </p:txBody>
      </p:sp>
      <p:sp>
        <p:nvSpPr>
          <p:cNvPr id="54" name="Shape 52"/>
          <p:cNvSpPr/>
          <p:nvPr/>
        </p:nvSpPr>
        <p:spPr>
          <a:xfrm>
            <a:off x="8293583" y="4385439"/>
            <a:ext cx="3404152" cy="662609"/>
          </a:xfrm>
          <a:custGeom>
            <a:avLst/>
            <a:gdLst/>
            <a:ahLst/>
            <a:cxnLst/>
            <a:rect l="l" t="t" r="r" b="b"/>
            <a:pathLst>
              <a:path w="3404152" h="662609">
                <a:moveTo>
                  <a:pt x="66261" y="0"/>
                </a:moveTo>
                <a:lnTo>
                  <a:pt x="3337891" y="0"/>
                </a:lnTo>
                <a:cubicBezTo>
                  <a:pt x="3374486" y="0"/>
                  <a:pt x="3404152" y="29666"/>
                  <a:pt x="3404152" y="66261"/>
                </a:cubicBezTo>
                <a:lnTo>
                  <a:pt x="3404152" y="596348"/>
                </a:lnTo>
                <a:cubicBezTo>
                  <a:pt x="3404152" y="632943"/>
                  <a:pt x="3374486" y="662609"/>
                  <a:pt x="3337891" y="662609"/>
                </a:cubicBezTo>
                <a:lnTo>
                  <a:pt x="66261" y="662609"/>
                </a:lnTo>
                <a:cubicBezTo>
                  <a:pt x="29666" y="662609"/>
                  <a:pt x="0" y="632943"/>
                  <a:pt x="0" y="596348"/>
                </a:cubicBezTo>
                <a:lnTo>
                  <a:pt x="0" y="66261"/>
                </a:lnTo>
                <a:cubicBezTo>
                  <a:pt x="0" y="29666"/>
                  <a:pt x="29666" y="0"/>
                  <a:pt x="66261" y="0"/>
                </a:cubicBezTo>
                <a:close/>
              </a:path>
            </a:pathLst>
          </a:custGeom>
          <a:solidFill>
            <a:srgbClr val="FFFFFF">
              <a:alpha val="10196"/>
            </a:srgbClr>
          </a:solidFill>
          <a:ln/>
        </p:spPr>
      </p:sp>
      <p:sp>
        <p:nvSpPr>
          <p:cNvPr id="55" name="Text 53"/>
          <p:cNvSpPr/>
          <p:nvPr/>
        </p:nvSpPr>
        <p:spPr>
          <a:xfrm>
            <a:off x="8330855" y="4484830"/>
            <a:ext cx="3329609" cy="298174"/>
          </a:xfrm>
          <a:prstGeom prst="rect">
            <a:avLst/>
          </a:prstGeom>
          <a:noFill/>
          <a:ln/>
        </p:spPr>
        <p:txBody>
          <a:bodyPr wrap="square" lIns="0" tIns="0" rIns="0" bIns="0" rtlCol="0" anchor="ctr"/>
          <a:lstStyle/>
          <a:p>
            <a:pPr algn="ctr">
              <a:lnSpc>
                <a:spcPct val="100000"/>
              </a:lnSpc>
            </a:pPr>
            <a:r>
              <a:rPr lang="en-US" sz="1957" b="1" dirty="0">
                <a:solidFill>
                  <a:srgbClr val="D4A574"/>
                </a:solidFill>
                <a:latin typeface="Oranienbaum" pitchFamily="34" charset="0"/>
                <a:ea typeface="Oranienbaum" pitchFamily="34" charset="-122"/>
                <a:cs typeface="Oranienbaum" pitchFamily="34" charset="-120"/>
              </a:rPr>
              <a:t>25-30%</a:t>
            </a:r>
            <a:endParaRPr lang="en-US" sz="1600" dirty="0"/>
          </a:p>
        </p:txBody>
      </p:sp>
      <p:sp>
        <p:nvSpPr>
          <p:cNvPr id="56" name="Text 54"/>
          <p:cNvSpPr/>
          <p:nvPr/>
        </p:nvSpPr>
        <p:spPr>
          <a:xfrm>
            <a:off x="8363985" y="4783004"/>
            <a:ext cx="3263348" cy="165652"/>
          </a:xfrm>
          <a:prstGeom prst="rect">
            <a:avLst/>
          </a:prstGeom>
          <a:noFill/>
          <a:ln/>
        </p:spPr>
        <p:txBody>
          <a:bodyPr wrap="square" lIns="0" tIns="0" rIns="0" bIns="0" rtlCol="0" anchor="ctr"/>
          <a:lstStyle/>
          <a:p>
            <a:pPr algn="ctr">
              <a:lnSpc>
                <a:spcPct val="120000"/>
              </a:lnSpc>
            </a:pPr>
            <a:r>
              <a:rPr lang="en-US" sz="913" dirty="0">
                <a:solidFill>
                  <a:srgbClr val="FFFFFF"/>
                </a:solidFill>
                <a:latin typeface="Quattrocento Sans" pitchFamily="34" charset="0"/>
                <a:ea typeface="Quattrocento Sans" pitchFamily="34" charset="-122"/>
                <a:cs typeface="Quattrocento Sans" pitchFamily="34" charset="-120"/>
              </a:rPr>
              <a:t>Revenue Growth</a:t>
            </a:r>
            <a:endParaRPr lang="en-US" sz="1600" dirty="0"/>
          </a:p>
        </p:txBody>
      </p:sp>
      <p:sp>
        <p:nvSpPr>
          <p:cNvPr id="57" name="Shape 55"/>
          <p:cNvSpPr/>
          <p:nvPr/>
        </p:nvSpPr>
        <p:spPr>
          <a:xfrm>
            <a:off x="8293583" y="5114309"/>
            <a:ext cx="3404152" cy="662609"/>
          </a:xfrm>
          <a:custGeom>
            <a:avLst/>
            <a:gdLst/>
            <a:ahLst/>
            <a:cxnLst/>
            <a:rect l="l" t="t" r="r" b="b"/>
            <a:pathLst>
              <a:path w="3404152" h="662609">
                <a:moveTo>
                  <a:pt x="66261" y="0"/>
                </a:moveTo>
                <a:lnTo>
                  <a:pt x="3337891" y="0"/>
                </a:lnTo>
                <a:cubicBezTo>
                  <a:pt x="3374486" y="0"/>
                  <a:pt x="3404152" y="29666"/>
                  <a:pt x="3404152" y="66261"/>
                </a:cubicBezTo>
                <a:lnTo>
                  <a:pt x="3404152" y="596348"/>
                </a:lnTo>
                <a:cubicBezTo>
                  <a:pt x="3404152" y="632943"/>
                  <a:pt x="3374486" y="662609"/>
                  <a:pt x="3337891" y="662609"/>
                </a:cubicBezTo>
                <a:lnTo>
                  <a:pt x="66261" y="662609"/>
                </a:lnTo>
                <a:cubicBezTo>
                  <a:pt x="29666" y="662609"/>
                  <a:pt x="0" y="632943"/>
                  <a:pt x="0" y="596348"/>
                </a:cubicBezTo>
                <a:lnTo>
                  <a:pt x="0" y="66261"/>
                </a:lnTo>
                <a:cubicBezTo>
                  <a:pt x="0" y="29666"/>
                  <a:pt x="29666" y="0"/>
                  <a:pt x="66261" y="0"/>
                </a:cubicBezTo>
                <a:close/>
              </a:path>
            </a:pathLst>
          </a:custGeom>
          <a:solidFill>
            <a:srgbClr val="FFFFFF">
              <a:alpha val="10196"/>
            </a:srgbClr>
          </a:solidFill>
          <a:ln/>
        </p:spPr>
      </p:sp>
      <p:sp>
        <p:nvSpPr>
          <p:cNvPr id="58" name="Text 56"/>
          <p:cNvSpPr/>
          <p:nvPr/>
        </p:nvSpPr>
        <p:spPr>
          <a:xfrm>
            <a:off x="8330855" y="5213700"/>
            <a:ext cx="3329609" cy="298174"/>
          </a:xfrm>
          <a:prstGeom prst="rect">
            <a:avLst/>
          </a:prstGeom>
          <a:noFill/>
          <a:ln/>
        </p:spPr>
        <p:txBody>
          <a:bodyPr wrap="square" lIns="0" tIns="0" rIns="0" bIns="0" rtlCol="0" anchor="ctr"/>
          <a:lstStyle/>
          <a:p>
            <a:pPr algn="ctr">
              <a:lnSpc>
                <a:spcPct val="100000"/>
              </a:lnSpc>
            </a:pPr>
            <a:r>
              <a:rPr lang="en-US" sz="1957" b="1" dirty="0">
                <a:solidFill>
                  <a:srgbClr val="D4A574"/>
                </a:solidFill>
                <a:latin typeface="Oranienbaum" pitchFamily="34" charset="0"/>
                <a:ea typeface="Oranienbaum" pitchFamily="34" charset="-122"/>
                <a:cs typeface="Oranienbaum" pitchFamily="34" charset="-120"/>
              </a:rPr>
              <a:t>40%</a:t>
            </a:r>
            <a:endParaRPr lang="en-US" sz="1600" dirty="0"/>
          </a:p>
        </p:txBody>
      </p:sp>
      <p:sp>
        <p:nvSpPr>
          <p:cNvPr id="59" name="Text 57"/>
          <p:cNvSpPr/>
          <p:nvPr/>
        </p:nvSpPr>
        <p:spPr>
          <a:xfrm>
            <a:off x="8363985" y="5511874"/>
            <a:ext cx="3263348" cy="165652"/>
          </a:xfrm>
          <a:prstGeom prst="rect">
            <a:avLst/>
          </a:prstGeom>
          <a:noFill/>
          <a:ln/>
        </p:spPr>
        <p:txBody>
          <a:bodyPr wrap="square" lIns="0" tIns="0" rIns="0" bIns="0" rtlCol="0" anchor="ctr"/>
          <a:lstStyle/>
          <a:p>
            <a:pPr algn="ctr">
              <a:lnSpc>
                <a:spcPct val="120000"/>
              </a:lnSpc>
            </a:pPr>
            <a:r>
              <a:rPr lang="en-US" sz="913" dirty="0">
                <a:solidFill>
                  <a:srgbClr val="FFFFFF"/>
                </a:solidFill>
                <a:latin typeface="Quattrocento Sans" pitchFamily="34" charset="0"/>
                <a:ea typeface="Quattrocento Sans" pitchFamily="34" charset="-122"/>
                <a:cs typeface="Quattrocento Sans" pitchFamily="34" charset="-120"/>
              </a:rPr>
              <a:t>Customer Retention</a:t>
            </a:r>
            <a:endParaRPr lang="en-US" sz="1600" dirty="0"/>
          </a:p>
        </p:txBody>
      </p:sp>
      <p:sp>
        <p:nvSpPr>
          <p:cNvPr id="60" name="Shape 58"/>
          <p:cNvSpPr/>
          <p:nvPr/>
        </p:nvSpPr>
        <p:spPr>
          <a:xfrm>
            <a:off x="8293583" y="5843178"/>
            <a:ext cx="3404152" cy="662609"/>
          </a:xfrm>
          <a:custGeom>
            <a:avLst/>
            <a:gdLst/>
            <a:ahLst/>
            <a:cxnLst/>
            <a:rect l="l" t="t" r="r" b="b"/>
            <a:pathLst>
              <a:path w="3404152" h="662609">
                <a:moveTo>
                  <a:pt x="66261" y="0"/>
                </a:moveTo>
                <a:lnTo>
                  <a:pt x="3337891" y="0"/>
                </a:lnTo>
                <a:cubicBezTo>
                  <a:pt x="3374486" y="0"/>
                  <a:pt x="3404152" y="29666"/>
                  <a:pt x="3404152" y="66261"/>
                </a:cubicBezTo>
                <a:lnTo>
                  <a:pt x="3404152" y="596348"/>
                </a:lnTo>
                <a:cubicBezTo>
                  <a:pt x="3404152" y="632943"/>
                  <a:pt x="3374486" y="662609"/>
                  <a:pt x="3337891" y="662609"/>
                </a:cubicBezTo>
                <a:lnTo>
                  <a:pt x="66261" y="662609"/>
                </a:lnTo>
                <a:cubicBezTo>
                  <a:pt x="29666" y="662609"/>
                  <a:pt x="0" y="632943"/>
                  <a:pt x="0" y="596348"/>
                </a:cubicBezTo>
                <a:lnTo>
                  <a:pt x="0" y="66261"/>
                </a:lnTo>
                <a:cubicBezTo>
                  <a:pt x="0" y="29666"/>
                  <a:pt x="29666" y="0"/>
                  <a:pt x="66261" y="0"/>
                </a:cubicBezTo>
                <a:close/>
              </a:path>
            </a:pathLst>
          </a:custGeom>
          <a:solidFill>
            <a:srgbClr val="FFFFFF">
              <a:alpha val="10196"/>
            </a:srgbClr>
          </a:solidFill>
          <a:ln/>
        </p:spPr>
      </p:sp>
      <p:sp>
        <p:nvSpPr>
          <p:cNvPr id="61" name="Text 59"/>
          <p:cNvSpPr/>
          <p:nvPr/>
        </p:nvSpPr>
        <p:spPr>
          <a:xfrm>
            <a:off x="8330855" y="5942570"/>
            <a:ext cx="3329609" cy="298174"/>
          </a:xfrm>
          <a:prstGeom prst="rect">
            <a:avLst/>
          </a:prstGeom>
          <a:noFill/>
          <a:ln/>
        </p:spPr>
        <p:txBody>
          <a:bodyPr wrap="square" lIns="0" tIns="0" rIns="0" bIns="0" rtlCol="0" anchor="ctr"/>
          <a:lstStyle/>
          <a:p>
            <a:pPr algn="ctr">
              <a:lnSpc>
                <a:spcPct val="100000"/>
              </a:lnSpc>
            </a:pPr>
            <a:r>
              <a:rPr lang="en-US" sz="1957" b="1" dirty="0">
                <a:solidFill>
                  <a:srgbClr val="D4A574"/>
                </a:solidFill>
                <a:latin typeface="Oranienbaum" pitchFamily="34" charset="0"/>
                <a:ea typeface="Oranienbaum" pitchFamily="34" charset="-122"/>
                <a:cs typeface="Oranienbaum" pitchFamily="34" charset="-120"/>
              </a:rPr>
              <a:t>35%</a:t>
            </a:r>
            <a:endParaRPr lang="en-US" sz="1600" dirty="0"/>
          </a:p>
        </p:txBody>
      </p:sp>
      <p:sp>
        <p:nvSpPr>
          <p:cNvPr id="62" name="Text 60"/>
          <p:cNvSpPr/>
          <p:nvPr/>
        </p:nvSpPr>
        <p:spPr>
          <a:xfrm>
            <a:off x="8363985" y="6240743"/>
            <a:ext cx="3263348" cy="165652"/>
          </a:xfrm>
          <a:prstGeom prst="rect">
            <a:avLst/>
          </a:prstGeom>
          <a:noFill/>
          <a:ln/>
        </p:spPr>
        <p:txBody>
          <a:bodyPr wrap="square" lIns="0" tIns="0" rIns="0" bIns="0" rtlCol="0" anchor="ctr"/>
          <a:lstStyle/>
          <a:p>
            <a:pPr algn="ctr">
              <a:lnSpc>
                <a:spcPct val="120000"/>
              </a:lnSpc>
            </a:pPr>
            <a:r>
              <a:rPr lang="en-US" sz="913" dirty="0">
                <a:solidFill>
                  <a:srgbClr val="FFFFFF"/>
                </a:solidFill>
                <a:latin typeface="Quattrocento Sans" pitchFamily="34" charset="0"/>
                <a:ea typeface="Quattrocento Sans" pitchFamily="34" charset="-122"/>
                <a:cs typeface="Quattrocento Sans" pitchFamily="34" charset="-120"/>
              </a:rPr>
              <a:t>Subscription Uplift</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5"/>
        </a:solidFill>
      </p:bgPr>
    </p:bg>
    <p:spTree>
      <p:nvGrpSpPr>
        <p:cNvPr id="1" name=""/>
        <p:cNvGrpSpPr/>
        <p:nvPr/>
      </p:nvGrpSpPr>
      <p:grpSpPr>
        <a:xfrm>
          <a:off x="0" y="0"/>
          <a:ext cx="0" cy="0"/>
          <a:chOff x="0" y="0"/>
          <a:chExt cx="0" cy="0"/>
        </a:xfrm>
      </p:grpSpPr>
      <p:pic>
        <p:nvPicPr>
          <p:cNvPr id="2" name="Image 0" descr="https://kimi-web-img.moonshot.cn/img/cdn.prod.website-files.com/739feaa0e4d35145aa71d3589a59a3f4defb0c10.jpg">    </p:cNvPr>
          <p:cNvPicPr>
            <a:picLocks noChangeAspect="1"/>
          </p:cNvPicPr>
          <p:nvPr/>
        </p:nvPicPr>
        <p:blipFill>
          <a:blip r:embed="rId1"/>
          <a:srcRect l="0" r="0" t="7686" b="7686"/>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E5A4C">
                  <a:alpha val="95000"/>
                </a:srgbClr>
              </a:gs>
              <a:gs pos="50000">
                <a:srgbClr val="2E5A4C">
                  <a:alpha val="90000"/>
                </a:srgbClr>
              </a:gs>
              <a:gs pos="100000">
                <a:srgbClr val="C75B39">
                  <a:alpha val="85000"/>
                </a:srgbClr>
              </a:gs>
            </a:gsLst>
            <a:lin ang="2700000" scaled="1"/>
          </a:gradFill>
          <a:ln/>
        </p:spPr>
      </p:sp>
      <p:sp>
        <p:nvSpPr>
          <p:cNvPr id="4" name="Shape 1"/>
          <p:cNvSpPr/>
          <p:nvPr/>
        </p:nvSpPr>
        <p:spPr>
          <a:xfrm>
            <a:off x="5638800" y="289564"/>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D4A574"/>
          </a:solidFill>
          <a:ln/>
        </p:spPr>
      </p:sp>
      <p:sp>
        <p:nvSpPr>
          <p:cNvPr id="5" name="Text 2"/>
          <p:cNvSpPr/>
          <p:nvPr/>
        </p:nvSpPr>
        <p:spPr>
          <a:xfrm>
            <a:off x="2295525" y="556264"/>
            <a:ext cx="7600950" cy="1428750"/>
          </a:xfrm>
          <a:prstGeom prst="rect">
            <a:avLst/>
          </a:prstGeom>
          <a:noFill/>
          <a:ln/>
        </p:spPr>
        <p:txBody>
          <a:bodyPr wrap="square" lIns="0" tIns="0" rIns="0" bIns="0" rtlCol="0" anchor="ctr"/>
          <a:lstStyle/>
          <a:p>
            <a:pPr algn="ctr">
              <a:lnSpc>
                <a:spcPct val="100000"/>
              </a:lnSpc>
            </a:pPr>
            <a:r>
              <a:rPr lang="en-US" sz="4500" b="1" dirty="0">
                <a:solidFill>
                  <a:srgbClr val="F8F7F5"/>
                </a:solidFill>
                <a:latin typeface="Oranienbaum" pitchFamily="34" charset="0"/>
                <a:ea typeface="Oranienbaum" pitchFamily="34" charset="-122"/>
                <a:cs typeface="Oranienbaum" pitchFamily="34" charset="-120"/>
              </a:rPr>
              <a:t>Data-Driven Decisions</a:t>
            </a:r>
            <a:endParaRPr lang="en-US" sz="1600" dirty="0"/>
          </a:p>
          <a:p>
            <a:pPr algn="ctr">
              <a:lnSpc>
                <a:spcPct val="100000"/>
              </a:lnSpc>
            </a:pPr>
            <a:r>
              <a:rPr lang="en-US" sz="4500" b="1" dirty="0">
                <a:solidFill>
                  <a:srgbClr val="D4A574"/>
                </a:solidFill>
                <a:latin typeface="Oranienbaum" pitchFamily="34" charset="0"/>
                <a:ea typeface="Oranienbaum" pitchFamily="34" charset="-122"/>
                <a:cs typeface="Oranienbaum" pitchFamily="34" charset="-120"/>
              </a:rPr>
              <a:t>Measurable Results</a:t>
            </a:r>
            <a:endParaRPr lang="en-US" sz="1600" dirty="0"/>
          </a:p>
        </p:txBody>
      </p:sp>
      <p:sp>
        <p:nvSpPr>
          <p:cNvPr id="6" name="Text 3"/>
          <p:cNvSpPr/>
          <p:nvPr/>
        </p:nvSpPr>
        <p:spPr>
          <a:xfrm>
            <a:off x="2390775" y="2213614"/>
            <a:ext cx="7410450" cy="1238250"/>
          </a:xfrm>
          <a:prstGeom prst="rect">
            <a:avLst/>
          </a:prstGeom>
          <a:noFill/>
          <a:ln/>
        </p:spPr>
        <p:txBody>
          <a:bodyPr wrap="square" lIns="0" tIns="0" rIns="0" bIns="0" rtlCol="0" anchor="ctr"/>
          <a:lstStyle/>
          <a:p>
            <a:pPr algn="ctr">
              <a:lnSpc>
                <a:spcPct val="140000"/>
              </a:lnSpc>
            </a:pPr>
            <a:r>
              <a:rPr lang="en-US" sz="1500" dirty="0">
                <a:solidFill>
                  <a:srgbClr val="F8F7F5">
                    <a:alpha val="90000"/>
                  </a:srgbClr>
                </a:solidFill>
                <a:latin typeface="Quattrocento Sans" pitchFamily="34" charset="0"/>
                <a:ea typeface="Quattrocento Sans" pitchFamily="34" charset="-122"/>
                <a:cs typeface="Quattrocento Sans" pitchFamily="34" charset="-120"/>
              </a:rPr>
              <a:t>This comprehensive analysis transforms raw transaction data into strategic business intelligence. By leveraging Python, SQL, and Power BI, we've uncovered actionable insights that enable personalized marketing, optimized pricing, and enhanced customer experiences.</a:t>
            </a:r>
            <a:endParaRPr lang="en-US" sz="1600" dirty="0"/>
          </a:p>
        </p:txBody>
      </p:sp>
      <p:sp>
        <p:nvSpPr>
          <p:cNvPr id="7" name="Shape 4"/>
          <p:cNvSpPr/>
          <p:nvPr/>
        </p:nvSpPr>
        <p:spPr>
          <a:xfrm>
            <a:off x="1832610" y="3760474"/>
            <a:ext cx="2636520" cy="1645920"/>
          </a:xfrm>
          <a:custGeom>
            <a:avLst/>
            <a:gdLst/>
            <a:ahLst/>
            <a:cxnLst/>
            <a:rect l="l" t="t" r="r" b="b"/>
            <a:pathLst>
              <a:path w="2636520" h="1645920">
                <a:moveTo>
                  <a:pt x="114293" y="0"/>
                </a:moveTo>
                <a:lnTo>
                  <a:pt x="2522227" y="0"/>
                </a:lnTo>
                <a:cubicBezTo>
                  <a:pt x="2585349" y="0"/>
                  <a:pt x="2636520" y="51171"/>
                  <a:pt x="2636520" y="114293"/>
                </a:cubicBezTo>
                <a:lnTo>
                  <a:pt x="2636520" y="1531627"/>
                </a:lnTo>
                <a:cubicBezTo>
                  <a:pt x="2636520" y="1594749"/>
                  <a:pt x="2585349" y="1645920"/>
                  <a:pt x="2522227" y="1645920"/>
                </a:cubicBezTo>
                <a:lnTo>
                  <a:pt x="114293" y="1645920"/>
                </a:lnTo>
                <a:cubicBezTo>
                  <a:pt x="51171" y="1645920"/>
                  <a:pt x="0" y="1594749"/>
                  <a:pt x="0" y="1531627"/>
                </a:cubicBezTo>
                <a:lnTo>
                  <a:pt x="0" y="114293"/>
                </a:lnTo>
                <a:cubicBezTo>
                  <a:pt x="0" y="51171"/>
                  <a:pt x="51171" y="0"/>
                  <a:pt x="114293" y="0"/>
                </a:cubicBezTo>
                <a:close/>
              </a:path>
            </a:pathLst>
          </a:custGeom>
          <a:solidFill>
            <a:srgbClr val="FFFFFF">
              <a:alpha val="10196"/>
            </a:srgbClr>
          </a:solidFill>
          <a:ln w="10160">
            <a:solidFill>
              <a:srgbClr val="FFFFFF">
                <a:alpha val="20000"/>
              </a:srgbClr>
            </a:solidFill>
            <a:prstDash val="solid"/>
          </a:ln>
        </p:spPr>
      </p:sp>
      <p:sp>
        <p:nvSpPr>
          <p:cNvPr id="8" name="Shape 5"/>
          <p:cNvSpPr/>
          <p:nvPr/>
        </p:nvSpPr>
        <p:spPr>
          <a:xfrm>
            <a:off x="2978110" y="3992882"/>
            <a:ext cx="342900" cy="342900"/>
          </a:xfrm>
          <a:custGeom>
            <a:avLst/>
            <a:gdLst/>
            <a:ahLst/>
            <a:cxnLst/>
            <a:rect l="l" t="t" r="r" b="b"/>
            <a:pathLst>
              <a:path w="342900" h="342900">
                <a:moveTo>
                  <a:pt x="42863" y="42863"/>
                </a:moveTo>
                <a:cubicBezTo>
                  <a:pt x="42863" y="31008"/>
                  <a:pt x="33285" y="21431"/>
                  <a:pt x="21431" y="21431"/>
                </a:cubicBezTo>
                <a:cubicBezTo>
                  <a:pt x="9577" y="21431"/>
                  <a:pt x="0" y="31008"/>
                  <a:pt x="0" y="42863"/>
                </a:cubicBezTo>
                <a:lnTo>
                  <a:pt x="0" y="267891"/>
                </a:lnTo>
                <a:cubicBezTo>
                  <a:pt x="0" y="297493"/>
                  <a:pt x="23976" y="321469"/>
                  <a:pt x="53578" y="321469"/>
                </a:cubicBezTo>
                <a:lnTo>
                  <a:pt x="321469" y="321469"/>
                </a:lnTo>
                <a:cubicBezTo>
                  <a:pt x="333323" y="321469"/>
                  <a:pt x="342900" y="311892"/>
                  <a:pt x="342900" y="300038"/>
                </a:cubicBezTo>
                <a:cubicBezTo>
                  <a:pt x="342900" y="288183"/>
                  <a:pt x="333323" y="278606"/>
                  <a:pt x="321469" y="278606"/>
                </a:cubicBezTo>
                <a:lnTo>
                  <a:pt x="53578" y="278606"/>
                </a:lnTo>
                <a:cubicBezTo>
                  <a:pt x="47685" y="278606"/>
                  <a:pt x="42863" y="273784"/>
                  <a:pt x="42863" y="267891"/>
                </a:cubicBezTo>
                <a:lnTo>
                  <a:pt x="42863" y="42863"/>
                </a:lnTo>
                <a:close/>
                <a:moveTo>
                  <a:pt x="315173" y="100861"/>
                </a:moveTo>
                <a:cubicBezTo>
                  <a:pt x="323545" y="92489"/>
                  <a:pt x="323545" y="78894"/>
                  <a:pt x="315173" y="70522"/>
                </a:cubicBezTo>
                <a:cubicBezTo>
                  <a:pt x="306802" y="62151"/>
                  <a:pt x="293206" y="62151"/>
                  <a:pt x="284835" y="70522"/>
                </a:cubicBezTo>
                <a:lnTo>
                  <a:pt x="214313" y="141111"/>
                </a:lnTo>
                <a:lnTo>
                  <a:pt x="175870" y="102736"/>
                </a:lnTo>
                <a:cubicBezTo>
                  <a:pt x="167499" y="94364"/>
                  <a:pt x="153903" y="94364"/>
                  <a:pt x="145532" y="102736"/>
                </a:cubicBezTo>
                <a:lnTo>
                  <a:pt x="81238" y="167030"/>
                </a:lnTo>
                <a:cubicBezTo>
                  <a:pt x="72866" y="175401"/>
                  <a:pt x="72866" y="188997"/>
                  <a:pt x="81238" y="197368"/>
                </a:cubicBezTo>
                <a:cubicBezTo>
                  <a:pt x="89609" y="205740"/>
                  <a:pt x="103205" y="205740"/>
                  <a:pt x="111576" y="197368"/>
                </a:cubicBezTo>
                <a:lnTo>
                  <a:pt x="160734" y="148210"/>
                </a:lnTo>
                <a:lnTo>
                  <a:pt x="199177" y="186653"/>
                </a:lnTo>
                <a:cubicBezTo>
                  <a:pt x="207548" y="195024"/>
                  <a:pt x="221144" y="195024"/>
                  <a:pt x="229515" y="186653"/>
                </a:cubicBezTo>
                <a:lnTo>
                  <a:pt x="315240" y="100928"/>
                </a:lnTo>
                <a:close/>
              </a:path>
            </a:pathLst>
          </a:custGeom>
          <a:solidFill>
            <a:srgbClr val="D4A574"/>
          </a:solidFill>
          <a:ln/>
        </p:spPr>
      </p:sp>
      <p:sp>
        <p:nvSpPr>
          <p:cNvPr id="9" name="Text 6"/>
          <p:cNvSpPr/>
          <p:nvPr/>
        </p:nvSpPr>
        <p:spPr>
          <a:xfrm>
            <a:off x="2022158" y="4450082"/>
            <a:ext cx="2257425" cy="2667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Liter" pitchFamily="34" charset="0"/>
                <a:ea typeface="Liter" pitchFamily="34" charset="-122"/>
                <a:cs typeface="Liter" pitchFamily="34" charset="-120"/>
              </a:rPr>
              <a:t>Data-Driven</a:t>
            </a:r>
            <a:endParaRPr lang="en-US" sz="1600" dirty="0"/>
          </a:p>
        </p:txBody>
      </p:sp>
      <p:sp>
        <p:nvSpPr>
          <p:cNvPr id="10" name="Text 7"/>
          <p:cNvSpPr/>
          <p:nvPr/>
        </p:nvSpPr>
        <p:spPr>
          <a:xfrm>
            <a:off x="2031683" y="4792982"/>
            <a:ext cx="2238375" cy="381000"/>
          </a:xfrm>
          <a:prstGeom prst="rect">
            <a:avLst/>
          </a:prstGeom>
          <a:noFill/>
          <a:ln/>
        </p:spPr>
        <p:txBody>
          <a:bodyPr wrap="square" lIns="0" tIns="0" rIns="0" bIns="0" rtlCol="0" anchor="ctr"/>
          <a:lstStyle/>
          <a:p>
            <a:pPr algn="ct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3,900 transactions analyzed across 18 dimensions</a:t>
            </a:r>
            <a:endParaRPr lang="en-US" sz="1600" dirty="0"/>
          </a:p>
        </p:txBody>
      </p:sp>
      <p:sp>
        <p:nvSpPr>
          <p:cNvPr id="11" name="Shape 8"/>
          <p:cNvSpPr/>
          <p:nvPr/>
        </p:nvSpPr>
        <p:spPr>
          <a:xfrm>
            <a:off x="4778931" y="3760474"/>
            <a:ext cx="2636520" cy="1645920"/>
          </a:xfrm>
          <a:custGeom>
            <a:avLst/>
            <a:gdLst/>
            <a:ahLst/>
            <a:cxnLst/>
            <a:rect l="l" t="t" r="r" b="b"/>
            <a:pathLst>
              <a:path w="2636520" h="1645920">
                <a:moveTo>
                  <a:pt x="114293" y="0"/>
                </a:moveTo>
                <a:lnTo>
                  <a:pt x="2522227" y="0"/>
                </a:lnTo>
                <a:cubicBezTo>
                  <a:pt x="2585349" y="0"/>
                  <a:pt x="2636520" y="51171"/>
                  <a:pt x="2636520" y="114293"/>
                </a:cubicBezTo>
                <a:lnTo>
                  <a:pt x="2636520" y="1531627"/>
                </a:lnTo>
                <a:cubicBezTo>
                  <a:pt x="2636520" y="1594749"/>
                  <a:pt x="2585349" y="1645920"/>
                  <a:pt x="2522227" y="1645920"/>
                </a:cubicBezTo>
                <a:lnTo>
                  <a:pt x="114293" y="1645920"/>
                </a:lnTo>
                <a:cubicBezTo>
                  <a:pt x="51171" y="1645920"/>
                  <a:pt x="0" y="1594749"/>
                  <a:pt x="0" y="1531627"/>
                </a:cubicBezTo>
                <a:lnTo>
                  <a:pt x="0" y="114293"/>
                </a:lnTo>
                <a:cubicBezTo>
                  <a:pt x="0" y="51171"/>
                  <a:pt x="51171" y="0"/>
                  <a:pt x="114293" y="0"/>
                </a:cubicBezTo>
                <a:close/>
              </a:path>
            </a:pathLst>
          </a:custGeom>
          <a:solidFill>
            <a:srgbClr val="FFFFFF">
              <a:alpha val="10196"/>
            </a:srgbClr>
          </a:solidFill>
          <a:ln w="10160">
            <a:solidFill>
              <a:srgbClr val="FFFFFF">
                <a:alpha val="20000"/>
              </a:srgbClr>
            </a:solidFill>
            <a:prstDash val="solid"/>
          </a:ln>
        </p:spPr>
      </p:sp>
      <p:sp>
        <p:nvSpPr>
          <p:cNvPr id="12" name="Shape 9"/>
          <p:cNvSpPr/>
          <p:nvPr/>
        </p:nvSpPr>
        <p:spPr>
          <a:xfrm>
            <a:off x="5967293" y="3992882"/>
            <a:ext cx="257175" cy="342900"/>
          </a:xfrm>
          <a:custGeom>
            <a:avLst/>
            <a:gdLst/>
            <a:ahLst/>
            <a:cxnLst/>
            <a:rect l="l" t="t" r="r" b="b"/>
            <a:pathLst>
              <a:path w="257175" h="342900">
                <a:moveTo>
                  <a:pt x="196163" y="257175"/>
                </a:moveTo>
                <a:cubicBezTo>
                  <a:pt x="201052" y="242240"/>
                  <a:pt x="210830" y="228712"/>
                  <a:pt x="221880" y="217058"/>
                </a:cubicBezTo>
                <a:cubicBezTo>
                  <a:pt x="243780" y="194020"/>
                  <a:pt x="257175" y="162878"/>
                  <a:pt x="257175" y="128588"/>
                </a:cubicBezTo>
                <a:cubicBezTo>
                  <a:pt x="257175" y="57596"/>
                  <a:pt x="199579" y="0"/>
                  <a:pt x="128587" y="0"/>
                </a:cubicBezTo>
                <a:cubicBezTo>
                  <a:pt x="57596" y="0"/>
                  <a:pt x="0" y="57596"/>
                  <a:pt x="0" y="128588"/>
                </a:cubicBezTo>
                <a:cubicBezTo>
                  <a:pt x="0" y="162878"/>
                  <a:pt x="13395" y="194020"/>
                  <a:pt x="35295" y="217058"/>
                </a:cubicBezTo>
                <a:cubicBezTo>
                  <a:pt x="46345" y="228712"/>
                  <a:pt x="56190" y="242240"/>
                  <a:pt x="61012" y="257175"/>
                </a:cubicBezTo>
                <a:lnTo>
                  <a:pt x="196096" y="257175"/>
                </a:lnTo>
                <a:close/>
                <a:moveTo>
                  <a:pt x="192881" y="289322"/>
                </a:moveTo>
                <a:lnTo>
                  <a:pt x="64294" y="289322"/>
                </a:lnTo>
                <a:lnTo>
                  <a:pt x="64294" y="300038"/>
                </a:lnTo>
                <a:cubicBezTo>
                  <a:pt x="64294" y="329639"/>
                  <a:pt x="88270" y="353616"/>
                  <a:pt x="117872" y="353616"/>
                </a:cubicBezTo>
                <a:lnTo>
                  <a:pt x="139303" y="353616"/>
                </a:lnTo>
                <a:cubicBezTo>
                  <a:pt x="168905" y="353616"/>
                  <a:pt x="192881" y="329639"/>
                  <a:pt x="192881" y="300038"/>
                </a:cubicBezTo>
                <a:lnTo>
                  <a:pt x="192881" y="289322"/>
                </a:lnTo>
                <a:close/>
                <a:moveTo>
                  <a:pt x="123230" y="75009"/>
                </a:moveTo>
                <a:cubicBezTo>
                  <a:pt x="96575" y="75009"/>
                  <a:pt x="75009" y="96575"/>
                  <a:pt x="75009" y="123230"/>
                </a:cubicBezTo>
                <a:cubicBezTo>
                  <a:pt x="75009" y="132137"/>
                  <a:pt x="67843" y="139303"/>
                  <a:pt x="58936" y="139303"/>
                </a:cubicBezTo>
                <a:cubicBezTo>
                  <a:pt x="50029" y="139303"/>
                  <a:pt x="42863" y="132137"/>
                  <a:pt x="42863" y="123230"/>
                </a:cubicBezTo>
                <a:cubicBezTo>
                  <a:pt x="42863" y="78827"/>
                  <a:pt x="78827" y="42863"/>
                  <a:pt x="123230" y="42863"/>
                </a:cubicBezTo>
                <a:cubicBezTo>
                  <a:pt x="132137" y="42863"/>
                  <a:pt x="139303" y="50029"/>
                  <a:pt x="139303" y="58936"/>
                </a:cubicBezTo>
                <a:cubicBezTo>
                  <a:pt x="139303" y="67843"/>
                  <a:pt x="132137" y="75009"/>
                  <a:pt x="123230" y="75009"/>
                </a:cubicBezTo>
                <a:close/>
              </a:path>
            </a:pathLst>
          </a:custGeom>
          <a:solidFill>
            <a:srgbClr val="D4A574"/>
          </a:solidFill>
          <a:ln/>
        </p:spPr>
      </p:sp>
      <p:sp>
        <p:nvSpPr>
          <p:cNvPr id="13" name="Text 10"/>
          <p:cNvSpPr/>
          <p:nvPr/>
        </p:nvSpPr>
        <p:spPr>
          <a:xfrm>
            <a:off x="4968478" y="4450082"/>
            <a:ext cx="2257425" cy="2667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Liter" pitchFamily="34" charset="0"/>
                <a:ea typeface="Liter" pitchFamily="34" charset="-122"/>
                <a:cs typeface="Liter" pitchFamily="34" charset="-120"/>
              </a:rPr>
              <a:t>Actionable</a:t>
            </a:r>
            <a:endParaRPr lang="en-US" sz="1600" dirty="0"/>
          </a:p>
        </p:txBody>
      </p:sp>
      <p:sp>
        <p:nvSpPr>
          <p:cNvPr id="14" name="Text 11"/>
          <p:cNvSpPr/>
          <p:nvPr/>
        </p:nvSpPr>
        <p:spPr>
          <a:xfrm>
            <a:off x="4978003" y="4792982"/>
            <a:ext cx="2238375" cy="381000"/>
          </a:xfrm>
          <a:prstGeom prst="rect">
            <a:avLst/>
          </a:prstGeom>
          <a:noFill/>
          <a:ln/>
        </p:spPr>
        <p:txBody>
          <a:bodyPr wrap="square" lIns="0" tIns="0" rIns="0" bIns="0" rtlCol="0" anchor="ctr"/>
          <a:lstStyle/>
          <a:p>
            <a:pPr algn="ct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5 strategic pillars for sustainable growth</a:t>
            </a:r>
            <a:endParaRPr lang="en-US" sz="1600" dirty="0"/>
          </a:p>
        </p:txBody>
      </p:sp>
      <p:sp>
        <p:nvSpPr>
          <p:cNvPr id="15" name="Shape 12"/>
          <p:cNvSpPr/>
          <p:nvPr/>
        </p:nvSpPr>
        <p:spPr>
          <a:xfrm>
            <a:off x="7725371" y="3760474"/>
            <a:ext cx="2636520" cy="1645920"/>
          </a:xfrm>
          <a:custGeom>
            <a:avLst/>
            <a:gdLst/>
            <a:ahLst/>
            <a:cxnLst/>
            <a:rect l="l" t="t" r="r" b="b"/>
            <a:pathLst>
              <a:path w="2636520" h="1645920">
                <a:moveTo>
                  <a:pt x="114293" y="0"/>
                </a:moveTo>
                <a:lnTo>
                  <a:pt x="2522227" y="0"/>
                </a:lnTo>
                <a:cubicBezTo>
                  <a:pt x="2585349" y="0"/>
                  <a:pt x="2636520" y="51171"/>
                  <a:pt x="2636520" y="114293"/>
                </a:cubicBezTo>
                <a:lnTo>
                  <a:pt x="2636520" y="1531627"/>
                </a:lnTo>
                <a:cubicBezTo>
                  <a:pt x="2636520" y="1594749"/>
                  <a:pt x="2585349" y="1645920"/>
                  <a:pt x="2522227" y="1645920"/>
                </a:cubicBezTo>
                <a:lnTo>
                  <a:pt x="114293" y="1645920"/>
                </a:lnTo>
                <a:cubicBezTo>
                  <a:pt x="51171" y="1645920"/>
                  <a:pt x="0" y="1594749"/>
                  <a:pt x="0" y="1531627"/>
                </a:cubicBezTo>
                <a:lnTo>
                  <a:pt x="0" y="114293"/>
                </a:lnTo>
                <a:cubicBezTo>
                  <a:pt x="0" y="51171"/>
                  <a:pt x="51171" y="0"/>
                  <a:pt x="114293" y="0"/>
                </a:cubicBezTo>
                <a:close/>
              </a:path>
            </a:pathLst>
          </a:custGeom>
          <a:solidFill>
            <a:srgbClr val="FFFFFF">
              <a:alpha val="10196"/>
            </a:srgbClr>
          </a:solidFill>
          <a:ln w="10160">
            <a:solidFill>
              <a:srgbClr val="FFFFFF">
                <a:alpha val="20000"/>
              </a:srgbClr>
            </a:solidFill>
            <a:prstDash val="solid"/>
          </a:ln>
        </p:spPr>
      </p:sp>
      <p:sp>
        <p:nvSpPr>
          <p:cNvPr id="16" name="Shape 13"/>
          <p:cNvSpPr/>
          <p:nvPr/>
        </p:nvSpPr>
        <p:spPr>
          <a:xfrm>
            <a:off x="8870871" y="3992882"/>
            <a:ext cx="342900" cy="342900"/>
          </a:xfrm>
          <a:custGeom>
            <a:avLst/>
            <a:gdLst/>
            <a:ahLst/>
            <a:cxnLst/>
            <a:rect l="l" t="t" r="r" b="b"/>
            <a:pathLst>
              <a:path w="342900" h="342900">
                <a:moveTo>
                  <a:pt x="96642" y="0"/>
                </a:moveTo>
                <a:lnTo>
                  <a:pt x="246660" y="0"/>
                </a:lnTo>
                <a:cubicBezTo>
                  <a:pt x="264408" y="0"/>
                  <a:pt x="278874" y="14600"/>
                  <a:pt x="278204" y="32281"/>
                </a:cubicBezTo>
                <a:cubicBezTo>
                  <a:pt x="278070" y="35830"/>
                  <a:pt x="277937" y="39380"/>
                  <a:pt x="277736" y="42863"/>
                </a:cubicBezTo>
                <a:lnTo>
                  <a:pt x="310954" y="42863"/>
                </a:lnTo>
                <a:cubicBezTo>
                  <a:pt x="328434" y="42863"/>
                  <a:pt x="343838" y="57329"/>
                  <a:pt x="342498" y="76215"/>
                </a:cubicBezTo>
                <a:cubicBezTo>
                  <a:pt x="337475" y="145666"/>
                  <a:pt x="301980" y="183840"/>
                  <a:pt x="263470" y="203798"/>
                </a:cubicBezTo>
                <a:cubicBezTo>
                  <a:pt x="252889" y="209290"/>
                  <a:pt x="242106" y="213375"/>
                  <a:pt x="231859" y="216389"/>
                </a:cubicBezTo>
                <a:cubicBezTo>
                  <a:pt x="218331" y="235543"/>
                  <a:pt x="204267" y="245656"/>
                  <a:pt x="193082" y="251080"/>
                </a:cubicBezTo>
                <a:lnTo>
                  <a:pt x="193082" y="300038"/>
                </a:lnTo>
                <a:lnTo>
                  <a:pt x="235945" y="300038"/>
                </a:lnTo>
                <a:cubicBezTo>
                  <a:pt x="247799" y="300038"/>
                  <a:pt x="257376" y="309615"/>
                  <a:pt x="257376" y="321469"/>
                </a:cubicBezTo>
                <a:cubicBezTo>
                  <a:pt x="257376" y="333323"/>
                  <a:pt x="247799" y="342900"/>
                  <a:pt x="235945" y="342900"/>
                </a:cubicBezTo>
                <a:lnTo>
                  <a:pt x="107357" y="342900"/>
                </a:lnTo>
                <a:cubicBezTo>
                  <a:pt x="95503" y="342900"/>
                  <a:pt x="85926" y="333323"/>
                  <a:pt x="85926" y="321469"/>
                </a:cubicBezTo>
                <a:cubicBezTo>
                  <a:pt x="85926" y="309615"/>
                  <a:pt x="95503" y="300038"/>
                  <a:pt x="107357" y="300038"/>
                </a:cubicBezTo>
                <a:lnTo>
                  <a:pt x="150220" y="300038"/>
                </a:lnTo>
                <a:lnTo>
                  <a:pt x="150220" y="251080"/>
                </a:lnTo>
                <a:cubicBezTo>
                  <a:pt x="139504" y="245924"/>
                  <a:pt x="126176" y="236347"/>
                  <a:pt x="113184" y="218733"/>
                </a:cubicBezTo>
                <a:cubicBezTo>
                  <a:pt x="100861" y="215518"/>
                  <a:pt x="87466" y="210629"/>
                  <a:pt x="74407" y="203262"/>
                </a:cubicBezTo>
                <a:cubicBezTo>
                  <a:pt x="38174" y="182969"/>
                  <a:pt x="5492" y="144728"/>
                  <a:pt x="804" y="76081"/>
                </a:cubicBezTo>
                <a:cubicBezTo>
                  <a:pt x="-469" y="57262"/>
                  <a:pt x="14868" y="42796"/>
                  <a:pt x="32348" y="42796"/>
                </a:cubicBezTo>
                <a:lnTo>
                  <a:pt x="65566" y="42796"/>
                </a:lnTo>
                <a:cubicBezTo>
                  <a:pt x="65365" y="39313"/>
                  <a:pt x="65231" y="35830"/>
                  <a:pt x="65097" y="32214"/>
                </a:cubicBezTo>
                <a:cubicBezTo>
                  <a:pt x="64428" y="14466"/>
                  <a:pt x="78894" y="-67"/>
                  <a:pt x="96642" y="-67"/>
                </a:cubicBezTo>
                <a:close/>
                <a:moveTo>
                  <a:pt x="67977" y="75009"/>
                </a:moveTo>
                <a:lnTo>
                  <a:pt x="32884" y="75009"/>
                </a:lnTo>
                <a:cubicBezTo>
                  <a:pt x="37036" y="131735"/>
                  <a:pt x="63088" y="160132"/>
                  <a:pt x="89944" y="175200"/>
                </a:cubicBezTo>
                <a:cubicBezTo>
                  <a:pt x="80300" y="150220"/>
                  <a:pt x="72330" y="117604"/>
                  <a:pt x="67977" y="75009"/>
                </a:cubicBezTo>
                <a:close/>
                <a:moveTo>
                  <a:pt x="254496" y="171986"/>
                </a:moveTo>
                <a:cubicBezTo>
                  <a:pt x="281620" y="156046"/>
                  <a:pt x="306132" y="127717"/>
                  <a:pt x="310284" y="75009"/>
                </a:cubicBezTo>
                <a:lnTo>
                  <a:pt x="275258" y="75009"/>
                </a:lnTo>
                <a:cubicBezTo>
                  <a:pt x="271105" y="115796"/>
                  <a:pt x="263604" y="147474"/>
                  <a:pt x="254496" y="171986"/>
                </a:cubicBezTo>
                <a:close/>
              </a:path>
            </a:pathLst>
          </a:custGeom>
          <a:solidFill>
            <a:srgbClr val="D4A574"/>
          </a:solidFill>
          <a:ln/>
        </p:spPr>
      </p:sp>
      <p:sp>
        <p:nvSpPr>
          <p:cNvPr id="17" name="Text 14"/>
          <p:cNvSpPr/>
          <p:nvPr/>
        </p:nvSpPr>
        <p:spPr>
          <a:xfrm>
            <a:off x="7914918" y="4450082"/>
            <a:ext cx="2257425" cy="2667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Liter" pitchFamily="34" charset="0"/>
                <a:ea typeface="Liter" pitchFamily="34" charset="-122"/>
                <a:cs typeface="Liter" pitchFamily="34" charset="-120"/>
              </a:rPr>
              <a:t>Impactful</a:t>
            </a:r>
            <a:endParaRPr lang="en-US" sz="1600" dirty="0"/>
          </a:p>
        </p:txBody>
      </p:sp>
      <p:sp>
        <p:nvSpPr>
          <p:cNvPr id="18" name="Text 15"/>
          <p:cNvSpPr/>
          <p:nvPr/>
        </p:nvSpPr>
        <p:spPr>
          <a:xfrm>
            <a:off x="7924443" y="4792982"/>
            <a:ext cx="2238375" cy="190500"/>
          </a:xfrm>
          <a:prstGeom prst="rect">
            <a:avLst/>
          </a:prstGeom>
          <a:noFill/>
          <a:ln/>
        </p:spPr>
        <p:txBody>
          <a:bodyPr wrap="square" lIns="0" tIns="0" rIns="0" bIns="0" rtlCol="0" anchor="ctr"/>
          <a:lstStyle/>
          <a:p>
            <a:pPr algn="ctr">
              <a:lnSpc>
                <a:spcPct val="120000"/>
              </a:lnSpc>
            </a:pPr>
            <a:r>
              <a:rPr lang="en-US" sz="1050" dirty="0">
                <a:solidFill>
                  <a:srgbClr val="FFFFFF">
                    <a:alpha val="80000"/>
                  </a:srgbClr>
                </a:solidFill>
                <a:latin typeface="Quattrocento Sans" pitchFamily="34" charset="0"/>
                <a:ea typeface="Quattrocento Sans" pitchFamily="34" charset="-122"/>
                <a:cs typeface="Quattrocento Sans" pitchFamily="34" charset="-120"/>
              </a:rPr>
              <a:t>25-30% projected revenue growth</a:t>
            </a:r>
            <a:endParaRPr lang="en-US" sz="1600" dirty="0"/>
          </a:p>
        </p:txBody>
      </p:sp>
      <p:sp>
        <p:nvSpPr>
          <p:cNvPr id="19" name="Shape 16"/>
          <p:cNvSpPr/>
          <p:nvPr/>
        </p:nvSpPr>
        <p:spPr>
          <a:xfrm>
            <a:off x="994410" y="5718810"/>
            <a:ext cx="10199370" cy="845820"/>
          </a:xfrm>
          <a:custGeom>
            <a:avLst/>
            <a:gdLst/>
            <a:ahLst/>
            <a:cxnLst/>
            <a:rect l="l" t="t" r="r" b="b"/>
            <a:pathLst>
              <a:path w="10199370" h="845820">
                <a:moveTo>
                  <a:pt x="114304" y="0"/>
                </a:moveTo>
                <a:lnTo>
                  <a:pt x="10085066" y="0"/>
                </a:lnTo>
                <a:cubicBezTo>
                  <a:pt x="10148194" y="0"/>
                  <a:pt x="10199370" y="51176"/>
                  <a:pt x="10199370" y="114304"/>
                </a:cubicBezTo>
                <a:lnTo>
                  <a:pt x="10199370" y="731516"/>
                </a:lnTo>
                <a:cubicBezTo>
                  <a:pt x="10199370" y="794644"/>
                  <a:pt x="10148194" y="845820"/>
                  <a:pt x="10085066" y="845820"/>
                </a:cubicBezTo>
                <a:lnTo>
                  <a:pt x="114304" y="845820"/>
                </a:lnTo>
                <a:cubicBezTo>
                  <a:pt x="51176" y="845820"/>
                  <a:pt x="0" y="794644"/>
                  <a:pt x="0" y="731516"/>
                </a:cubicBezTo>
                <a:lnTo>
                  <a:pt x="0" y="114304"/>
                </a:lnTo>
                <a:cubicBezTo>
                  <a:pt x="0" y="51218"/>
                  <a:pt x="51218" y="0"/>
                  <a:pt x="114304" y="0"/>
                </a:cubicBezTo>
                <a:close/>
              </a:path>
            </a:pathLst>
          </a:custGeom>
          <a:solidFill>
            <a:srgbClr val="FFFFFF">
              <a:alpha val="10196"/>
            </a:srgbClr>
          </a:solidFill>
          <a:ln w="10160">
            <a:solidFill>
              <a:srgbClr val="FFFFFF">
                <a:alpha val="20000"/>
              </a:srgbClr>
            </a:solidFill>
            <a:prstDash val="solid"/>
          </a:ln>
        </p:spPr>
      </p:sp>
      <p:sp>
        <p:nvSpPr>
          <p:cNvPr id="20" name="Shape 17"/>
          <p:cNvSpPr/>
          <p:nvPr/>
        </p:nvSpPr>
        <p:spPr>
          <a:xfrm>
            <a:off x="1755338" y="5920746"/>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D4A574"/>
          </a:solidFill>
          <a:ln/>
        </p:spPr>
      </p:sp>
      <p:sp>
        <p:nvSpPr>
          <p:cNvPr id="21" name="Text 18"/>
          <p:cNvSpPr/>
          <p:nvPr/>
        </p:nvSpPr>
        <p:spPr>
          <a:xfrm>
            <a:off x="1564958" y="5875018"/>
            <a:ext cx="9363075" cy="533400"/>
          </a:xfrm>
          <a:prstGeom prst="rect">
            <a:avLst/>
          </a:prstGeom>
          <a:noFill/>
          <a:ln/>
        </p:spPr>
        <p:txBody>
          <a:bodyPr wrap="square" lIns="0" tIns="0" rIns="0" bIns="0" rtlCol="0" anchor="ctr"/>
          <a:lstStyle/>
          <a:p>
            <a:pPr algn="ctr">
              <a:lnSpc>
                <a:spcPct val="130000"/>
              </a:lnSpc>
            </a:pPr>
            <a:r>
              <a:rPr lang="en-US" sz="1350" dirty="0">
                <a:solidFill>
                  <a:srgbClr val="F8F7F5"/>
                </a:solidFill>
                <a:latin typeface="Quattrocento Sans" pitchFamily="34" charset="0"/>
                <a:ea typeface="Quattrocento Sans" pitchFamily="34" charset="-122"/>
                <a:cs typeface="Quattrocento Sans" pitchFamily="34" charset="-120"/>
              </a:rPr>
              <a:t>The path forward is clear: implement these recommendations to drive revenue growth and build lasting customer relationships.</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Behavior Analysis</dc:title>
  <dc:subject>Customer Shopping Behavior Analysis</dc:subject>
  <dc:creator>Kimi</dc:creator>
  <cp:lastModifiedBy>Kimi</cp:lastModifiedBy>
  <cp:revision>1</cp:revision>
  <dcterms:created xsi:type="dcterms:W3CDTF">2026-03-06T16:31:40Z</dcterms:created>
  <dcterms:modified xsi:type="dcterms:W3CDTF">2026-03-06T16:31:40Z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{"Label":"Customer Shopping Behavior Analysis","ContentProducer":"001191110108MACG2KBH8F10000","ProduceID":"19cc3f89-9852-839a-8000-00005be79414","ReservedCode1":"","ContentPropagator":"001191110108MACG2KBH8F20000","PropagateID":"19cc3f89-9852-839a-8000-00005be79414","ReservedCode2":""}</vt:lpwstr>
  </property>
</Properties>
</file>